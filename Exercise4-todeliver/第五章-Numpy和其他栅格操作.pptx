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40"/>
  </p:notesMasterIdLst>
  <p:sldIdLst>
    <p:sldId id="257" r:id="rId3"/>
    <p:sldId id="276" r:id="rId4"/>
    <p:sldId id="279" r:id="rId5"/>
    <p:sldId id="289" r:id="rId6"/>
    <p:sldId id="290" r:id="rId7"/>
    <p:sldId id="274" r:id="rId8"/>
    <p:sldId id="275" r:id="rId9"/>
    <p:sldId id="281" r:id="rId10"/>
    <p:sldId id="282" r:id="rId11"/>
    <p:sldId id="291" r:id="rId12"/>
    <p:sldId id="286" r:id="rId13"/>
    <p:sldId id="287" r:id="rId14"/>
    <p:sldId id="310" r:id="rId15"/>
    <p:sldId id="311" r:id="rId16"/>
    <p:sldId id="312" r:id="rId17"/>
    <p:sldId id="313" r:id="rId18"/>
    <p:sldId id="315" r:id="rId19"/>
    <p:sldId id="314" r:id="rId20"/>
    <p:sldId id="288" r:id="rId21"/>
    <p:sldId id="292" r:id="rId22"/>
    <p:sldId id="293" r:id="rId23"/>
    <p:sldId id="294" r:id="rId24"/>
    <p:sldId id="295" r:id="rId25"/>
    <p:sldId id="296" r:id="rId26"/>
    <p:sldId id="297" r:id="rId27"/>
    <p:sldId id="298" r:id="rId28"/>
    <p:sldId id="299" r:id="rId29"/>
    <p:sldId id="300" r:id="rId30"/>
    <p:sldId id="316" r:id="rId31"/>
    <p:sldId id="301" r:id="rId32"/>
    <p:sldId id="304" r:id="rId33"/>
    <p:sldId id="306" r:id="rId34"/>
    <p:sldId id="307" r:id="rId35"/>
    <p:sldId id="302" r:id="rId36"/>
    <p:sldId id="303" r:id="rId37"/>
    <p:sldId id="308" r:id="rId38"/>
    <p:sldId id="309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045" autoAdjust="0"/>
  </p:normalViewPr>
  <p:slideViewPr>
    <p:cSldViewPr snapToGrid="0">
      <p:cViewPr varScale="1">
        <p:scale>
          <a:sx n="87" d="100"/>
          <a:sy n="87" d="100"/>
        </p:scale>
        <p:origin x="51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CC430-894F-42D3-8C16-073B9F8886A9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3C33C5-0F3E-445E-A9B0-160F9160CA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0184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3F2EDFA-0FC4-4FA7-BC92-34A3F37DACE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9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6858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9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2773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3831A6-625D-42B7-8683-8D25CDD4579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349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3831A6-625D-42B7-8683-8D25CDD4579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4547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3831A6-625D-42B7-8683-8D25CDD4579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1766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大端和小端即网络字节序，顾名思义，当数据在网络上传输时使用什么样的方式排序。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3831A6-625D-42B7-8683-8D25CDD4579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1426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3831A6-625D-42B7-8683-8D25CDD4579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6783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3831A6-625D-42B7-8683-8D25CDD4579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2783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1" indent="0" algn="ctr">
              <a:buNone/>
              <a:defRPr sz="1500"/>
            </a:lvl2pPr>
            <a:lvl3pPr marL="685783" indent="0" algn="ctr">
              <a:buNone/>
              <a:defRPr sz="1353"/>
            </a:lvl3pPr>
            <a:lvl4pPr marL="1028674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9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1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718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55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3">
                <a:solidFill>
                  <a:schemeClr val="tx1">
                    <a:tint val="75000"/>
                  </a:schemeClr>
                </a:solidFill>
              </a:defRPr>
            </a:lvl3pPr>
            <a:lvl4pPr marL="102867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814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1"/>
            <a:ext cx="5376672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9298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7" y="1778439"/>
            <a:ext cx="4873575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891" indent="0">
              <a:buNone/>
              <a:defRPr sz="1800"/>
            </a:lvl2pPr>
            <a:lvl3pPr marL="685783" indent="0">
              <a:buNone/>
              <a:defRPr sz="1500"/>
            </a:lvl3pPr>
            <a:lvl4pPr marL="1028674" indent="0">
              <a:buNone/>
              <a:defRPr sz="1353"/>
            </a:lvl4pPr>
            <a:lvl5pPr marL="1371566" indent="0">
              <a:buNone/>
              <a:defRPr sz="1353"/>
            </a:lvl5pPr>
            <a:lvl6pPr marL="1714457" indent="0">
              <a:buNone/>
              <a:defRPr sz="1353"/>
            </a:lvl6pPr>
            <a:lvl7pPr marL="2057349" indent="0">
              <a:buNone/>
              <a:defRPr sz="1353"/>
            </a:lvl7pPr>
            <a:lvl8pPr marL="2400240" indent="0">
              <a:buNone/>
              <a:defRPr sz="1353"/>
            </a:lvl8pPr>
            <a:lvl9pPr marL="2743131" indent="0">
              <a:buNone/>
              <a:defRPr sz="135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7" y="2665379"/>
            <a:ext cx="4873575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9" y="1778439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891" indent="0">
              <a:buNone/>
              <a:defRPr sz="1800"/>
            </a:lvl2pPr>
            <a:lvl3pPr marL="685783" indent="0">
              <a:buNone/>
              <a:defRPr sz="1500"/>
            </a:lvl3pPr>
            <a:lvl4pPr marL="1028674" indent="0">
              <a:buNone/>
              <a:defRPr sz="1353"/>
            </a:lvl4pPr>
            <a:lvl5pPr marL="1371566" indent="0">
              <a:buNone/>
              <a:defRPr sz="1353"/>
            </a:lvl5pPr>
            <a:lvl6pPr marL="1714457" indent="0">
              <a:buNone/>
              <a:defRPr sz="1353"/>
            </a:lvl6pPr>
            <a:lvl7pPr marL="2057349" indent="0">
              <a:buNone/>
              <a:defRPr sz="1353"/>
            </a:lvl7pPr>
            <a:lvl8pPr marL="2400240" indent="0">
              <a:buNone/>
              <a:defRPr sz="1353"/>
            </a:lvl8pPr>
            <a:lvl9pPr marL="2743131" indent="0">
              <a:buNone/>
              <a:defRPr sz="135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9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2656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25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664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1" indent="0">
              <a:buNone/>
              <a:defRPr sz="1053"/>
            </a:lvl2pPr>
            <a:lvl3pPr marL="685783" indent="0">
              <a:buNone/>
              <a:defRPr sz="900"/>
            </a:lvl3pPr>
            <a:lvl4pPr marL="1028674" indent="0">
              <a:buNone/>
              <a:defRPr sz="753"/>
            </a:lvl4pPr>
            <a:lvl5pPr marL="1371566" indent="0">
              <a:buNone/>
              <a:defRPr sz="753"/>
            </a:lvl5pPr>
            <a:lvl6pPr marL="1714457" indent="0">
              <a:buNone/>
              <a:defRPr sz="753"/>
            </a:lvl6pPr>
            <a:lvl7pPr marL="2057349" indent="0">
              <a:buNone/>
              <a:defRPr sz="753"/>
            </a:lvl7pPr>
            <a:lvl8pPr marL="2400240" indent="0">
              <a:buNone/>
              <a:defRPr sz="753"/>
            </a:lvl8pPr>
            <a:lvl9pPr marL="2743131" indent="0">
              <a:buNone/>
              <a:defRPr sz="75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7785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1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891" indent="0">
              <a:buNone/>
              <a:defRPr sz="1353"/>
            </a:lvl2pPr>
            <a:lvl3pPr marL="685783" indent="0">
              <a:buNone/>
              <a:defRPr sz="1200"/>
            </a:lvl3pPr>
            <a:lvl4pPr marL="1028674" indent="0">
              <a:buNone/>
              <a:defRPr sz="1053"/>
            </a:lvl4pPr>
            <a:lvl5pPr marL="1371566" indent="0">
              <a:buNone/>
              <a:defRPr sz="1053"/>
            </a:lvl5pPr>
            <a:lvl6pPr marL="1714457" indent="0">
              <a:buNone/>
              <a:defRPr sz="1053"/>
            </a:lvl6pPr>
            <a:lvl7pPr marL="2057349" indent="0">
              <a:buNone/>
              <a:defRPr sz="1053"/>
            </a:lvl7pPr>
            <a:lvl8pPr marL="2400240" indent="0">
              <a:buNone/>
              <a:defRPr sz="1053"/>
            </a:lvl8pPr>
            <a:lvl9pPr marL="2743131" indent="0">
              <a:buNone/>
              <a:defRPr sz="105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999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2409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70573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183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01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FA0558-CA62-4D91-8F6C-F489DB76540B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2026/10/10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8" name="矩形 7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78609129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17694C-3D4D-4953-9445-362C8CEA3737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2026/10/10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4948" y="-7982"/>
            <a:ext cx="12192000" cy="863689"/>
          </a:xfrm>
          <a:prstGeom prst="rect">
            <a:avLst/>
          </a:prstGeom>
          <a:solidFill>
            <a:srgbClr val="0058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22701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79D961-437F-401F-B16E-BDE8894DB2E4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2026/10/10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8" name="矩形 7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0626351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0C75184-7F82-46C7-8239-96CEF9BBA8E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2026/10/10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9" name="矩形 8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43292847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09D0AF-35F2-48A3-A662-D2FC8BD1C4FD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2026/10/10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11" name="矩形 10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17543921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1D7F696-4055-43A7-BE65-94FC5C353726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2026/10/10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7" name="矩形 6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8418456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A19FCB-2E0D-4422-B8FA-F92E299B686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2026/10/10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6" name="矩形 5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1116033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6E0852-CA4C-4F15-90AC-8A82F656E178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2026/10/10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9" name="矩形 8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86373054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B2B1AD-C4DA-46F7-83EF-6591A3CFF03A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2026/10/10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8" name="组合 7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9" name="矩形 8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57929315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16873A-4751-4F25-81CF-773CD233D7D3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2026/10/10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8" name="矩形 7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9659815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DC80336-C3CE-4067-A076-C598A13B5322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2026/10/10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4948" y="-7982"/>
            <a:ext cx="12196948" cy="863689"/>
            <a:chOff x="-4948" y="-7982"/>
            <a:chExt cx="12196948" cy="863689"/>
          </a:xfrm>
        </p:grpSpPr>
        <p:sp>
          <p:nvSpPr>
            <p:cNvPr id="8" name="矩形 7"/>
            <p:cNvSpPr/>
            <p:nvPr userDrawn="1"/>
          </p:nvSpPr>
          <p:spPr>
            <a:xfrm>
              <a:off x="-4948" y="-7982"/>
              <a:ext cx="12192000" cy="863689"/>
            </a:xfrm>
            <a:prstGeom prst="rect">
              <a:avLst/>
            </a:prstGeom>
            <a:solidFill>
              <a:srgbClr val="00582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等线"/>
                <a:cs typeface="+mn-cs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6805427" y="11938"/>
              <a:ext cx="5386573" cy="8398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8092535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1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1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1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9A0DB2DC-4C9A-4742-B13C-FB6460FD3503}" type="slidenum">
              <a:rPr lang="zh-CN" altLang="en-US" smtClean="0">
                <a:solidFill>
                  <a:srgbClr val="000000"/>
                </a:solidFill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741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marL="0" lvl="0" indent="0" algn="ctr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891" lvl="0" indent="-342891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3355" lvl="1" indent="-286166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2971" lvl="2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160" lvl="3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349" lvl="4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lvl="5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726" lvl="6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8914" lvl="7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103" lvl="8" indent="-228594" algn="l" defTabSz="914377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189" lvl="1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2pPr>
      <a:lvl3pPr marL="914377" lvl="2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3pPr>
      <a:lvl4pPr marL="1371566" lvl="3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4pPr>
      <a:lvl5pPr marL="1828754" lvl="4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5pPr>
      <a:lvl6pPr marL="2285943" lvl="5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6pPr>
      <a:lvl7pPr marL="2743131" lvl="6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7pPr>
      <a:lvl8pPr marL="3200320" lvl="7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8pPr>
      <a:lvl9pPr marL="3657509" lvl="8" indent="0" algn="l" defTabSz="914377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1011B6F-EF2D-465A-830E-49C93EBC7008}" type="datetime1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2026/10/10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1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B30AEE-B2AD-48F0-B521-48022C37D5A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5949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ransition spd="slow"/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hyperlink" Target="https://numpy.org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1894252"/>
            <a:ext cx="12187054" cy="1794243"/>
          </a:xfrm>
          <a:prstGeom prst="rect">
            <a:avLst/>
          </a:prstGeom>
          <a:solidFill>
            <a:srgbClr val="00582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DEF9987-8C74-42DD-8457-C4BEA5DE63AA}"/>
              </a:ext>
            </a:extLst>
          </p:cNvPr>
          <p:cNvSpPr txBox="1"/>
          <p:nvPr/>
        </p:nvSpPr>
        <p:spPr>
          <a:xfrm>
            <a:off x="5112328" y="6244330"/>
            <a:ext cx="19623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377" fontAlgn="base">
              <a:spcBef>
                <a:spcPct val="0"/>
              </a:spcBef>
              <a:spcAft>
                <a:spcPct val="0"/>
              </a:spcAft>
            </a:pPr>
            <a:fld id="{5E18C867-1F19-1E4D-8B9B-98AA283D003A}" type="datetime1">
              <a:rPr lang="zh-CN" altLang="en-US" sz="280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pPr defTabSz="914377" fontAlgn="base">
                <a:spcBef>
                  <a:spcPct val="0"/>
                </a:spcBef>
                <a:spcAft>
                  <a:spcPct val="0"/>
                </a:spcAft>
              </a:pPr>
              <a:t>2026/10/10</a:t>
            </a:fld>
            <a:endParaRPr lang="zh-CN" altLang="en-US" sz="2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41396" y="4318698"/>
            <a:ext cx="8888818" cy="1482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kern="1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董娜  </a:t>
            </a:r>
            <a:endParaRPr lang="en-US" altLang="zh-CN" sz="3200" kern="1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3200" u="sng" kern="1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dongn6@mail.sysu.edu.cn</a:t>
            </a:r>
            <a:endParaRPr lang="zh-CN" altLang="en-US" sz="3200" u="sng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B24D44-5A02-4BF7-9F07-D6538C4E4CFB}"/>
              </a:ext>
            </a:extLst>
          </p:cNvPr>
          <p:cNvSpPr txBox="1"/>
          <p:nvPr/>
        </p:nvSpPr>
        <p:spPr>
          <a:xfrm>
            <a:off x="840879" y="2135424"/>
            <a:ext cx="10375821" cy="119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377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5400" b="1" kern="1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Numpy</a:t>
            </a:r>
            <a:r>
              <a:rPr lang="zh-CN" altLang="en-US" sz="5400" b="1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仿宋" panose="02010609060101010101" pitchFamily="49" charset="-122"/>
              </a:rPr>
              <a:t>和更多栅格操作</a:t>
            </a:r>
            <a:endParaRPr lang="en-US" altLang="zh-CN" sz="5400" b="1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55090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/>
          <p:cNvSpPr txBox="1"/>
          <p:nvPr/>
        </p:nvSpPr>
        <p:spPr>
          <a:xfrm>
            <a:off x="835305" y="-48552"/>
            <a:ext cx="2031325" cy="886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内容</a:t>
            </a:r>
          </a:p>
        </p:txBody>
      </p:sp>
      <p:sp>
        <p:nvSpPr>
          <p:cNvPr id="35" name="ValueShape1"/>
          <p:cNvSpPr/>
          <p:nvPr/>
        </p:nvSpPr>
        <p:spPr bwMode="auto">
          <a:xfrm>
            <a:off x="4992816" y="1410093"/>
            <a:ext cx="45719" cy="474663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mpact" panose="020B0806030902050204" pitchFamily="34" charset="0"/>
              <a:ea typeface="等线"/>
              <a:cs typeface="+mn-cs"/>
            </a:endParaRPr>
          </a:p>
        </p:txBody>
      </p:sp>
      <p:sp>
        <p:nvSpPr>
          <p:cNvPr id="36" name="IconShape"/>
          <p:cNvSpPr/>
          <p:nvPr/>
        </p:nvSpPr>
        <p:spPr bwMode="auto">
          <a:xfrm>
            <a:off x="7286903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47" name="IconShape"/>
          <p:cNvSpPr/>
          <p:nvPr/>
        </p:nvSpPr>
        <p:spPr bwMode="auto">
          <a:xfrm>
            <a:off x="7282160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48" name="IconShape"/>
          <p:cNvSpPr/>
          <p:nvPr/>
        </p:nvSpPr>
        <p:spPr bwMode="auto">
          <a:xfrm>
            <a:off x="7286903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6" name="IconShape"/>
          <p:cNvSpPr/>
          <p:nvPr/>
        </p:nvSpPr>
        <p:spPr bwMode="auto">
          <a:xfrm>
            <a:off x="7282160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0" name="IconShape"/>
          <p:cNvSpPr/>
          <p:nvPr/>
        </p:nvSpPr>
        <p:spPr bwMode="auto">
          <a:xfrm>
            <a:off x="7276526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1" name="IconShape"/>
          <p:cNvSpPr/>
          <p:nvPr/>
        </p:nvSpPr>
        <p:spPr bwMode="auto">
          <a:xfrm>
            <a:off x="7271783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2" name="IconShape"/>
          <p:cNvSpPr/>
          <p:nvPr/>
        </p:nvSpPr>
        <p:spPr bwMode="auto">
          <a:xfrm>
            <a:off x="7326292" y="2591967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3" name="IconShape"/>
          <p:cNvSpPr/>
          <p:nvPr/>
        </p:nvSpPr>
        <p:spPr bwMode="auto">
          <a:xfrm>
            <a:off x="7306597" y="2591967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4" name="IconShape"/>
          <p:cNvSpPr/>
          <p:nvPr/>
        </p:nvSpPr>
        <p:spPr bwMode="auto">
          <a:xfrm>
            <a:off x="7306597" y="2618186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5" name="ValueShape"/>
          <p:cNvSpPr/>
          <p:nvPr/>
        </p:nvSpPr>
        <p:spPr>
          <a:xfrm>
            <a:off x="5055778" y="460556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6" name="ValueShape"/>
          <p:cNvSpPr/>
          <p:nvPr/>
        </p:nvSpPr>
        <p:spPr>
          <a:xfrm>
            <a:off x="5055778" y="4577512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7" name="ValueShape"/>
          <p:cNvSpPr/>
          <p:nvPr/>
        </p:nvSpPr>
        <p:spPr>
          <a:xfrm>
            <a:off x="5065922" y="460556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8" name="ValueShape"/>
          <p:cNvSpPr/>
          <p:nvPr/>
        </p:nvSpPr>
        <p:spPr>
          <a:xfrm>
            <a:off x="5055778" y="4582852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9" name="ValueShape"/>
          <p:cNvSpPr/>
          <p:nvPr/>
        </p:nvSpPr>
        <p:spPr>
          <a:xfrm>
            <a:off x="5055778" y="459528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0" name="ValueShape"/>
          <p:cNvSpPr/>
          <p:nvPr/>
        </p:nvSpPr>
        <p:spPr>
          <a:xfrm>
            <a:off x="5076066" y="459528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1" name="ValueShape"/>
          <p:cNvSpPr/>
          <p:nvPr/>
        </p:nvSpPr>
        <p:spPr>
          <a:xfrm>
            <a:off x="5065922" y="461584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2" name="ValueShape"/>
          <p:cNvSpPr/>
          <p:nvPr/>
        </p:nvSpPr>
        <p:spPr>
          <a:xfrm>
            <a:off x="5076066" y="462612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43991" y="1148316"/>
            <a:ext cx="10515600" cy="5454785"/>
          </a:xfrm>
        </p:spPr>
        <p:txBody>
          <a:bodyPr>
            <a:normAutofit/>
          </a:bodyPr>
          <a:lstStyle/>
          <a:p>
            <a:r>
              <a:rPr lang="en-US" altLang="zh-CN" b="1" dirty="0"/>
              <a:t>1. </a:t>
            </a:r>
            <a:r>
              <a:rPr lang="en-US" altLang="zh-CN" b="1" dirty="0" err="1"/>
              <a:t>Numpy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dirty="0"/>
              <a:t>2. </a:t>
            </a:r>
            <a:r>
              <a:rPr lang="en-US" altLang="zh-CN" dirty="0" err="1"/>
              <a:t>rasterio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en-US" dirty="0"/>
              <a:t>栅格操作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62199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/>
          <p:cNvSpPr txBox="1"/>
          <p:nvPr/>
        </p:nvSpPr>
        <p:spPr>
          <a:xfrm>
            <a:off x="835305" y="-48552"/>
            <a:ext cx="4950500" cy="898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zh-CN" altLang="en-US" sz="4400" b="1" dirty="0">
                <a:solidFill>
                  <a:schemeClr val="bg1"/>
                </a:solidFill>
              </a:rPr>
              <a:t>创建</a:t>
            </a:r>
            <a:r>
              <a:rPr lang="en-US" altLang="zh-CN" sz="4400" b="1" dirty="0" err="1">
                <a:solidFill>
                  <a:schemeClr val="bg1"/>
                </a:solidFill>
              </a:rPr>
              <a:t>Ndarray</a:t>
            </a:r>
            <a:r>
              <a:rPr lang="zh-CN" altLang="en-US" sz="4400" b="1" dirty="0">
                <a:solidFill>
                  <a:schemeClr val="bg1"/>
                </a:solidFill>
              </a:rPr>
              <a:t>数组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ValueShape1"/>
          <p:cNvSpPr/>
          <p:nvPr/>
        </p:nvSpPr>
        <p:spPr bwMode="auto">
          <a:xfrm>
            <a:off x="4992816" y="1410093"/>
            <a:ext cx="45719" cy="474663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mpact" panose="020B0806030902050204" pitchFamily="34" charset="0"/>
              <a:ea typeface="等线"/>
              <a:cs typeface="+mn-cs"/>
            </a:endParaRPr>
          </a:p>
        </p:txBody>
      </p:sp>
      <p:sp>
        <p:nvSpPr>
          <p:cNvPr id="36" name="IconShape"/>
          <p:cNvSpPr/>
          <p:nvPr/>
        </p:nvSpPr>
        <p:spPr bwMode="auto">
          <a:xfrm>
            <a:off x="7286903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47" name="IconShape"/>
          <p:cNvSpPr/>
          <p:nvPr/>
        </p:nvSpPr>
        <p:spPr bwMode="auto">
          <a:xfrm>
            <a:off x="7282160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48" name="IconShape"/>
          <p:cNvSpPr/>
          <p:nvPr/>
        </p:nvSpPr>
        <p:spPr bwMode="auto">
          <a:xfrm>
            <a:off x="7286903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6" name="IconShape"/>
          <p:cNvSpPr/>
          <p:nvPr/>
        </p:nvSpPr>
        <p:spPr bwMode="auto">
          <a:xfrm>
            <a:off x="7282160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0" name="IconShape"/>
          <p:cNvSpPr/>
          <p:nvPr/>
        </p:nvSpPr>
        <p:spPr bwMode="auto">
          <a:xfrm>
            <a:off x="7276526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1" name="IconShape"/>
          <p:cNvSpPr/>
          <p:nvPr/>
        </p:nvSpPr>
        <p:spPr bwMode="auto">
          <a:xfrm>
            <a:off x="7271783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2" name="IconShape"/>
          <p:cNvSpPr/>
          <p:nvPr/>
        </p:nvSpPr>
        <p:spPr bwMode="auto">
          <a:xfrm>
            <a:off x="7326292" y="2591967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3" name="IconShape"/>
          <p:cNvSpPr/>
          <p:nvPr/>
        </p:nvSpPr>
        <p:spPr bwMode="auto">
          <a:xfrm>
            <a:off x="7306597" y="2591967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4" name="IconShape"/>
          <p:cNvSpPr/>
          <p:nvPr/>
        </p:nvSpPr>
        <p:spPr bwMode="auto">
          <a:xfrm>
            <a:off x="7306597" y="2618186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5" name="ValueShape"/>
          <p:cNvSpPr/>
          <p:nvPr/>
        </p:nvSpPr>
        <p:spPr>
          <a:xfrm>
            <a:off x="5055778" y="460556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6" name="ValueShape"/>
          <p:cNvSpPr/>
          <p:nvPr/>
        </p:nvSpPr>
        <p:spPr>
          <a:xfrm>
            <a:off x="5055778" y="4577512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7" name="ValueShape"/>
          <p:cNvSpPr/>
          <p:nvPr/>
        </p:nvSpPr>
        <p:spPr>
          <a:xfrm>
            <a:off x="5065922" y="460556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8" name="ValueShape"/>
          <p:cNvSpPr/>
          <p:nvPr/>
        </p:nvSpPr>
        <p:spPr>
          <a:xfrm>
            <a:off x="5055778" y="4582852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9" name="ValueShape"/>
          <p:cNvSpPr/>
          <p:nvPr/>
        </p:nvSpPr>
        <p:spPr>
          <a:xfrm>
            <a:off x="5055778" y="459528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0" name="ValueShape"/>
          <p:cNvSpPr/>
          <p:nvPr/>
        </p:nvSpPr>
        <p:spPr>
          <a:xfrm>
            <a:off x="5076066" y="459528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1" name="ValueShape"/>
          <p:cNvSpPr/>
          <p:nvPr/>
        </p:nvSpPr>
        <p:spPr>
          <a:xfrm>
            <a:off x="5065922" y="461584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2" name="ValueShape"/>
          <p:cNvSpPr/>
          <p:nvPr/>
        </p:nvSpPr>
        <p:spPr>
          <a:xfrm>
            <a:off x="5076066" y="462612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43991" y="1148316"/>
            <a:ext cx="10515600" cy="545478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zh-CN" dirty="0" err="1"/>
              <a:t>Numpy</a:t>
            </a:r>
            <a:r>
              <a:rPr lang="en-US" altLang="zh-CN" dirty="0"/>
              <a:t> (</a:t>
            </a:r>
            <a:r>
              <a:rPr lang="en-US" altLang="zh-CN" dirty="0">
                <a:hlinkClick r:id="rId4"/>
              </a:rPr>
              <a:t>https://numpy.org/</a:t>
            </a:r>
            <a:r>
              <a:rPr lang="en-US" altLang="zh-CN" dirty="0"/>
              <a:t> )</a:t>
            </a:r>
            <a:r>
              <a:rPr lang="zh-CN" altLang="en-US" dirty="0"/>
              <a:t>提供了</a:t>
            </a:r>
            <a:r>
              <a:rPr lang="en-US" altLang="zh-CN" dirty="0"/>
              <a:t>python</a:t>
            </a:r>
            <a:r>
              <a:rPr lang="zh-CN" altLang="en-US" dirty="0"/>
              <a:t>对多维数组对象的支持：</a:t>
            </a:r>
            <a:r>
              <a:rPr lang="en-US" altLang="zh-CN" dirty="0" err="1"/>
              <a:t>ndarray</a:t>
            </a:r>
            <a:r>
              <a:rPr lang="zh-CN" altLang="en-US" dirty="0"/>
              <a:t>，具有矢量运算能力，快速、节省空间。</a:t>
            </a:r>
            <a:r>
              <a:rPr lang="en-US" altLang="zh-CN" dirty="0" err="1"/>
              <a:t>numpy</a:t>
            </a:r>
            <a:r>
              <a:rPr lang="zh-CN" altLang="en-US" dirty="0"/>
              <a:t>支持高级大量的维度数组与矩阵运算，此外也针对数组运算提供大量的数学函数库。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 err="1"/>
              <a:t>Ndarray</a:t>
            </a:r>
            <a:r>
              <a:rPr lang="en-US" altLang="zh-CN" dirty="0"/>
              <a:t>: N</a:t>
            </a:r>
            <a:r>
              <a:rPr lang="zh-CN" altLang="en-US" dirty="0"/>
              <a:t>维数组对象（矩阵），所有元素必须是</a:t>
            </a:r>
            <a:r>
              <a:rPr lang="zh-CN" altLang="en-US" dirty="0">
                <a:solidFill>
                  <a:srgbClr val="0070C0"/>
                </a:solidFill>
              </a:rPr>
              <a:t>相同类型</a:t>
            </a:r>
            <a:endParaRPr lang="en-US" altLang="zh-CN" dirty="0">
              <a:solidFill>
                <a:srgbClr val="0070C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dirty="0" err="1"/>
              <a:t>Ndarray</a:t>
            </a:r>
            <a:r>
              <a:rPr lang="zh-CN" altLang="en-US" dirty="0"/>
              <a:t>属性：</a:t>
            </a:r>
            <a:endParaRPr lang="en-US" altLang="zh-CN" dirty="0"/>
          </a:p>
          <a:p>
            <a:pPr lvl="1">
              <a:lnSpc>
                <a:spcPct val="100000"/>
              </a:lnSpc>
            </a:pPr>
            <a:r>
              <a:rPr lang="en-US" altLang="zh-CN" dirty="0" err="1">
                <a:solidFill>
                  <a:srgbClr val="FF0000"/>
                </a:solidFill>
              </a:rPr>
              <a:t>ndim</a:t>
            </a:r>
            <a:r>
              <a:rPr lang="zh-CN" altLang="en-US" dirty="0">
                <a:solidFill>
                  <a:srgbClr val="FF0000"/>
                </a:solidFill>
              </a:rPr>
              <a:t>属性，表示维度个数；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shape</a:t>
            </a:r>
            <a:r>
              <a:rPr lang="zh-CN" altLang="en-US" dirty="0">
                <a:solidFill>
                  <a:srgbClr val="FF0000"/>
                </a:solidFill>
              </a:rPr>
              <a:t>属性，表示各维度大小；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US" altLang="zh-CN" dirty="0" err="1">
                <a:solidFill>
                  <a:srgbClr val="FF0000"/>
                </a:solidFill>
              </a:rPr>
              <a:t>dtype</a:t>
            </a:r>
            <a:r>
              <a:rPr lang="zh-CN" altLang="en-US" dirty="0">
                <a:solidFill>
                  <a:srgbClr val="FF0000"/>
                </a:solidFill>
              </a:rPr>
              <a:t>属性，表示数据类型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 err="1"/>
              <a:t>Ndarray</a:t>
            </a:r>
            <a:r>
              <a:rPr lang="zh-CN" altLang="en-US" dirty="0"/>
              <a:t>中每个元素在内存中使用</a:t>
            </a:r>
            <a:r>
              <a:rPr lang="zh-CN" altLang="en-US" dirty="0">
                <a:solidFill>
                  <a:srgbClr val="0070C0"/>
                </a:solidFill>
              </a:rPr>
              <a:t>相同大小的块</a:t>
            </a:r>
            <a:r>
              <a:rPr lang="zh-CN" altLang="en-US" dirty="0"/>
              <a:t>，每个元素是数据类型对象的对象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54351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/>
          <p:cNvSpPr txBox="1"/>
          <p:nvPr/>
        </p:nvSpPr>
        <p:spPr>
          <a:xfrm>
            <a:off x="835305" y="-48552"/>
            <a:ext cx="4950500" cy="898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zh-CN" altLang="en-US" sz="4400" b="1" dirty="0">
                <a:solidFill>
                  <a:schemeClr val="bg1"/>
                </a:solidFill>
              </a:rPr>
              <a:t>创建</a:t>
            </a:r>
            <a:r>
              <a:rPr lang="en-US" altLang="zh-CN" sz="4400" b="1" dirty="0" err="1">
                <a:solidFill>
                  <a:schemeClr val="bg1"/>
                </a:solidFill>
              </a:rPr>
              <a:t>Ndarray</a:t>
            </a:r>
            <a:r>
              <a:rPr lang="zh-CN" altLang="en-US" sz="4400" b="1" dirty="0">
                <a:solidFill>
                  <a:schemeClr val="bg1"/>
                </a:solidFill>
              </a:rPr>
              <a:t>数组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ValueShape1"/>
          <p:cNvSpPr/>
          <p:nvPr/>
        </p:nvSpPr>
        <p:spPr bwMode="auto">
          <a:xfrm>
            <a:off x="4992816" y="1410093"/>
            <a:ext cx="45719" cy="474663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mpact" panose="020B0806030902050204" pitchFamily="34" charset="0"/>
              <a:ea typeface="等线"/>
              <a:cs typeface="+mn-cs"/>
            </a:endParaRPr>
          </a:p>
        </p:txBody>
      </p:sp>
      <p:sp>
        <p:nvSpPr>
          <p:cNvPr id="36" name="IconShape"/>
          <p:cNvSpPr/>
          <p:nvPr/>
        </p:nvSpPr>
        <p:spPr bwMode="auto">
          <a:xfrm>
            <a:off x="7286903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47" name="IconShape"/>
          <p:cNvSpPr/>
          <p:nvPr/>
        </p:nvSpPr>
        <p:spPr bwMode="auto">
          <a:xfrm>
            <a:off x="7282160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48" name="IconShape"/>
          <p:cNvSpPr/>
          <p:nvPr/>
        </p:nvSpPr>
        <p:spPr bwMode="auto">
          <a:xfrm>
            <a:off x="7286903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6" name="IconShape"/>
          <p:cNvSpPr/>
          <p:nvPr/>
        </p:nvSpPr>
        <p:spPr bwMode="auto">
          <a:xfrm>
            <a:off x="7282160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0" name="IconShape"/>
          <p:cNvSpPr/>
          <p:nvPr/>
        </p:nvSpPr>
        <p:spPr bwMode="auto">
          <a:xfrm>
            <a:off x="7276526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1" name="IconShape"/>
          <p:cNvSpPr/>
          <p:nvPr/>
        </p:nvSpPr>
        <p:spPr bwMode="auto">
          <a:xfrm>
            <a:off x="7271783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2" name="IconShape"/>
          <p:cNvSpPr/>
          <p:nvPr/>
        </p:nvSpPr>
        <p:spPr bwMode="auto">
          <a:xfrm>
            <a:off x="7326292" y="2591967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3" name="IconShape"/>
          <p:cNvSpPr/>
          <p:nvPr/>
        </p:nvSpPr>
        <p:spPr bwMode="auto">
          <a:xfrm>
            <a:off x="7306597" y="2591967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4" name="IconShape"/>
          <p:cNvSpPr/>
          <p:nvPr/>
        </p:nvSpPr>
        <p:spPr bwMode="auto">
          <a:xfrm>
            <a:off x="7306597" y="2618186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5" name="ValueShape"/>
          <p:cNvSpPr/>
          <p:nvPr/>
        </p:nvSpPr>
        <p:spPr>
          <a:xfrm>
            <a:off x="5055778" y="460556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6" name="ValueShape"/>
          <p:cNvSpPr/>
          <p:nvPr/>
        </p:nvSpPr>
        <p:spPr>
          <a:xfrm>
            <a:off x="5055778" y="4577512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7" name="ValueShape"/>
          <p:cNvSpPr/>
          <p:nvPr/>
        </p:nvSpPr>
        <p:spPr>
          <a:xfrm>
            <a:off x="5065922" y="460556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8" name="ValueShape"/>
          <p:cNvSpPr/>
          <p:nvPr/>
        </p:nvSpPr>
        <p:spPr>
          <a:xfrm>
            <a:off x="5055778" y="4582852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9" name="ValueShape"/>
          <p:cNvSpPr/>
          <p:nvPr/>
        </p:nvSpPr>
        <p:spPr>
          <a:xfrm>
            <a:off x="5055778" y="459528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0" name="ValueShape"/>
          <p:cNvSpPr/>
          <p:nvPr/>
        </p:nvSpPr>
        <p:spPr>
          <a:xfrm>
            <a:off x="5076066" y="459528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1" name="ValueShape"/>
          <p:cNvSpPr/>
          <p:nvPr/>
        </p:nvSpPr>
        <p:spPr>
          <a:xfrm>
            <a:off x="5065922" y="461584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2" name="ValueShape"/>
          <p:cNvSpPr/>
          <p:nvPr/>
        </p:nvSpPr>
        <p:spPr>
          <a:xfrm>
            <a:off x="5076066" y="462612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25668" y="1269124"/>
            <a:ext cx="6597869" cy="516844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dirty="0"/>
              <a:t>基本的</a:t>
            </a:r>
            <a:r>
              <a:rPr lang="en-US" altLang="zh-CN" sz="2400" dirty="0" err="1"/>
              <a:t>ndarray</a:t>
            </a:r>
            <a:r>
              <a:rPr lang="zh-CN" altLang="en-US" sz="2400" dirty="0"/>
              <a:t>是使用</a:t>
            </a:r>
            <a:r>
              <a:rPr lang="en-US" altLang="zh-CN" sz="2400" dirty="0" err="1"/>
              <a:t>Numpy</a:t>
            </a:r>
            <a:r>
              <a:rPr lang="zh-CN" altLang="en-US" sz="2400" dirty="0"/>
              <a:t>中的数组函数创建：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400" dirty="0" err="1"/>
              <a:t>Numpy.array</a:t>
            </a:r>
            <a:r>
              <a:rPr lang="en-US" altLang="zh-CN" sz="2400" dirty="0"/>
              <a:t>(object, </a:t>
            </a:r>
            <a:r>
              <a:rPr lang="en-US" altLang="zh-CN" sz="2400" dirty="0" err="1"/>
              <a:t>dtype</a:t>
            </a:r>
            <a:r>
              <a:rPr lang="en-US" altLang="zh-CN" sz="2400" dirty="0"/>
              <a:t> = None, copy = True, order = None, </a:t>
            </a:r>
            <a:r>
              <a:rPr lang="en-US" altLang="zh-CN" sz="2400" dirty="0" err="1"/>
              <a:t>subok</a:t>
            </a:r>
            <a:r>
              <a:rPr lang="en-US" altLang="zh-CN" sz="2400" dirty="0"/>
              <a:t> = False, </a:t>
            </a:r>
            <a:r>
              <a:rPr lang="en-US" altLang="zh-CN" sz="2400" dirty="0" err="1"/>
              <a:t>ndmin</a:t>
            </a:r>
            <a:r>
              <a:rPr lang="en-US" altLang="zh-CN" sz="2400" dirty="0"/>
              <a:t> = 0)</a:t>
            </a:r>
          </a:p>
          <a:p>
            <a:pPr>
              <a:lnSpc>
                <a:spcPct val="100000"/>
              </a:lnSpc>
            </a:pPr>
            <a:endParaRPr lang="en-US" altLang="zh-CN" sz="24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/>
          <a:srcRect r="20449"/>
          <a:stretch/>
        </p:blipFill>
        <p:spPr>
          <a:xfrm>
            <a:off x="662858" y="3326322"/>
            <a:ext cx="5882107" cy="290097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4013" y="1125218"/>
            <a:ext cx="5124058" cy="553211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41672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/>
          <p:cNvSpPr txBox="1"/>
          <p:nvPr/>
        </p:nvSpPr>
        <p:spPr>
          <a:xfrm>
            <a:off x="835305" y="-48552"/>
            <a:ext cx="4950500" cy="898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30000"/>
              </a:lnSpc>
              <a:defRPr/>
            </a:pPr>
            <a:r>
              <a:rPr lang="zh-CN" altLang="en-US" sz="4400" b="1" dirty="0">
                <a:solidFill>
                  <a:schemeClr val="bg1"/>
                </a:solidFill>
              </a:rPr>
              <a:t>创建</a:t>
            </a:r>
            <a:r>
              <a:rPr lang="en-US" altLang="zh-CN" sz="4400" b="1" dirty="0" err="1">
                <a:solidFill>
                  <a:schemeClr val="bg1"/>
                </a:solidFill>
              </a:rPr>
              <a:t>Ndarray</a:t>
            </a:r>
            <a:r>
              <a:rPr lang="zh-CN" altLang="en-US" sz="4400" b="1" dirty="0">
                <a:solidFill>
                  <a:schemeClr val="bg1"/>
                </a:solidFill>
              </a:rPr>
              <a:t>数组</a:t>
            </a:r>
            <a:endParaRPr kumimoji="0" lang="zh-CN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ValueShape1"/>
          <p:cNvSpPr/>
          <p:nvPr/>
        </p:nvSpPr>
        <p:spPr bwMode="auto">
          <a:xfrm>
            <a:off x="4992816" y="1410093"/>
            <a:ext cx="45719" cy="474663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mpact" panose="020B0806030902050204" pitchFamily="34" charset="0"/>
              <a:ea typeface="等线"/>
              <a:cs typeface="+mn-cs"/>
            </a:endParaRPr>
          </a:p>
        </p:txBody>
      </p:sp>
      <p:sp>
        <p:nvSpPr>
          <p:cNvPr id="36" name="IconShape"/>
          <p:cNvSpPr/>
          <p:nvPr/>
        </p:nvSpPr>
        <p:spPr bwMode="auto">
          <a:xfrm>
            <a:off x="7286903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47" name="IconShape"/>
          <p:cNvSpPr/>
          <p:nvPr/>
        </p:nvSpPr>
        <p:spPr bwMode="auto">
          <a:xfrm>
            <a:off x="7282160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48" name="IconShape"/>
          <p:cNvSpPr/>
          <p:nvPr/>
        </p:nvSpPr>
        <p:spPr bwMode="auto">
          <a:xfrm>
            <a:off x="7286903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6" name="IconShape"/>
          <p:cNvSpPr/>
          <p:nvPr/>
        </p:nvSpPr>
        <p:spPr bwMode="auto">
          <a:xfrm>
            <a:off x="7282160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0" name="IconShape"/>
          <p:cNvSpPr/>
          <p:nvPr/>
        </p:nvSpPr>
        <p:spPr bwMode="auto">
          <a:xfrm>
            <a:off x="7276526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1" name="IconShape"/>
          <p:cNvSpPr/>
          <p:nvPr/>
        </p:nvSpPr>
        <p:spPr bwMode="auto">
          <a:xfrm>
            <a:off x="7271783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2" name="IconShape"/>
          <p:cNvSpPr/>
          <p:nvPr/>
        </p:nvSpPr>
        <p:spPr bwMode="auto">
          <a:xfrm>
            <a:off x="7326292" y="2591967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3" name="IconShape"/>
          <p:cNvSpPr/>
          <p:nvPr/>
        </p:nvSpPr>
        <p:spPr bwMode="auto">
          <a:xfrm>
            <a:off x="7306597" y="2591967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4" name="IconShape"/>
          <p:cNvSpPr/>
          <p:nvPr/>
        </p:nvSpPr>
        <p:spPr bwMode="auto">
          <a:xfrm>
            <a:off x="7306597" y="2618186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5" name="ValueShape"/>
          <p:cNvSpPr/>
          <p:nvPr/>
        </p:nvSpPr>
        <p:spPr>
          <a:xfrm>
            <a:off x="5055778" y="460556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6" name="ValueShape"/>
          <p:cNvSpPr/>
          <p:nvPr/>
        </p:nvSpPr>
        <p:spPr>
          <a:xfrm>
            <a:off x="5055778" y="4577512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7" name="ValueShape"/>
          <p:cNvSpPr/>
          <p:nvPr/>
        </p:nvSpPr>
        <p:spPr>
          <a:xfrm>
            <a:off x="5065922" y="460556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8" name="ValueShape"/>
          <p:cNvSpPr/>
          <p:nvPr/>
        </p:nvSpPr>
        <p:spPr>
          <a:xfrm>
            <a:off x="5055778" y="4582852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9" name="ValueShape"/>
          <p:cNvSpPr/>
          <p:nvPr/>
        </p:nvSpPr>
        <p:spPr>
          <a:xfrm>
            <a:off x="5055778" y="459528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0" name="ValueShape"/>
          <p:cNvSpPr/>
          <p:nvPr/>
        </p:nvSpPr>
        <p:spPr>
          <a:xfrm>
            <a:off x="5076066" y="459528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1" name="ValueShape"/>
          <p:cNvSpPr/>
          <p:nvPr/>
        </p:nvSpPr>
        <p:spPr>
          <a:xfrm>
            <a:off x="5065922" y="461584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2" name="ValueShape"/>
          <p:cNvSpPr/>
          <p:nvPr/>
        </p:nvSpPr>
        <p:spPr>
          <a:xfrm>
            <a:off x="5076066" y="462612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772510" y="982779"/>
            <a:ext cx="10531366" cy="545478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数据类型对象</a:t>
            </a:r>
            <a:r>
              <a:rPr lang="zh-CN" altLang="en-US" sz="2400" dirty="0"/>
              <a:t>描述了对应于数组的固定内存块的解释，取决于以下方面：</a:t>
            </a: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数据类型（整数、浮点等）；数据大小；字节序（小端或大端）；在结构化类型的情况下，字段的名称，每个字段的数据类型，和每个字段占用的内存块部分；如果数据类型是子序列，它的形状和数据类型。</a:t>
            </a:r>
          </a:p>
          <a:p>
            <a:pPr>
              <a:lnSpc>
                <a:spcPct val="100000"/>
              </a:lnSpc>
            </a:pPr>
            <a:endParaRPr lang="en-US" altLang="zh-CN" sz="2000" dirty="0"/>
          </a:p>
        </p:txBody>
      </p:sp>
      <p:sp>
        <p:nvSpPr>
          <p:cNvPr id="24" name="矩形 23"/>
          <p:cNvSpPr/>
          <p:nvPr/>
        </p:nvSpPr>
        <p:spPr>
          <a:xfrm>
            <a:off x="541195" y="2802959"/>
            <a:ext cx="4934607" cy="33547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numpy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as np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np.array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([1,2,3])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print(a)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sz="1600" dirty="0">
                <a:latin typeface="LMSans8-Regular-Identity-H"/>
              </a:rPr>
              <a:t>b = </a:t>
            </a:r>
            <a:r>
              <a:rPr lang="en-US" altLang="zh-CN" sz="1600" dirty="0" err="1">
                <a:latin typeface="LMSans8-Regular-Identity-H"/>
              </a:rPr>
              <a:t>np.array</a:t>
            </a:r>
            <a:r>
              <a:rPr lang="en-US" altLang="zh-CN" sz="1600" dirty="0">
                <a:latin typeface="LMSans8-Regular-Identity-H"/>
              </a:rPr>
              <a:t>([[1,2],[3,4]])</a:t>
            </a:r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	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print(b)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7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8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c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np.array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([1,2,3,4,5],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ndmin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=2)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9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print(c)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10 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11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d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np.array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([1,2,3],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dtype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=complex)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12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print(d)</a:t>
            </a:r>
          </a:p>
        </p:txBody>
      </p:sp>
      <p:sp>
        <p:nvSpPr>
          <p:cNvPr id="25" name="矩形 24"/>
          <p:cNvSpPr/>
          <p:nvPr/>
        </p:nvSpPr>
        <p:spPr>
          <a:xfrm>
            <a:off x="5989520" y="2777019"/>
            <a:ext cx="5470635" cy="36009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numpy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as np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np.dtype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(np.int32)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sz="1600" dirty="0">
                <a:latin typeface="LMSans8-Regular-Identity-H"/>
              </a:rPr>
              <a:t>dt1 = </a:t>
            </a:r>
            <a:r>
              <a:rPr lang="en-US" altLang="zh-CN" sz="1600" dirty="0" err="1">
                <a:latin typeface="LMSans8-Regular-Identity-H"/>
              </a:rPr>
              <a:t>np.dtype</a:t>
            </a:r>
            <a:r>
              <a:rPr lang="en-US" altLang="zh-CN" sz="1600" dirty="0">
                <a:latin typeface="LMSans8-Regular-Identity-H"/>
              </a:rPr>
              <a:t>(‘i4’) #int8, int16, int32</a:t>
            </a:r>
            <a:r>
              <a:rPr lang="zh-CN" altLang="en-US" sz="1600" dirty="0">
                <a:latin typeface="LMSans8-Regular-Identity-H"/>
              </a:rPr>
              <a:t>可替换为等价字符串‘</a:t>
            </a:r>
            <a:r>
              <a:rPr lang="en-US" altLang="zh-CN" sz="1600" dirty="0">
                <a:latin typeface="LMSans8-Regular-Identity-H"/>
              </a:rPr>
              <a:t>i1</a:t>
            </a:r>
            <a:r>
              <a:rPr lang="zh-CN" altLang="en-US" sz="1600" dirty="0">
                <a:latin typeface="LMSans8-Regular-Identity-H"/>
              </a:rPr>
              <a:t>’</a:t>
            </a:r>
            <a:r>
              <a:rPr lang="en-US" altLang="zh-CN" sz="1600" dirty="0">
                <a:latin typeface="LMSans8-Regular-Identity-H"/>
              </a:rPr>
              <a:t>,</a:t>
            </a:r>
            <a:r>
              <a:rPr lang="zh-CN" altLang="en-US" sz="1600" dirty="0">
                <a:latin typeface="LMSans8-Regular-Identity-H"/>
              </a:rPr>
              <a:t>‘</a:t>
            </a:r>
            <a:r>
              <a:rPr lang="en-US" altLang="zh-CN" sz="1600" dirty="0">
                <a:latin typeface="LMSans8-Regular-Identity-H"/>
              </a:rPr>
              <a:t>i2</a:t>
            </a:r>
            <a:r>
              <a:rPr lang="zh-CN" altLang="en-US" sz="1600" dirty="0">
                <a:latin typeface="LMSans8-Regular-Identity-H"/>
              </a:rPr>
              <a:t>’</a:t>
            </a:r>
            <a:r>
              <a:rPr lang="en-US" altLang="zh-CN" sz="1600" dirty="0">
                <a:latin typeface="LMSans8-Regular-Identity-H"/>
              </a:rPr>
              <a:t>,</a:t>
            </a:r>
            <a:r>
              <a:rPr lang="zh-CN" altLang="en-US" sz="1600" dirty="0">
                <a:latin typeface="LMSans8-Regular-Identity-H"/>
              </a:rPr>
              <a:t>‘</a:t>
            </a:r>
            <a:r>
              <a:rPr lang="en-US" altLang="zh-CN" sz="1600" dirty="0">
                <a:latin typeface="LMSans8-Regular-Identity-H"/>
              </a:rPr>
              <a:t>i4</a:t>
            </a:r>
            <a:r>
              <a:rPr lang="zh-CN" altLang="en-US" sz="1600" dirty="0">
                <a:latin typeface="LMSans8-Regular-Identity-H"/>
              </a:rPr>
              <a:t>’，以及其他</a:t>
            </a:r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	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print(dt1)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7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8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dt2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np.dtype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([(</a:t>
            </a:r>
            <a:r>
              <a:rPr lang="zh-CN" altLang="en-US" dirty="0">
                <a:solidFill>
                  <a:srgbClr val="000000"/>
                </a:solidFill>
                <a:latin typeface="YaHei_Monaco-R"/>
              </a:rPr>
              <a:t>‘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age</a:t>
            </a:r>
            <a:r>
              <a:rPr lang="zh-CN" altLang="en-US" dirty="0">
                <a:solidFill>
                  <a:srgbClr val="000000"/>
                </a:solidFill>
                <a:latin typeface="YaHei_Monaco-R"/>
              </a:rPr>
              <a:t>’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np.int8)])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9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print(dt2)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10 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11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aa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np.array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([(10,),(20,),(30,)],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dtype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=dt2)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12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print(aa[‘age’])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53421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en-US" altLang="zh-CN" b="1" dirty="0" err="1">
                <a:solidFill>
                  <a:schemeClr val="bg1"/>
                </a:solidFill>
              </a:rPr>
              <a:t>Numpy</a:t>
            </a:r>
            <a:r>
              <a:rPr lang="zh-CN" altLang="en-US" b="1" dirty="0">
                <a:solidFill>
                  <a:schemeClr val="bg1"/>
                </a:solidFill>
              </a:rPr>
              <a:t>数组属性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31359"/>
            <a:ext cx="10515600" cy="5145604"/>
          </a:xfrm>
        </p:spPr>
        <p:txBody>
          <a:bodyPr/>
          <a:lstStyle/>
          <a:p>
            <a:r>
              <a:rPr lang="en-US" altLang="zh-CN" dirty="0" err="1"/>
              <a:t>Ndarray.shape</a:t>
            </a:r>
            <a:r>
              <a:rPr lang="en-US" altLang="zh-CN" dirty="0"/>
              <a:t>: </a:t>
            </a:r>
            <a:r>
              <a:rPr lang="zh-CN" altLang="en-US" dirty="0"/>
              <a:t>返回一个包含数组维度的元组</a:t>
            </a:r>
            <a:endParaRPr lang="en-US" altLang="zh-CN" dirty="0"/>
          </a:p>
          <a:p>
            <a:r>
              <a:rPr lang="en-US" altLang="zh-CN" dirty="0" err="1"/>
              <a:t>Ndarray.reshape</a:t>
            </a:r>
            <a:r>
              <a:rPr lang="en-US" altLang="zh-CN" dirty="0"/>
              <a:t>: </a:t>
            </a:r>
            <a:r>
              <a:rPr lang="zh-CN" altLang="en-US" dirty="0"/>
              <a:t>调整数组大小</a:t>
            </a:r>
            <a:endParaRPr lang="en-US" altLang="zh-CN" dirty="0"/>
          </a:p>
          <a:p>
            <a:r>
              <a:rPr lang="en-US" altLang="zh-CN" dirty="0" err="1"/>
              <a:t>Ndarray.ndim</a:t>
            </a:r>
            <a:r>
              <a:rPr lang="zh-CN" altLang="en-US" dirty="0"/>
              <a:t>：返回数据的维数</a:t>
            </a:r>
          </a:p>
        </p:txBody>
      </p:sp>
      <p:sp>
        <p:nvSpPr>
          <p:cNvPr id="4" name="矩形 3"/>
          <p:cNvSpPr/>
          <p:nvPr/>
        </p:nvSpPr>
        <p:spPr>
          <a:xfrm>
            <a:off x="6096000" y="3013980"/>
            <a:ext cx="5985856" cy="283154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numpy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as np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np.array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([[1,2,3], [4,5,6]])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a.shape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</a:p>
          <a:p>
            <a:pPr lvl="0"/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b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np.array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([[[0, 1, 2, 0, 1, 2]],</a:t>
            </a:r>
          </a:p>
          <a:p>
            <a:pPr lvl="0"/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          [[0, 1, 2, 0, 1, 2]]])</a:t>
            </a:r>
            <a:endParaRPr lang="en-US" altLang="zh-CN" sz="1600" dirty="0">
              <a:solidFill>
                <a:srgbClr val="8080FF"/>
              </a:solidFill>
              <a:latin typeface="LMSans8-Regular-Identity-H"/>
            </a:endParaRPr>
          </a:p>
          <a:p>
            <a:pPr lvl="0"/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b.shape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7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8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c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a.reshape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(3,2)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9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print(c)</a:t>
            </a:r>
          </a:p>
        </p:txBody>
      </p:sp>
      <p:sp>
        <p:nvSpPr>
          <p:cNvPr id="5" name="矩形 4"/>
          <p:cNvSpPr/>
          <p:nvPr/>
        </p:nvSpPr>
        <p:spPr>
          <a:xfrm>
            <a:off x="299331" y="3013981"/>
            <a:ext cx="5339470" cy="25545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numpy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as np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np.zeros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(5)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print(a)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b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np.zeros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((5,),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dtype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=np.int32)</a:t>
            </a:r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	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print(b)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7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8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c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np.ones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((2,2),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dtype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=np.int32)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9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print(c)</a:t>
            </a:r>
          </a:p>
        </p:txBody>
      </p:sp>
    </p:spTree>
    <p:extLst>
      <p:ext uri="{BB962C8B-B14F-4D97-AF65-F5344CB8AC3E}">
        <p14:creationId xmlns:p14="http://schemas.microsoft.com/office/powerpoint/2010/main" val="1626810917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en-US" altLang="zh-CN" b="1" dirty="0" err="1">
                <a:solidFill>
                  <a:schemeClr val="bg1"/>
                </a:solidFill>
              </a:rPr>
              <a:t>ndarray</a:t>
            </a:r>
            <a:r>
              <a:rPr lang="zh-CN" altLang="en-US" b="1" dirty="0">
                <a:solidFill>
                  <a:schemeClr val="bg1"/>
                </a:solidFill>
              </a:rPr>
              <a:t>数组的基本索引和切片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4312"/>
            <a:ext cx="11072648" cy="51456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 err="1"/>
              <a:t>Ndarray</a:t>
            </a:r>
            <a:r>
              <a:rPr lang="zh-CN" altLang="en-US" sz="2400" dirty="0"/>
              <a:t>对象中的元素遵循基于零的索引，有三种可用的索引方法类型：字段访问，基本切片和高级索引</a:t>
            </a:r>
            <a:endParaRPr lang="en-US" altLang="zh-CN" sz="2400" dirty="0"/>
          </a:p>
          <a:p>
            <a:pPr>
              <a:lnSpc>
                <a:spcPct val="100000"/>
              </a:lnSpc>
            </a:pPr>
            <a:r>
              <a:rPr lang="zh-CN" altLang="en-US" sz="2400" dirty="0"/>
              <a:t>基本切片：通过</a:t>
            </a:r>
            <a:r>
              <a:rPr lang="en-US" altLang="zh-CN" sz="2400" dirty="0"/>
              <a:t>start, stop, step</a:t>
            </a:r>
            <a:r>
              <a:rPr lang="zh-CN" altLang="en-US" sz="2400" dirty="0"/>
              <a:t>参数提供给内置的</a:t>
            </a:r>
            <a:r>
              <a:rPr lang="en-US" altLang="zh-CN" sz="2400" dirty="0"/>
              <a:t>slice</a:t>
            </a:r>
            <a:r>
              <a:rPr lang="zh-CN" altLang="en-US" sz="2400" dirty="0"/>
              <a:t>函数来构造一个</a:t>
            </a:r>
            <a:r>
              <a:rPr lang="en-US" altLang="zh-CN" sz="2400" dirty="0"/>
              <a:t>slice</a:t>
            </a:r>
            <a:r>
              <a:rPr lang="zh-CN" altLang="en-US" sz="2400" dirty="0"/>
              <a:t>对象</a:t>
            </a:r>
            <a:endParaRPr lang="en-US" altLang="zh-CN" sz="2400" dirty="0"/>
          </a:p>
          <a:p>
            <a:pPr>
              <a:lnSpc>
                <a:spcPct val="100000"/>
              </a:lnSpc>
            </a:pPr>
            <a:r>
              <a:rPr lang="zh-CN" altLang="en-US" sz="2400" dirty="0"/>
              <a:t>高级索引：如果</a:t>
            </a:r>
            <a:r>
              <a:rPr lang="en-US" altLang="zh-CN" sz="2400" dirty="0" err="1"/>
              <a:t>ndarray</a:t>
            </a:r>
            <a:r>
              <a:rPr lang="zh-CN" altLang="en-US" sz="2400" dirty="0"/>
              <a:t>是整数或布尔值类型，或者至少一个元素为序列对象的元组，我们就能用它来索引</a:t>
            </a:r>
            <a:r>
              <a:rPr lang="en-US" altLang="zh-CN" sz="2400" dirty="0" err="1"/>
              <a:t>ndarray</a:t>
            </a:r>
            <a:r>
              <a:rPr lang="en-US" altLang="zh-CN" sz="2400" dirty="0"/>
              <a:t>.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511953" y="3527114"/>
            <a:ext cx="4309455" cy="283154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numpy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as np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np.arange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(10)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s = slice(2,7,2)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print(a[s])</a:t>
            </a:r>
          </a:p>
          <a:p>
            <a:endParaRPr lang="en-US" altLang="zh-CN" sz="1600" dirty="0">
              <a:solidFill>
                <a:srgbClr val="8080FF"/>
              </a:solidFill>
              <a:latin typeface="LMSans8-Regular-Identity-H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b = a[2:7:2]</a:t>
            </a:r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	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print(b)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7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8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c = a[2:]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9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print(c)</a:t>
            </a:r>
          </a:p>
        </p:txBody>
      </p:sp>
      <p:sp>
        <p:nvSpPr>
          <p:cNvPr id="5" name="矩形 4"/>
          <p:cNvSpPr/>
          <p:nvPr/>
        </p:nvSpPr>
        <p:spPr>
          <a:xfrm>
            <a:off x="5593918" y="3111615"/>
            <a:ext cx="6532392" cy="366254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np.array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([[1,2],[3,4],[5,6]])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s = a[[0,1,2],[0,1,0]]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print(s)</a:t>
            </a:r>
          </a:p>
          <a:p>
            <a:endParaRPr lang="en-US" altLang="zh-CN" sz="1600" dirty="0">
              <a:solidFill>
                <a:srgbClr val="8080FF"/>
              </a:solidFill>
              <a:latin typeface="LMSans8-Regular-Identity-H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b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np.array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([[0,1,2],[3,4,5],[6,7,8],[9,10,11]])</a:t>
            </a:r>
            <a:endParaRPr lang="en-US" altLang="zh-CN" sz="1600" dirty="0">
              <a:solidFill>
                <a:srgbClr val="8080FF"/>
              </a:solidFill>
              <a:latin typeface="LMSans8-Regular-Identity-H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s1 = b[1:4,[1,2]]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print(s1)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7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8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s2 = b[b&gt;5]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9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print(s2)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10 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11 </a:t>
            </a:r>
            <a:r>
              <a:rPr lang="en-US" altLang="zh-CN" dirty="0">
                <a:latin typeface="LMSans8-Regular-Identity-H"/>
              </a:rPr>
              <a:t>c = </a:t>
            </a:r>
            <a:r>
              <a:rPr lang="en-US" altLang="zh-CN" dirty="0" err="1">
                <a:latin typeface="LMSans8-Regular-Identity-H"/>
              </a:rPr>
              <a:t>np.array</a:t>
            </a:r>
            <a:r>
              <a:rPr lang="en-US" altLang="zh-CN" dirty="0">
                <a:latin typeface="LMSans8-Regular-Identity-H"/>
              </a:rPr>
              <a:t>([</a:t>
            </a:r>
            <a:r>
              <a:rPr lang="en-US" altLang="zh-CN" dirty="0" err="1">
                <a:latin typeface="LMSans8-Regular-Identity-H"/>
              </a:rPr>
              <a:t>np.nan</a:t>
            </a:r>
            <a:r>
              <a:rPr lang="en-US" altLang="zh-CN" dirty="0">
                <a:latin typeface="LMSans8-Regular-Identity-H"/>
              </a:rPr>
              <a:t>, 1,2, </a:t>
            </a:r>
            <a:r>
              <a:rPr lang="en-US" altLang="zh-CN" dirty="0" err="1">
                <a:latin typeface="LMSans8-Regular-Identity-H"/>
              </a:rPr>
              <a:t>np.nan</a:t>
            </a:r>
            <a:r>
              <a:rPr lang="en-US" altLang="zh-CN" dirty="0">
                <a:latin typeface="LMSans8-Regular-Identity-H"/>
              </a:rPr>
              <a:t>, 3,4,5])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12 </a:t>
            </a:r>
            <a:r>
              <a:rPr lang="en-US" altLang="zh-CN" dirty="0">
                <a:latin typeface="LMSans8-Regular-Identity-H"/>
              </a:rPr>
              <a:t>print(c[~</a:t>
            </a:r>
            <a:r>
              <a:rPr lang="en-US" altLang="zh-CN" dirty="0" err="1">
                <a:latin typeface="LMSans8-Regular-Identity-H"/>
              </a:rPr>
              <a:t>np.isnan</a:t>
            </a:r>
            <a:r>
              <a:rPr lang="en-US" altLang="zh-CN" dirty="0">
                <a:latin typeface="LMSans8-Regular-Identity-H"/>
              </a:rPr>
              <a:t>(c)])</a:t>
            </a:r>
            <a:endParaRPr lang="en-US" altLang="zh-CN" dirty="0">
              <a:latin typeface="YaHei_Monaco-R"/>
            </a:endParaRPr>
          </a:p>
        </p:txBody>
      </p:sp>
    </p:spTree>
    <p:extLst>
      <p:ext uri="{BB962C8B-B14F-4D97-AF65-F5344CB8AC3E}">
        <p14:creationId xmlns:p14="http://schemas.microsoft.com/office/powerpoint/2010/main" val="821516509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en-US" altLang="zh-CN" b="1" dirty="0" err="1">
                <a:solidFill>
                  <a:schemeClr val="bg1"/>
                </a:solidFill>
              </a:rPr>
              <a:t>ndarray</a:t>
            </a:r>
            <a:r>
              <a:rPr lang="zh-CN" altLang="en-US" b="1" dirty="0">
                <a:solidFill>
                  <a:schemeClr val="bg1"/>
                </a:solidFill>
              </a:rPr>
              <a:t>数组的转置和轴对换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31359"/>
            <a:ext cx="10867697" cy="51456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 err="1"/>
              <a:t>Numpy.ravel</a:t>
            </a:r>
            <a:r>
              <a:rPr lang="en-US" altLang="zh-CN" sz="2400" dirty="0"/>
              <a:t>(a, order): </a:t>
            </a:r>
            <a:r>
              <a:rPr lang="zh-CN" altLang="en-US" sz="2400" dirty="0"/>
              <a:t>扁平化函数。返回展开的一维数组，并且按需生成副本，返回的数组和输入数组拥有相同数据类型。与</a:t>
            </a:r>
            <a:r>
              <a:rPr lang="en-US" altLang="zh-CN" sz="2400" dirty="0" err="1"/>
              <a:t>Numpy.flatten</a:t>
            </a:r>
            <a:r>
              <a:rPr lang="en-US" altLang="zh-CN" sz="2400" dirty="0"/>
              <a:t>()</a:t>
            </a:r>
            <a:r>
              <a:rPr lang="zh-CN" altLang="en-US" sz="2400" dirty="0"/>
              <a:t>相似，但不重新分配内存</a:t>
            </a:r>
            <a:endParaRPr lang="en-US" altLang="zh-CN" sz="2400" dirty="0"/>
          </a:p>
          <a:p>
            <a:pPr>
              <a:lnSpc>
                <a:spcPct val="100000"/>
              </a:lnSpc>
            </a:pPr>
            <a:r>
              <a:rPr lang="en-US" altLang="zh-CN" sz="2400" dirty="0" err="1"/>
              <a:t>Numpy.transpose</a:t>
            </a:r>
            <a:r>
              <a:rPr lang="en-US" altLang="zh-CN" sz="2400" dirty="0"/>
              <a:t>(a, axes): </a:t>
            </a:r>
            <a:r>
              <a:rPr lang="zh-CN" altLang="en-US" sz="2400" dirty="0"/>
              <a:t>翻转数组的维度</a:t>
            </a:r>
            <a:endParaRPr lang="en-US" altLang="zh-CN" sz="2400" dirty="0"/>
          </a:p>
          <a:p>
            <a:pPr>
              <a:lnSpc>
                <a:spcPct val="100000"/>
              </a:lnSpc>
            </a:pPr>
            <a:r>
              <a:rPr lang="en-US" altLang="zh-CN" sz="2400" dirty="0" err="1"/>
              <a:t>Numpy.swapaxes</a:t>
            </a:r>
            <a:r>
              <a:rPr lang="en-US" altLang="zh-CN" sz="2400" dirty="0"/>
              <a:t>: </a:t>
            </a:r>
            <a:r>
              <a:rPr lang="zh-CN" altLang="en-US" sz="2400" dirty="0"/>
              <a:t>交换数组的两个轴，</a:t>
            </a:r>
            <a:r>
              <a:rPr lang="en-US" altLang="zh-CN" sz="2400" dirty="0" err="1"/>
              <a:t>Numpy.swapaxes</a:t>
            </a:r>
            <a:r>
              <a:rPr lang="en-US" altLang="zh-CN" sz="2400" dirty="0"/>
              <a:t>(a, axis1, axis2)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248104" y="3604161"/>
            <a:ext cx="4309455" cy="172354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numpy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as np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 = [[0,1,2,3],[4,5,6,7]]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s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np.ravel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(a)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print(s)</a:t>
            </a:r>
          </a:p>
          <a:p>
            <a:endParaRPr lang="en-US" altLang="zh-CN" sz="1600" dirty="0">
              <a:solidFill>
                <a:srgbClr val="8080FF"/>
              </a:solidFill>
              <a:latin typeface="LMSans8-Regular-Identity-H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np.transpose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(a))</a:t>
            </a:r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	</a:t>
            </a:r>
          </a:p>
        </p:txBody>
      </p:sp>
      <p:sp>
        <p:nvSpPr>
          <p:cNvPr id="5" name="矩形 4"/>
          <p:cNvSpPr/>
          <p:nvPr/>
        </p:nvSpPr>
        <p:spPr>
          <a:xfrm>
            <a:off x="6941870" y="3260453"/>
            <a:ext cx="4764027" cy="35394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np.arange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(8).reshape(2,2,2)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print(a)</a:t>
            </a:r>
          </a:p>
          <a:p>
            <a:r>
              <a:rPr lang="en-US" altLang="zh-CN" sz="1600" dirty="0">
                <a:latin typeface="LMSans8-Regular-Identity-H"/>
              </a:rPr>
              <a:t>[[[0 1]</a:t>
            </a:r>
          </a:p>
          <a:p>
            <a:r>
              <a:rPr lang="en-US" altLang="zh-CN" sz="1600" dirty="0">
                <a:latin typeface="LMSans8-Regular-Identity-H"/>
              </a:rPr>
              <a:t>[2 3]]</a:t>
            </a:r>
          </a:p>
          <a:p>
            <a:endParaRPr lang="en-US" altLang="zh-CN" sz="1600" dirty="0">
              <a:latin typeface="LMSans8-Regular-Identity-H"/>
            </a:endParaRPr>
          </a:p>
          <a:p>
            <a:r>
              <a:rPr lang="en-US" altLang="zh-CN" sz="1600" dirty="0">
                <a:latin typeface="LMSans8-Regular-Identity-H"/>
              </a:rPr>
              <a:t>[[4 5]</a:t>
            </a:r>
          </a:p>
          <a:p>
            <a:r>
              <a:rPr lang="en-US" altLang="zh-CN" sz="1600" dirty="0">
                <a:latin typeface="LMSans8-Regular-Identity-H"/>
              </a:rPr>
              <a:t>[6 7]]]</a:t>
            </a: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s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np.swapaxes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(a,2,0)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print(s)</a:t>
            </a:r>
          </a:p>
          <a:p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[[[0 4]</a:t>
            </a:r>
          </a:p>
          <a:p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[2 6]]</a:t>
            </a:r>
          </a:p>
          <a:p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[[1 5]</a:t>
            </a:r>
          </a:p>
          <a:p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[3 7]]]</a:t>
            </a:r>
          </a:p>
        </p:txBody>
      </p:sp>
    </p:spTree>
    <p:extLst>
      <p:ext uri="{BB962C8B-B14F-4D97-AF65-F5344CB8AC3E}">
        <p14:creationId xmlns:p14="http://schemas.microsoft.com/office/powerpoint/2010/main" val="1188049832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en-US" altLang="zh-CN" b="1" dirty="0" err="1">
                <a:solidFill>
                  <a:schemeClr val="bg1"/>
                </a:solidFill>
              </a:rPr>
              <a:t>Ndarray</a:t>
            </a:r>
            <a:r>
              <a:rPr lang="zh-CN" altLang="en-US" b="1" dirty="0">
                <a:solidFill>
                  <a:schemeClr val="bg1"/>
                </a:solidFill>
              </a:rPr>
              <a:t>运算和通用函数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31359"/>
            <a:ext cx="10515600" cy="5145604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055" y="849664"/>
            <a:ext cx="4476980" cy="299100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37817" y="3850707"/>
            <a:ext cx="4309455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numpy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as np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np.array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([[4,5,6],[1,2,3]])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b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np.array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([[6,5,4],[3,2,1]])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print(a1+a2)</a:t>
            </a:r>
            <a:endParaRPr lang="en-US" altLang="zh-CN" sz="1600" dirty="0">
              <a:solidFill>
                <a:srgbClr val="8080FF"/>
              </a:solidFill>
              <a:latin typeface="LMSans8-Regular-Identity-H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print(a1/a2)</a:t>
            </a:r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	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print(a1%a2)</a:t>
            </a:r>
          </a:p>
          <a:p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7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a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np.array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([[1,2,3],[4,5,6]])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8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np.sin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(a))</a:t>
            </a:r>
            <a:endParaRPr lang="en-US" altLang="zh-CN" sz="1600" dirty="0">
              <a:solidFill>
                <a:srgbClr val="8080FF"/>
              </a:solidFill>
              <a:latin typeface="LMSans8-Regular-Identity-H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9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np.arcsin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(a))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6504" y="72828"/>
            <a:ext cx="3994355" cy="379749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433848" y="4022363"/>
            <a:ext cx="6674070" cy="25853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numpy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as np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numpy.linalg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as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lg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a1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np.array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([[1,2,3],[4,5,6]]) # a1</a:t>
            </a:r>
            <a:r>
              <a:rPr lang="zh-CN" altLang="en-US" dirty="0">
                <a:solidFill>
                  <a:srgbClr val="000000"/>
                </a:solidFill>
                <a:latin typeface="YaHei_Monaco-R"/>
              </a:rPr>
              <a:t>为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2*3</a:t>
            </a:r>
            <a:r>
              <a:rPr lang="zh-CN" altLang="en-US" dirty="0">
                <a:solidFill>
                  <a:srgbClr val="000000"/>
                </a:solidFill>
                <a:latin typeface="YaHei_Monaco-R"/>
              </a:rPr>
              <a:t>矩阵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a2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np.array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([[1,2],[3,4],[5,6]]) # a2</a:t>
            </a:r>
            <a:r>
              <a:rPr lang="zh-CN" altLang="en-US" dirty="0">
                <a:solidFill>
                  <a:srgbClr val="000000"/>
                </a:solidFill>
                <a:latin typeface="YaHei_Monaco-R"/>
              </a:rPr>
              <a:t>为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3*2</a:t>
            </a:r>
            <a:r>
              <a:rPr lang="zh-CN" altLang="en-US" dirty="0">
                <a:solidFill>
                  <a:srgbClr val="000000"/>
                </a:solidFill>
                <a:latin typeface="YaHei_Monaco-R"/>
              </a:rPr>
              <a:t>矩阵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latin typeface="LMSans8-Regular-Identity-H"/>
              </a:rPr>
              <a:t>print(a1.shape[1]==a2.shape[0])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latin typeface="LMSans8-Regular-Identity-H"/>
              </a:rPr>
              <a:t>print(a1.dot(a2))    #</a:t>
            </a:r>
            <a:r>
              <a:rPr lang="zh-CN" altLang="en-US" dirty="0">
                <a:latin typeface="LMSans8-Regular-Identity-H"/>
              </a:rPr>
              <a:t>矩阵点乘</a:t>
            </a:r>
            <a:endParaRPr lang="en-US" altLang="zh-CN" dirty="0">
              <a:latin typeface="LMSans8-Regular-Identity-H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7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8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a3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np.array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([[1,2,3],[4,5,6],[7,8,9]]) # a1</a:t>
            </a:r>
            <a:r>
              <a:rPr lang="zh-CN" altLang="en-US" dirty="0">
                <a:solidFill>
                  <a:srgbClr val="000000"/>
                </a:solidFill>
                <a:latin typeface="YaHei_Monaco-R"/>
              </a:rPr>
              <a:t>为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2*3</a:t>
            </a:r>
            <a:r>
              <a:rPr lang="zh-CN" altLang="en-US" dirty="0">
                <a:solidFill>
                  <a:srgbClr val="000000"/>
                </a:solidFill>
                <a:latin typeface="YaHei_Monaco-R"/>
              </a:rPr>
              <a:t>矩阵</a:t>
            </a:r>
            <a:endParaRPr lang="en-US" altLang="zh-CN" dirty="0">
              <a:solidFill>
                <a:srgbClr val="8080FF"/>
              </a:solidFill>
              <a:latin typeface="LMSans8-Regular-Identity-H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9 </a:t>
            </a:r>
            <a:r>
              <a:rPr lang="en-US" altLang="zh-CN" dirty="0">
                <a:latin typeface="LMSans8-Regular-Identity-H"/>
              </a:rPr>
              <a:t>print(</a:t>
            </a:r>
            <a:r>
              <a:rPr lang="en-US" altLang="zh-CN" dirty="0" err="1">
                <a:latin typeface="LMSans8-Regular-Identity-H"/>
              </a:rPr>
              <a:t>lg.inv</a:t>
            </a:r>
            <a:r>
              <a:rPr lang="en-US" altLang="zh-CN" dirty="0">
                <a:latin typeface="LMSans8-Regular-Identity-H"/>
              </a:rPr>
              <a:t>(a3))   #</a:t>
            </a:r>
            <a:r>
              <a:rPr lang="zh-CN" altLang="en-US" dirty="0">
                <a:latin typeface="LMSans8-Regular-Identity-H"/>
              </a:rPr>
              <a:t>矩阵求逆</a:t>
            </a:r>
            <a:endParaRPr lang="en-US" altLang="zh-CN" dirty="0">
              <a:latin typeface="YaHei_Monaco-R"/>
            </a:endParaRPr>
          </a:p>
        </p:txBody>
      </p:sp>
    </p:spTree>
    <p:extLst>
      <p:ext uri="{BB962C8B-B14F-4D97-AF65-F5344CB8AC3E}">
        <p14:creationId xmlns:p14="http://schemas.microsoft.com/office/powerpoint/2010/main" val="4164524784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en-US" altLang="zh-CN" b="1" dirty="0" err="1">
                <a:solidFill>
                  <a:schemeClr val="bg1"/>
                </a:solidFill>
              </a:rPr>
              <a:t>Ndarray</a:t>
            </a:r>
            <a:r>
              <a:rPr lang="zh-CN" altLang="en-US" b="1" dirty="0">
                <a:solidFill>
                  <a:schemeClr val="bg1"/>
                </a:solidFill>
              </a:rPr>
              <a:t>运算和通用函数</a:t>
            </a:r>
          </a:p>
        </p:txBody>
      </p:sp>
      <p:sp>
        <p:nvSpPr>
          <p:cNvPr id="5" name="矩形 4"/>
          <p:cNvSpPr/>
          <p:nvPr/>
        </p:nvSpPr>
        <p:spPr>
          <a:xfrm>
            <a:off x="838201" y="1237516"/>
            <a:ext cx="4484968" cy="424731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numpy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as np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np.array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([[4,5,6],[1,2,3]])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b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np.array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([[6,5,4],[3,2,1]])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a.max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())</a:t>
            </a:r>
            <a:endParaRPr lang="en-US" altLang="zh-CN" sz="1600" dirty="0">
              <a:solidFill>
                <a:srgbClr val="8080FF"/>
              </a:solidFill>
              <a:latin typeface="LMSans8-Regular-Identity-H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a.min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())</a:t>
            </a:r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	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print(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a.max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(axis=0))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7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print(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a.argmax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(axis=1)) #</a:t>
            </a:r>
            <a:r>
              <a:rPr lang="zh-CN" altLang="en-US" dirty="0">
                <a:solidFill>
                  <a:srgbClr val="000000"/>
                </a:solidFill>
                <a:latin typeface="YaHei_Monaco-R"/>
              </a:rPr>
              <a:t>获取行最大值元素所在的位置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8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print(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a.mean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()) #</a:t>
            </a:r>
            <a:r>
              <a:rPr lang="zh-CN" altLang="en-US" dirty="0">
                <a:solidFill>
                  <a:srgbClr val="000000"/>
                </a:solidFill>
                <a:latin typeface="YaHei_Monaco-R"/>
              </a:rPr>
              <a:t>求平均值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9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a.var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())  #</a:t>
            </a:r>
            <a:r>
              <a:rPr lang="zh-CN" altLang="en-US" dirty="0">
                <a:solidFill>
                  <a:srgbClr val="000000"/>
                </a:solidFill>
                <a:latin typeface="YaHei_Monaco-R"/>
              </a:rPr>
              <a:t>求方差</a:t>
            </a:r>
            <a:endParaRPr lang="en-US" altLang="zh-CN" sz="1600" dirty="0">
              <a:solidFill>
                <a:srgbClr val="8080FF"/>
              </a:solidFill>
              <a:latin typeface="LMSans8-Regular-Identity-H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10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a.std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())  #</a:t>
            </a:r>
            <a:r>
              <a:rPr lang="zh-CN" altLang="en-US" dirty="0">
                <a:solidFill>
                  <a:srgbClr val="000000"/>
                </a:solidFill>
                <a:latin typeface="YaHei_Monaco-R"/>
              </a:rPr>
              <a:t>求标准差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np.median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(a))  #</a:t>
            </a:r>
            <a:r>
              <a:rPr lang="zh-CN" altLang="en-US" dirty="0">
                <a:solidFill>
                  <a:srgbClr val="000000"/>
                </a:solidFill>
                <a:latin typeface="YaHei_Monaco-R"/>
              </a:rPr>
              <a:t>求中值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a.sum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())  #</a:t>
            </a:r>
            <a:r>
              <a:rPr lang="zh-CN" altLang="en-US" dirty="0">
                <a:solidFill>
                  <a:srgbClr val="000000"/>
                </a:solidFill>
                <a:latin typeface="YaHei_Monaco-R"/>
              </a:rPr>
              <a:t>求中值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endParaRPr lang="en-US" altLang="zh-CN" dirty="0">
              <a:solidFill>
                <a:srgbClr val="000000"/>
              </a:solidFill>
              <a:latin typeface="YaHei_Monaco-R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64014" y="1237516"/>
            <a:ext cx="4742793" cy="34163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numpy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as np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latin typeface="LMSans8-Regular-Identity-H"/>
              </a:rPr>
              <a:t>a = </a:t>
            </a:r>
            <a:r>
              <a:rPr lang="en-US" altLang="zh-CN" dirty="0" err="1">
                <a:latin typeface="LMSans8-Regular-Identity-H"/>
              </a:rPr>
              <a:t>np.arange</a:t>
            </a:r>
            <a:r>
              <a:rPr lang="en-US" altLang="zh-CN" dirty="0">
                <a:latin typeface="LMSans8-Regular-Identity-H"/>
              </a:rPr>
              <a:t>(9) 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latin typeface="LMSans8-Regular-Identity-H"/>
              </a:rPr>
              <a:t>b = </a:t>
            </a:r>
            <a:r>
              <a:rPr lang="en-US" altLang="zh-CN" dirty="0" err="1">
                <a:latin typeface="LMSans8-Regular-Identity-H"/>
              </a:rPr>
              <a:t>np.split</a:t>
            </a:r>
            <a:r>
              <a:rPr lang="en-US" altLang="zh-CN" dirty="0">
                <a:latin typeface="LMSans8-Regular-Identity-H"/>
              </a:rPr>
              <a:t>(a,3)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latin typeface="LMSans8-Regular-Identity-H"/>
              </a:rPr>
              <a:t>print(b)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5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c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np.split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(a,[4,7])</a:t>
            </a:r>
            <a:endParaRPr lang="en-US" altLang="zh-CN" dirty="0">
              <a:solidFill>
                <a:srgbClr val="8080FF"/>
              </a:solidFill>
              <a:latin typeface="LMSans8-Regular-Identity-H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7 </a:t>
            </a:r>
            <a:r>
              <a:rPr lang="en-US" altLang="zh-CN" dirty="0">
                <a:latin typeface="LMSans8-Regular-Identity-H"/>
              </a:rPr>
              <a:t>print(c)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8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9 </a:t>
            </a:r>
            <a:r>
              <a:rPr lang="en-US" altLang="zh-CN" dirty="0">
                <a:latin typeface="LMSans8-Regular-Identity-H"/>
              </a:rPr>
              <a:t>d = </a:t>
            </a:r>
            <a:r>
              <a:rPr lang="en-US" altLang="zh-CN" dirty="0" err="1">
                <a:latin typeface="LMSans8-Regular-Identity-H"/>
              </a:rPr>
              <a:t>np.array</a:t>
            </a:r>
            <a:r>
              <a:rPr lang="en-US" altLang="zh-CN" dirty="0">
                <a:latin typeface="LMSans8-Regular-Identity-H"/>
              </a:rPr>
              <a:t>([[1,2,3],[4,5,6]])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10 </a:t>
            </a:r>
            <a:r>
              <a:rPr lang="en-US" altLang="zh-CN" dirty="0" err="1">
                <a:latin typeface="LMSans8-Regular-Identity-H"/>
              </a:rPr>
              <a:t>np.append</a:t>
            </a:r>
            <a:r>
              <a:rPr lang="en-US" altLang="zh-CN" dirty="0">
                <a:latin typeface="LMSans8-Regular-Identity-H"/>
              </a:rPr>
              <a:t>(d,[7,8,9])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11 </a:t>
            </a:r>
            <a:r>
              <a:rPr lang="en-US" altLang="zh-CN" dirty="0" err="1">
                <a:latin typeface="LMSans8-Regular-Identity-H"/>
              </a:rPr>
              <a:t>np.insert</a:t>
            </a:r>
            <a:r>
              <a:rPr lang="en-US" altLang="zh-CN" dirty="0">
                <a:latin typeface="LMSans8-Regular-Identity-H"/>
              </a:rPr>
              <a:t>(d,1,[7,8,9],axis=0)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12 </a:t>
            </a:r>
            <a:r>
              <a:rPr lang="en-US" altLang="zh-CN" dirty="0" err="1">
                <a:latin typeface="LMSans8-Regular-Identity-H"/>
              </a:rPr>
              <a:t>np.delete</a:t>
            </a:r>
            <a:r>
              <a:rPr lang="en-US" altLang="zh-CN" dirty="0">
                <a:latin typeface="LMSans8-Regular-Identity-H"/>
              </a:rPr>
              <a:t>(d,1,axis = 1)</a:t>
            </a:r>
          </a:p>
        </p:txBody>
      </p:sp>
    </p:spTree>
    <p:extLst>
      <p:ext uri="{BB962C8B-B14F-4D97-AF65-F5344CB8AC3E}">
        <p14:creationId xmlns:p14="http://schemas.microsoft.com/office/powerpoint/2010/main" val="2396519491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en-US" altLang="zh-CN" b="1" dirty="0" err="1">
                <a:solidFill>
                  <a:schemeClr val="bg1"/>
                </a:solidFill>
              </a:rPr>
              <a:t>numpy</a:t>
            </a:r>
            <a:r>
              <a:rPr lang="zh-CN" altLang="en-US" b="1" dirty="0">
                <a:solidFill>
                  <a:schemeClr val="bg1"/>
                </a:solidFill>
              </a:rPr>
              <a:t>中的线性代数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10186"/>
            <a:ext cx="10515600" cy="5145604"/>
          </a:xfrm>
        </p:spPr>
        <p:txBody>
          <a:bodyPr/>
          <a:lstStyle/>
          <a:p>
            <a:r>
              <a:rPr lang="en-US" altLang="zh-CN" dirty="0" err="1"/>
              <a:t>Numpy</a:t>
            </a:r>
            <a:r>
              <a:rPr lang="zh-CN" altLang="en-US" dirty="0"/>
              <a:t>包含</a:t>
            </a:r>
            <a:r>
              <a:rPr lang="en-US" altLang="zh-CN" dirty="0" err="1"/>
              <a:t>numpy.linalg</a:t>
            </a:r>
            <a:r>
              <a:rPr lang="zh-CN" altLang="en-US" dirty="0"/>
              <a:t>模块，提供线性代数所需所有功能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完成</a:t>
            </a:r>
            <a:r>
              <a:rPr lang="en-US" altLang="zh-CN" dirty="0" err="1"/>
              <a:t>Numpy</a:t>
            </a:r>
            <a:r>
              <a:rPr lang="zh-CN" altLang="en-US" dirty="0"/>
              <a:t>练习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r="36100"/>
          <a:stretch/>
        </p:blipFill>
        <p:spPr>
          <a:xfrm>
            <a:off x="896704" y="1884230"/>
            <a:ext cx="4920771" cy="3439861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647955" y="2113327"/>
            <a:ext cx="4764349" cy="313932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numpy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as np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import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numpy.matlib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3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a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np.array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([[1,2],[3,4]])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4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b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np.array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([[11,12],[13,14]])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5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print(np.dot(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a,b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))</a:t>
            </a:r>
            <a:endParaRPr lang="en-US" altLang="zh-CN" sz="1600" dirty="0">
              <a:solidFill>
                <a:srgbClr val="8080FF"/>
              </a:solidFill>
              <a:latin typeface="LMSans8-Regular-Identity-H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6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np.inner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a,b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))</a:t>
            </a:r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	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7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print(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np.matmul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a,b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))</a:t>
            </a:r>
          </a:p>
          <a:p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8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print(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np.linalg.det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(a)) #</a:t>
            </a:r>
            <a:r>
              <a:rPr lang="zh-CN" altLang="en-US" dirty="0">
                <a:solidFill>
                  <a:srgbClr val="000000"/>
                </a:solidFill>
                <a:latin typeface="YaHei_Monaco-R"/>
              </a:rPr>
              <a:t>求行列式</a:t>
            </a:r>
            <a:endParaRPr lang="en-US" altLang="zh-CN" dirty="0">
              <a:solidFill>
                <a:srgbClr val="000000"/>
              </a:solidFill>
              <a:latin typeface="YaHei_Monaco-R"/>
            </a:endParaRPr>
          </a:p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9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print(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np.linalg.inv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(a)) #</a:t>
            </a:r>
            <a:r>
              <a:rPr lang="zh-CN" altLang="en-US" dirty="0">
                <a:solidFill>
                  <a:srgbClr val="000000"/>
                </a:solidFill>
                <a:latin typeface="YaHei_Monaco-R"/>
              </a:rPr>
              <a:t>求矩阵的逆</a:t>
            </a:r>
            <a:endParaRPr lang="en-US" altLang="zh-CN" sz="1600" dirty="0">
              <a:solidFill>
                <a:srgbClr val="8080FF"/>
              </a:solidFill>
              <a:latin typeface="LMSans8-Regular-Identity-H"/>
            </a:endParaRPr>
          </a:p>
          <a:p>
            <a:endParaRPr lang="en-US" altLang="zh-CN" dirty="0">
              <a:solidFill>
                <a:srgbClr val="000000"/>
              </a:solidFill>
              <a:latin typeface="YaHei_Monaco-R"/>
            </a:endParaRPr>
          </a:p>
        </p:txBody>
      </p:sp>
    </p:spTree>
    <p:extLst>
      <p:ext uri="{BB962C8B-B14F-4D97-AF65-F5344CB8AC3E}">
        <p14:creationId xmlns:p14="http://schemas.microsoft.com/office/powerpoint/2010/main" val="1310810640"/>
      </p:ext>
    </p:extLst>
  </p:cSld>
  <p:clrMapOvr>
    <a:masterClrMapping/>
  </p:clrMapOvr>
  <p:transition spd="slow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/>
          <p:cNvSpPr txBox="1"/>
          <p:nvPr/>
        </p:nvSpPr>
        <p:spPr>
          <a:xfrm>
            <a:off x="835305" y="-48552"/>
            <a:ext cx="2031325" cy="886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内容</a:t>
            </a:r>
          </a:p>
        </p:txBody>
      </p:sp>
      <p:sp>
        <p:nvSpPr>
          <p:cNvPr id="35" name="ValueShape1"/>
          <p:cNvSpPr/>
          <p:nvPr/>
        </p:nvSpPr>
        <p:spPr bwMode="auto">
          <a:xfrm>
            <a:off x="4992816" y="1410093"/>
            <a:ext cx="45719" cy="474663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mpact" panose="020B0806030902050204" pitchFamily="34" charset="0"/>
              <a:ea typeface="等线"/>
              <a:cs typeface="+mn-cs"/>
            </a:endParaRPr>
          </a:p>
        </p:txBody>
      </p:sp>
      <p:sp>
        <p:nvSpPr>
          <p:cNvPr id="36" name="IconShape"/>
          <p:cNvSpPr/>
          <p:nvPr/>
        </p:nvSpPr>
        <p:spPr bwMode="auto">
          <a:xfrm>
            <a:off x="7286903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47" name="IconShape"/>
          <p:cNvSpPr/>
          <p:nvPr/>
        </p:nvSpPr>
        <p:spPr bwMode="auto">
          <a:xfrm>
            <a:off x="7282160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48" name="IconShape"/>
          <p:cNvSpPr/>
          <p:nvPr/>
        </p:nvSpPr>
        <p:spPr bwMode="auto">
          <a:xfrm>
            <a:off x="7286903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6" name="IconShape"/>
          <p:cNvSpPr/>
          <p:nvPr/>
        </p:nvSpPr>
        <p:spPr bwMode="auto">
          <a:xfrm>
            <a:off x="7282160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0" name="IconShape"/>
          <p:cNvSpPr/>
          <p:nvPr/>
        </p:nvSpPr>
        <p:spPr bwMode="auto">
          <a:xfrm>
            <a:off x="7276526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1" name="IconShape"/>
          <p:cNvSpPr/>
          <p:nvPr/>
        </p:nvSpPr>
        <p:spPr bwMode="auto">
          <a:xfrm>
            <a:off x="7271783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2" name="IconShape"/>
          <p:cNvSpPr/>
          <p:nvPr/>
        </p:nvSpPr>
        <p:spPr bwMode="auto">
          <a:xfrm>
            <a:off x="7326292" y="2591967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3" name="IconShape"/>
          <p:cNvSpPr/>
          <p:nvPr/>
        </p:nvSpPr>
        <p:spPr bwMode="auto">
          <a:xfrm>
            <a:off x="7306597" y="2591967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4" name="IconShape"/>
          <p:cNvSpPr/>
          <p:nvPr/>
        </p:nvSpPr>
        <p:spPr bwMode="auto">
          <a:xfrm>
            <a:off x="7306597" y="2618186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5" name="ValueShape"/>
          <p:cNvSpPr/>
          <p:nvPr/>
        </p:nvSpPr>
        <p:spPr>
          <a:xfrm>
            <a:off x="5055778" y="460556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6" name="ValueShape"/>
          <p:cNvSpPr/>
          <p:nvPr/>
        </p:nvSpPr>
        <p:spPr>
          <a:xfrm>
            <a:off x="5055778" y="4577512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7" name="ValueShape"/>
          <p:cNvSpPr/>
          <p:nvPr/>
        </p:nvSpPr>
        <p:spPr>
          <a:xfrm>
            <a:off x="5065922" y="460556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8" name="ValueShape"/>
          <p:cNvSpPr/>
          <p:nvPr/>
        </p:nvSpPr>
        <p:spPr>
          <a:xfrm>
            <a:off x="5055778" y="4582852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9" name="ValueShape"/>
          <p:cNvSpPr/>
          <p:nvPr/>
        </p:nvSpPr>
        <p:spPr>
          <a:xfrm>
            <a:off x="5055778" y="459528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0" name="ValueShape"/>
          <p:cNvSpPr/>
          <p:nvPr/>
        </p:nvSpPr>
        <p:spPr>
          <a:xfrm>
            <a:off x="5076066" y="459528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1" name="ValueShape"/>
          <p:cNvSpPr/>
          <p:nvPr/>
        </p:nvSpPr>
        <p:spPr>
          <a:xfrm>
            <a:off x="5065922" y="461584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2" name="ValueShape"/>
          <p:cNvSpPr/>
          <p:nvPr/>
        </p:nvSpPr>
        <p:spPr>
          <a:xfrm>
            <a:off x="5076066" y="462612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43991" y="1148316"/>
            <a:ext cx="10515600" cy="5454785"/>
          </a:xfrm>
        </p:spPr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en-US" altLang="zh-CN" dirty="0" err="1"/>
              <a:t>Numpy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2. </a:t>
            </a:r>
            <a:r>
              <a:rPr lang="en-US" altLang="zh-CN" b="1" dirty="0" err="1"/>
              <a:t>rasterio</a:t>
            </a:r>
            <a:endParaRPr lang="en-US" altLang="zh-CN" b="1" dirty="0"/>
          </a:p>
          <a:p>
            <a:endParaRPr lang="en-US" altLang="zh-CN" b="1" dirty="0"/>
          </a:p>
          <a:p>
            <a:r>
              <a:rPr lang="en-US" altLang="zh-CN" dirty="0"/>
              <a:t>3. </a:t>
            </a:r>
            <a:r>
              <a:rPr lang="zh-CN" altLang="en-US" dirty="0"/>
              <a:t>栅格操作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39832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en-US" altLang="zh-CN" b="1" dirty="0" err="1">
                <a:solidFill>
                  <a:schemeClr val="bg1"/>
                </a:solidFill>
              </a:rPr>
              <a:t>rasterio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1015" y="1019980"/>
            <a:ext cx="11208757" cy="558154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zh-CN" dirty="0" err="1"/>
              <a:t>Rasterio</a:t>
            </a:r>
            <a:r>
              <a:rPr lang="en-US" altLang="zh-CN" dirty="0"/>
              <a:t> </a:t>
            </a:r>
            <a:r>
              <a:rPr lang="zh-CN" altLang="en-US" dirty="0"/>
              <a:t>是一个用于读取、写入和分析栅格数据集的多功能库， 帮助轻松探索卫星图像、高程图和其他基于栅格的地理空间数据。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 err="1"/>
              <a:t>Rasterio</a:t>
            </a:r>
            <a:r>
              <a:rPr lang="zh-CN" altLang="en-US" dirty="0"/>
              <a:t>常用于打开</a:t>
            </a:r>
            <a:r>
              <a:rPr lang="en-US" altLang="zh-CN" dirty="0"/>
              <a:t>TIFF</a:t>
            </a:r>
            <a:r>
              <a:rPr lang="zh-CN" altLang="en-US" dirty="0"/>
              <a:t>，</a:t>
            </a:r>
            <a:r>
              <a:rPr lang="en-US" altLang="zh-CN" dirty="0" err="1"/>
              <a:t>GeoTIFF</a:t>
            </a:r>
            <a:r>
              <a:rPr lang="zh-CN" altLang="en-US" dirty="0"/>
              <a:t>，</a:t>
            </a:r>
            <a:r>
              <a:rPr lang="en-US" altLang="zh-CN" dirty="0"/>
              <a:t>ASCII Grid</a:t>
            </a:r>
            <a:r>
              <a:rPr lang="zh-CN" altLang="en-US" dirty="0"/>
              <a:t>以及</a:t>
            </a:r>
            <a:r>
              <a:rPr lang="en-US" altLang="zh-CN" dirty="0" err="1"/>
              <a:t>Erdas</a:t>
            </a:r>
            <a:r>
              <a:rPr lang="en-US" altLang="zh-CN" dirty="0"/>
              <a:t> </a:t>
            </a:r>
            <a:r>
              <a:rPr lang="en-US" altLang="zh-CN" dirty="0" err="1"/>
              <a:t>Imagine.img</a:t>
            </a:r>
            <a:r>
              <a:rPr lang="zh-CN" altLang="en-US" dirty="0"/>
              <a:t>的栅格数据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Raster=</a:t>
            </a:r>
            <a:r>
              <a:rPr lang="en-US" altLang="zh-CN" dirty="0" err="1"/>
              <a:t>Rasterio.open</a:t>
            </a:r>
            <a:r>
              <a:rPr lang="en-US" altLang="zh-CN" dirty="0"/>
              <a:t>(path)   #</a:t>
            </a:r>
            <a:r>
              <a:rPr lang="zh-CN" altLang="en-US" dirty="0"/>
              <a:t>打开图像文件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 err="1"/>
              <a:t>raster.crs</a:t>
            </a:r>
            <a:r>
              <a:rPr lang="en-US" altLang="zh-CN" dirty="0"/>
              <a:t>     #</a:t>
            </a:r>
            <a:r>
              <a:rPr lang="zh-CN" altLang="en-US" dirty="0"/>
              <a:t>图像的投影信息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 err="1"/>
              <a:t>Raster.transform</a:t>
            </a:r>
            <a:r>
              <a:rPr lang="en-US" altLang="zh-CN" dirty="0"/>
              <a:t>    #</a:t>
            </a:r>
            <a:r>
              <a:rPr lang="zh-CN" altLang="en-US" dirty="0"/>
              <a:t>图像的仿射变换参数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 err="1"/>
              <a:t>Raster.width</a:t>
            </a:r>
            <a:r>
              <a:rPr lang="en-US" altLang="zh-CN" dirty="0"/>
              <a:t>/height</a:t>
            </a:r>
          </a:p>
          <a:p>
            <a:pPr>
              <a:lnSpc>
                <a:spcPct val="110000"/>
              </a:lnSpc>
            </a:pPr>
            <a:r>
              <a:rPr lang="en-US" altLang="zh-CN" dirty="0" err="1"/>
              <a:t>Raster.count</a:t>
            </a:r>
            <a:r>
              <a:rPr lang="en-US" altLang="zh-CN" dirty="0"/>
              <a:t>      #</a:t>
            </a:r>
            <a:r>
              <a:rPr lang="zh-CN" altLang="en-US" dirty="0"/>
              <a:t>图像的波段数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 err="1"/>
              <a:t>Raster.bounds</a:t>
            </a:r>
            <a:r>
              <a:rPr lang="en-US" altLang="zh-CN" dirty="0"/>
              <a:t>     #</a:t>
            </a:r>
            <a:r>
              <a:rPr lang="zh-CN" altLang="en-US" dirty="0"/>
              <a:t>图像的边界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 err="1"/>
              <a:t>Raster.nodatavals</a:t>
            </a:r>
            <a:r>
              <a:rPr lang="en-US" altLang="zh-CN" dirty="0"/>
              <a:t>       #</a:t>
            </a:r>
            <a:r>
              <a:rPr lang="zh-CN" altLang="en-US" dirty="0"/>
              <a:t>图像的</a:t>
            </a:r>
            <a:r>
              <a:rPr lang="en-US" altLang="zh-CN" dirty="0"/>
              <a:t>no data values</a:t>
            </a:r>
          </a:p>
          <a:p>
            <a:pPr>
              <a:lnSpc>
                <a:spcPct val="11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31053548"/>
      </p:ext>
    </p:extLst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en-US" altLang="zh-CN" b="1" dirty="0" err="1">
                <a:solidFill>
                  <a:schemeClr val="bg1"/>
                </a:solidFill>
              </a:rPr>
              <a:t>Rasterio</a:t>
            </a:r>
            <a:r>
              <a:rPr lang="zh-CN" altLang="en-US" b="1" dirty="0">
                <a:solidFill>
                  <a:schemeClr val="bg1"/>
                </a:solidFill>
              </a:rPr>
              <a:t>的安装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1015" y="1019980"/>
            <a:ext cx="11208757" cy="498666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 err="1"/>
              <a:t>Rasterio</a:t>
            </a:r>
            <a:r>
              <a:rPr lang="en-US" altLang="zh-CN" dirty="0"/>
              <a:t> </a:t>
            </a:r>
            <a:r>
              <a:rPr lang="zh-CN" altLang="en-US" dirty="0"/>
              <a:t>依赖于</a:t>
            </a:r>
            <a:r>
              <a:rPr lang="en-US" altLang="zh-CN" dirty="0" err="1"/>
              <a:t>pyproj</a:t>
            </a:r>
            <a:r>
              <a:rPr lang="en-US" altLang="zh-CN" dirty="0"/>
              <a:t>, Shapely</a:t>
            </a:r>
            <a:r>
              <a:rPr lang="zh-CN" altLang="en-US" dirty="0"/>
              <a:t>，</a:t>
            </a:r>
            <a:r>
              <a:rPr lang="en-US" altLang="zh-CN" dirty="0"/>
              <a:t>GDAL</a:t>
            </a:r>
            <a:r>
              <a:rPr lang="zh-CN" altLang="en-US" dirty="0"/>
              <a:t>，</a:t>
            </a:r>
            <a:r>
              <a:rPr lang="en-US" altLang="zh-CN" dirty="0"/>
              <a:t>Fiona</a:t>
            </a:r>
            <a:r>
              <a:rPr lang="zh-CN" altLang="en-US" dirty="0"/>
              <a:t>，</a:t>
            </a:r>
            <a:r>
              <a:rPr lang="en-US" altLang="zh-CN" dirty="0" err="1"/>
              <a:t>geopandas</a:t>
            </a:r>
            <a:r>
              <a:rPr lang="zh-CN" altLang="en-US" dirty="0"/>
              <a:t>等库，如果安装了</a:t>
            </a:r>
            <a:r>
              <a:rPr lang="en-US" altLang="zh-CN" dirty="0"/>
              <a:t>GDAL</a:t>
            </a:r>
            <a:r>
              <a:rPr lang="zh-CN" altLang="en-US" dirty="0"/>
              <a:t>就可以直接使用，因为</a:t>
            </a:r>
            <a:r>
              <a:rPr lang="en-US" altLang="zh-CN" dirty="0"/>
              <a:t>GDAL</a:t>
            </a:r>
            <a:r>
              <a:rPr lang="zh-CN" altLang="en-US" dirty="0"/>
              <a:t>的使用包含了这些库，可以直接安装</a:t>
            </a:r>
            <a:r>
              <a:rPr lang="en-US" altLang="zh-CN" dirty="0" err="1"/>
              <a:t>rasterio</a:t>
            </a:r>
            <a:endParaRPr lang="en-US" altLang="zh-CN" dirty="0"/>
          </a:p>
          <a:p>
            <a:pPr>
              <a:lnSpc>
                <a:spcPct val="11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找到与自己机器对应的</a:t>
            </a:r>
            <a:r>
              <a:rPr lang="en-US" altLang="zh-CN" dirty="0"/>
              <a:t>GDAL</a:t>
            </a:r>
            <a:r>
              <a:rPr lang="zh-CN" altLang="en-US" dirty="0"/>
              <a:t>版本，下载</a:t>
            </a:r>
            <a:r>
              <a:rPr lang="en-US" altLang="zh-CN" dirty="0" err="1"/>
              <a:t>whl</a:t>
            </a:r>
            <a:r>
              <a:rPr lang="zh-CN" altLang="en-US" dirty="0"/>
              <a:t>文件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打开</a:t>
            </a:r>
            <a:r>
              <a:rPr lang="en-US" altLang="zh-CN" dirty="0"/>
              <a:t>Anaconda Prompt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将</a:t>
            </a:r>
            <a:r>
              <a:rPr lang="en-US" altLang="zh-CN" dirty="0" err="1"/>
              <a:t>whl</a:t>
            </a:r>
            <a:r>
              <a:rPr lang="zh-CN" altLang="en-US" dirty="0"/>
              <a:t>文件拷贝到对应的路径下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用</a:t>
            </a:r>
            <a:r>
              <a:rPr lang="en-US" altLang="zh-CN" dirty="0"/>
              <a:t>pip install </a:t>
            </a:r>
            <a:r>
              <a:rPr lang="zh-CN" altLang="en-US" dirty="0"/>
              <a:t>命令安装</a:t>
            </a:r>
            <a:r>
              <a:rPr lang="en-US" altLang="zh-CN" dirty="0"/>
              <a:t>GDAL</a:t>
            </a:r>
          </a:p>
          <a:p>
            <a:pPr>
              <a:lnSpc>
                <a:spcPct val="110000"/>
              </a:lnSpc>
            </a:pPr>
            <a:endParaRPr lang="en-US" altLang="zh-CN" dirty="0"/>
          </a:p>
          <a:p>
            <a:pPr>
              <a:lnSpc>
                <a:spcPct val="110000"/>
              </a:lnSpc>
            </a:pPr>
            <a:endParaRPr lang="en-US" altLang="zh-CN" dirty="0"/>
          </a:p>
        </p:txBody>
      </p:sp>
      <p:sp>
        <p:nvSpPr>
          <p:cNvPr id="7" name="矩形 6"/>
          <p:cNvSpPr/>
          <p:nvPr/>
        </p:nvSpPr>
        <p:spPr>
          <a:xfrm>
            <a:off x="838200" y="5637314"/>
            <a:ext cx="8757527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080FF"/>
                </a:solidFill>
                <a:latin typeface="LMSans8-Regular-Identity-H"/>
              </a:rPr>
              <a:t>1  </a:t>
            </a:r>
            <a:r>
              <a:rPr lang="en-US" altLang="zh-CN" dirty="0">
                <a:latin typeface="YaHei_Monaco-R"/>
              </a:rPr>
              <a:t>pip install rasterio-1.4.1-cp312-cp312-win_amd64.whl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0001788"/>
      </p:ext>
    </p:extLst>
  </p:cSld>
  <p:clrMapOvr>
    <a:masterClrMapping/>
  </p:clrMapOvr>
  <p:transition spd="slow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en-US" altLang="zh-CN" b="1" dirty="0" err="1">
                <a:solidFill>
                  <a:schemeClr val="bg1"/>
                </a:solidFill>
              </a:rPr>
              <a:t>Rasterio</a:t>
            </a:r>
            <a:r>
              <a:rPr lang="zh-CN" altLang="en-US" b="1" dirty="0">
                <a:solidFill>
                  <a:schemeClr val="bg1"/>
                </a:solidFill>
              </a:rPr>
              <a:t>的基本操作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1015" y="1019980"/>
            <a:ext cx="11516185" cy="558154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Band1=</a:t>
            </a:r>
            <a:r>
              <a:rPr lang="en-US" altLang="zh-CN" dirty="0" err="1"/>
              <a:t>raster.read</a:t>
            </a:r>
            <a:r>
              <a:rPr lang="en-US" altLang="zh-CN" dirty="0"/>
              <a:t>(1)    #</a:t>
            </a:r>
            <a:r>
              <a:rPr lang="zh-CN" altLang="en-US" dirty="0"/>
              <a:t>获取图像的某个波段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Type(band1)    #</a:t>
            </a:r>
            <a:r>
              <a:rPr lang="zh-CN" altLang="en-US" dirty="0"/>
              <a:t>查看</a:t>
            </a:r>
            <a:r>
              <a:rPr lang="en-US" altLang="zh-CN" dirty="0"/>
              <a:t>band1</a:t>
            </a:r>
            <a:r>
              <a:rPr lang="zh-CN" altLang="en-US" dirty="0"/>
              <a:t>的变量类型，数据都以</a:t>
            </a:r>
            <a:r>
              <a:rPr lang="en-US" altLang="zh-CN" dirty="0" err="1"/>
              <a:t>ndarray</a:t>
            </a:r>
            <a:r>
              <a:rPr lang="zh-CN" altLang="en-US" dirty="0"/>
              <a:t>的类型储存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Band1.dtype    #</a:t>
            </a:r>
            <a:r>
              <a:rPr lang="zh-CN" altLang="en-US" dirty="0"/>
              <a:t>查看</a:t>
            </a:r>
            <a:r>
              <a:rPr lang="en-US" altLang="zh-CN" dirty="0"/>
              <a:t>band1</a:t>
            </a:r>
            <a:r>
              <a:rPr lang="zh-CN" altLang="en-US" dirty="0"/>
              <a:t>的数据类型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#</a:t>
            </a:r>
            <a:r>
              <a:rPr lang="zh-CN" altLang="en-US" dirty="0"/>
              <a:t>查看数据的统计信息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Array=</a:t>
            </a:r>
            <a:r>
              <a:rPr lang="en-US" altLang="zh-CN" dirty="0" err="1"/>
              <a:t>raster.read</a:t>
            </a:r>
            <a:r>
              <a:rPr lang="en-US" altLang="zh-CN" dirty="0"/>
              <a:t>()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Stats=[]   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For band in array: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         </a:t>
            </a:r>
            <a:r>
              <a:rPr lang="en-US" altLang="zh-CN" dirty="0" err="1"/>
              <a:t>stats.append</a:t>
            </a:r>
            <a:r>
              <a:rPr lang="en-US" altLang="zh-CN" dirty="0"/>
              <a:t>({‘min’: </a:t>
            </a:r>
            <a:r>
              <a:rPr lang="en-US" altLang="zh-CN" dirty="0" err="1"/>
              <a:t>band.min</a:t>
            </a:r>
            <a:r>
              <a:rPr lang="en-US" altLang="zh-CN" dirty="0"/>
              <a:t>(),’mean’: </a:t>
            </a:r>
            <a:r>
              <a:rPr lang="en-US" altLang="zh-CN" dirty="0" err="1"/>
              <a:t>band.mean</a:t>
            </a:r>
            <a:r>
              <a:rPr lang="en-US" altLang="zh-CN" dirty="0"/>
              <a:t>(), ‘median’: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dirty="0"/>
              <a:t>         </a:t>
            </a:r>
            <a:r>
              <a:rPr lang="en-US" altLang="zh-CN" dirty="0" err="1"/>
              <a:t>np.median</a:t>
            </a:r>
            <a:r>
              <a:rPr lang="en-US" altLang="zh-CN" dirty="0"/>
              <a:t>(band),’max’: </a:t>
            </a:r>
            <a:r>
              <a:rPr lang="en-US" altLang="zh-CN" dirty="0" err="1"/>
              <a:t>band.max</a:t>
            </a:r>
            <a:r>
              <a:rPr lang="en-US" altLang="zh-CN" dirty="0"/>
              <a:t>()})</a:t>
            </a:r>
          </a:p>
        </p:txBody>
      </p:sp>
    </p:spTree>
    <p:extLst>
      <p:ext uri="{BB962C8B-B14F-4D97-AF65-F5344CB8AC3E}">
        <p14:creationId xmlns:p14="http://schemas.microsoft.com/office/powerpoint/2010/main" val="1366664427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en-US" altLang="zh-CN" b="1" dirty="0" err="1">
                <a:solidFill>
                  <a:schemeClr val="bg1"/>
                </a:solidFill>
              </a:rPr>
              <a:t>Rasterio</a:t>
            </a:r>
            <a:r>
              <a:rPr lang="zh-CN" altLang="en-US" b="1" dirty="0">
                <a:solidFill>
                  <a:schemeClr val="bg1"/>
                </a:solidFill>
              </a:rPr>
              <a:t>的可视化操作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1015" y="1019980"/>
            <a:ext cx="11208757" cy="558154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Import </a:t>
            </a:r>
            <a:r>
              <a:rPr lang="en-US" altLang="zh-CN" dirty="0" err="1"/>
              <a:t>rasterio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From </a:t>
            </a:r>
            <a:r>
              <a:rPr lang="en-US" altLang="zh-CN" dirty="0" err="1"/>
              <a:t>rasterio.plot</a:t>
            </a:r>
            <a:r>
              <a:rPr lang="en-US" altLang="zh-CN" dirty="0"/>
              <a:t> import show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Path=</a:t>
            </a:r>
            <a:r>
              <a:rPr lang="en-US" altLang="zh-CN" dirty="0" err="1"/>
              <a:t>r‘D</a:t>
            </a:r>
            <a:r>
              <a:rPr lang="en-US" altLang="zh-CN"/>
              <a:t>:\</a:t>
            </a:r>
            <a:r>
              <a:rPr lang="en-US" altLang="zh-CN" dirty="0"/>
              <a:t>Exercise4\Helsinki_masked_p188r018_7t20020529_z34__LV-FIN.tif’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Raster=</a:t>
            </a:r>
            <a:r>
              <a:rPr lang="en-US" altLang="zh-CN" dirty="0" err="1"/>
              <a:t>rasterio.open</a:t>
            </a:r>
            <a:r>
              <a:rPr lang="en-US" altLang="zh-CN" dirty="0"/>
              <a:t>(path)    #</a:t>
            </a:r>
            <a:r>
              <a:rPr lang="zh-CN" altLang="en-US" dirty="0"/>
              <a:t>打开图像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Show(raster)      #</a:t>
            </a:r>
            <a:r>
              <a:rPr lang="zh-CN" altLang="en-US" dirty="0"/>
              <a:t>显示图像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Show((raster,4),</a:t>
            </a:r>
            <a:r>
              <a:rPr lang="en-US" altLang="zh-CN" dirty="0" err="1"/>
              <a:t>cmap</a:t>
            </a:r>
            <a:r>
              <a:rPr lang="en-US" altLang="zh-CN" dirty="0"/>
              <a:t>=‘Reds’)   #</a:t>
            </a:r>
            <a:r>
              <a:rPr lang="zh-CN" altLang="en-US" dirty="0"/>
              <a:t>用不同渲染方式显示不同波段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Show((raster,3),</a:t>
            </a:r>
            <a:r>
              <a:rPr lang="en-US" altLang="zh-CN" dirty="0" err="1"/>
              <a:t>cmap</a:t>
            </a:r>
            <a:r>
              <a:rPr lang="en-US" altLang="zh-CN" dirty="0"/>
              <a:t>=‘Greens’)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Show((raster,1),</a:t>
            </a:r>
            <a:r>
              <a:rPr lang="en-US" altLang="zh-CN" dirty="0" err="1"/>
              <a:t>cmap</a:t>
            </a:r>
            <a:r>
              <a:rPr lang="en-US" altLang="zh-CN" dirty="0"/>
              <a:t>=‘Blues’)</a:t>
            </a:r>
          </a:p>
          <a:p>
            <a:pPr>
              <a:lnSpc>
                <a:spcPct val="11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76141370"/>
      </p:ext>
    </p:extLst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en-US" altLang="zh-CN" b="1" dirty="0" err="1">
                <a:solidFill>
                  <a:schemeClr val="bg1"/>
                </a:solidFill>
              </a:rPr>
              <a:t>Rasterio</a:t>
            </a:r>
            <a:r>
              <a:rPr lang="zh-CN" altLang="en-US" b="1" dirty="0">
                <a:solidFill>
                  <a:schemeClr val="bg1"/>
                </a:solidFill>
              </a:rPr>
              <a:t>计算</a:t>
            </a:r>
            <a:r>
              <a:rPr lang="en-US" altLang="zh-CN" b="1" dirty="0">
                <a:solidFill>
                  <a:schemeClr val="bg1"/>
                </a:solidFill>
              </a:rPr>
              <a:t>NDVI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1015" y="1019980"/>
            <a:ext cx="11208757" cy="583802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zh-CN" dirty="0"/>
              <a:t>Red=</a:t>
            </a:r>
            <a:r>
              <a:rPr lang="en-US" altLang="zh-CN" dirty="0" err="1"/>
              <a:t>raster.read</a:t>
            </a:r>
            <a:r>
              <a:rPr lang="en-US" altLang="zh-CN" dirty="0"/>
              <a:t>(4)</a:t>
            </a:r>
          </a:p>
          <a:p>
            <a:pPr>
              <a:lnSpc>
                <a:spcPct val="110000"/>
              </a:lnSpc>
            </a:pPr>
            <a:r>
              <a:rPr lang="en-US" altLang="zh-CN" dirty="0" err="1"/>
              <a:t>Nir</a:t>
            </a:r>
            <a:r>
              <a:rPr lang="en-US" altLang="zh-CN" dirty="0"/>
              <a:t>=</a:t>
            </a:r>
            <a:r>
              <a:rPr lang="en-US" altLang="zh-CN" dirty="0" err="1"/>
              <a:t>raster.read</a:t>
            </a:r>
            <a:r>
              <a:rPr lang="en-US" altLang="zh-CN" dirty="0"/>
              <a:t>(5)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Show(</a:t>
            </a:r>
            <a:r>
              <a:rPr lang="en-US" altLang="zh-CN" dirty="0" err="1"/>
              <a:t>nir</a:t>
            </a:r>
            <a:r>
              <a:rPr lang="en-US" altLang="zh-CN" dirty="0"/>
              <a:t>)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Red=</a:t>
            </a:r>
            <a:r>
              <a:rPr lang="en-US" altLang="zh-CN" dirty="0" err="1"/>
              <a:t>red.astype</a:t>
            </a:r>
            <a:r>
              <a:rPr lang="en-US" altLang="zh-CN" dirty="0"/>
              <a:t>(float)   #</a:t>
            </a:r>
            <a:r>
              <a:rPr lang="zh-CN" altLang="en-US" dirty="0"/>
              <a:t>将储存的数据由</a:t>
            </a:r>
            <a:r>
              <a:rPr lang="en-US" altLang="zh-CN" dirty="0"/>
              <a:t>uint8</a:t>
            </a:r>
            <a:r>
              <a:rPr lang="zh-CN" altLang="en-US" dirty="0"/>
              <a:t>转为</a:t>
            </a:r>
            <a:r>
              <a:rPr lang="en-US" altLang="zh-CN" dirty="0"/>
              <a:t>float</a:t>
            </a:r>
          </a:p>
          <a:p>
            <a:pPr>
              <a:lnSpc>
                <a:spcPct val="110000"/>
              </a:lnSpc>
            </a:pPr>
            <a:r>
              <a:rPr lang="en-US" altLang="zh-CN" dirty="0" err="1"/>
              <a:t>Nir</a:t>
            </a:r>
            <a:r>
              <a:rPr lang="en-US" altLang="zh-CN" dirty="0"/>
              <a:t>=</a:t>
            </a:r>
            <a:r>
              <a:rPr lang="en-US" altLang="zh-CN" dirty="0" err="1"/>
              <a:t>nir.astype</a:t>
            </a:r>
            <a:r>
              <a:rPr lang="en-US" altLang="zh-CN" dirty="0"/>
              <a:t>(float)   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#</a:t>
            </a:r>
            <a:r>
              <a:rPr lang="zh-CN" altLang="en-US" dirty="0"/>
              <a:t>计算</a:t>
            </a:r>
            <a:r>
              <a:rPr lang="en-US" altLang="zh-CN" dirty="0"/>
              <a:t>NDVI</a:t>
            </a:r>
          </a:p>
          <a:p>
            <a:pPr>
              <a:lnSpc>
                <a:spcPct val="110000"/>
              </a:lnSpc>
            </a:pPr>
            <a:r>
              <a:rPr lang="en-US" altLang="zh-CN" dirty="0" err="1"/>
              <a:t>Np.seterr</a:t>
            </a:r>
            <a:r>
              <a:rPr lang="en-US" altLang="zh-CN" dirty="0"/>
              <a:t>(divide=‘ignore’, invalid=‘ignore’) #</a:t>
            </a:r>
            <a:r>
              <a:rPr lang="zh-CN" altLang="en-US" dirty="0"/>
              <a:t>在除零或无效操作时，忽略该错误，继续执行，将结果视为特殊值（</a:t>
            </a:r>
            <a:r>
              <a:rPr lang="en-US" altLang="zh-CN" dirty="0" err="1"/>
              <a:t>inf</a:t>
            </a:r>
            <a:r>
              <a:rPr lang="zh-CN" altLang="en-US" dirty="0"/>
              <a:t>或</a:t>
            </a:r>
            <a:r>
              <a:rPr lang="en-US" altLang="zh-CN" dirty="0"/>
              <a:t>nan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 err="1"/>
              <a:t>Ndvi</a:t>
            </a:r>
            <a:r>
              <a:rPr lang="en-US" altLang="zh-CN" dirty="0"/>
              <a:t>=</a:t>
            </a:r>
            <a:r>
              <a:rPr lang="en-US" altLang="zh-CN" dirty="0" err="1"/>
              <a:t>np.empty</a:t>
            </a:r>
            <a:r>
              <a:rPr lang="en-US" altLang="zh-CN" dirty="0"/>
              <a:t>(</a:t>
            </a:r>
            <a:r>
              <a:rPr lang="en-US" altLang="zh-CN" dirty="0" err="1"/>
              <a:t>raster.shape</a:t>
            </a:r>
            <a:r>
              <a:rPr lang="en-US" altLang="zh-CN" dirty="0"/>
              <a:t>, </a:t>
            </a:r>
            <a:r>
              <a:rPr lang="en-US" altLang="zh-CN" dirty="0" err="1"/>
              <a:t>dtype</a:t>
            </a:r>
            <a:r>
              <a:rPr lang="en-US" altLang="zh-CN" dirty="0"/>
              <a:t>=rasterio.float32)   #</a:t>
            </a:r>
            <a:r>
              <a:rPr lang="zh-CN" altLang="en-US" dirty="0"/>
              <a:t>初始化</a:t>
            </a:r>
            <a:r>
              <a:rPr lang="en-US" altLang="zh-CN" dirty="0"/>
              <a:t>0</a:t>
            </a:r>
            <a:r>
              <a:rPr lang="zh-CN" altLang="en-US" dirty="0"/>
              <a:t>矩阵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Check=</a:t>
            </a:r>
            <a:r>
              <a:rPr lang="en-US" altLang="zh-CN" dirty="0" err="1"/>
              <a:t>np.logical_or</a:t>
            </a:r>
            <a:r>
              <a:rPr lang="en-US" altLang="zh-CN" dirty="0"/>
              <a:t>(red&gt;0,nir&gt;0)</a:t>
            </a:r>
          </a:p>
          <a:p>
            <a:pPr>
              <a:lnSpc>
                <a:spcPct val="110000"/>
              </a:lnSpc>
            </a:pPr>
            <a:r>
              <a:rPr lang="en-US" altLang="zh-CN" dirty="0" err="1"/>
              <a:t>Ndvi</a:t>
            </a:r>
            <a:r>
              <a:rPr lang="en-US" altLang="zh-CN" dirty="0"/>
              <a:t>=</a:t>
            </a:r>
            <a:r>
              <a:rPr lang="en-US" altLang="zh-CN" dirty="0" err="1"/>
              <a:t>np.where</a:t>
            </a:r>
            <a:r>
              <a:rPr lang="en-US" altLang="zh-CN" dirty="0"/>
              <a:t>(check, (</a:t>
            </a:r>
            <a:r>
              <a:rPr lang="en-US" altLang="zh-CN" dirty="0" err="1"/>
              <a:t>nir</a:t>
            </a:r>
            <a:r>
              <a:rPr lang="en-US" altLang="zh-CN" dirty="0"/>
              <a:t>-red)/(</a:t>
            </a:r>
            <a:r>
              <a:rPr lang="en-US" altLang="zh-CN" dirty="0" err="1"/>
              <a:t>nir+red</a:t>
            </a:r>
            <a:r>
              <a:rPr lang="en-US" altLang="zh-CN" dirty="0"/>
              <a:t>), -999)</a:t>
            </a:r>
          </a:p>
          <a:p>
            <a:pPr>
              <a:lnSpc>
                <a:spcPct val="110000"/>
              </a:lnSpc>
            </a:pPr>
            <a:r>
              <a:rPr lang="en-US" altLang="zh-CN" dirty="0"/>
              <a:t>Show(</a:t>
            </a:r>
            <a:r>
              <a:rPr lang="en-US" altLang="zh-CN" dirty="0" err="1"/>
              <a:t>ndvi</a:t>
            </a:r>
            <a:r>
              <a:rPr lang="en-US" altLang="zh-CN" dirty="0"/>
              <a:t>, </a:t>
            </a:r>
            <a:r>
              <a:rPr lang="en-US" altLang="zh-CN" dirty="0" err="1"/>
              <a:t>cmap</a:t>
            </a:r>
            <a:r>
              <a:rPr lang="en-US" altLang="zh-CN" dirty="0"/>
              <a:t>=‘summer’)</a:t>
            </a:r>
          </a:p>
        </p:txBody>
      </p:sp>
    </p:spTree>
    <p:extLst>
      <p:ext uri="{BB962C8B-B14F-4D97-AF65-F5344CB8AC3E}">
        <p14:creationId xmlns:p14="http://schemas.microsoft.com/office/powerpoint/2010/main" val="2664198250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文本框 54"/>
          <p:cNvSpPr txBox="1"/>
          <p:nvPr/>
        </p:nvSpPr>
        <p:spPr>
          <a:xfrm>
            <a:off x="835305" y="-48552"/>
            <a:ext cx="2031325" cy="886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内容</a:t>
            </a:r>
          </a:p>
        </p:txBody>
      </p:sp>
      <p:sp>
        <p:nvSpPr>
          <p:cNvPr id="35" name="ValueShape1"/>
          <p:cNvSpPr/>
          <p:nvPr/>
        </p:nvSpPr>
        <p:spPr bwMode="auto">
          <a:xfrm>
            <a:off x="4992816" y="1410093"/>
            <a:ext cx="45719" cy="474663"/>
          </a:xfrm>
          <a:prstGeom prst="rect">
            <a:avLst/>
          </a:prstGeom>
          <a:noFill/>
          <a:ln>
            <a:noFill/>
          </a:ln>
        </p:spPr>
        <p:txBody>
          <a:bodyPr vert="horz" wrap="none" lIns="91440" tIns="45720" rIns="91440" bIns="45720" anchor="ctr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mpact" panose="020B0806030902050204" pitchFamily="34" charset="0"/>
              <a:ea typeface="等线"/>
              <a:cs typeface="+mn-cs"/>
            </a:endParaRPr>
          </a:p>
        </p:txBody>
      </p:sp>
      <p:sp>
        <p:nvSpPr>
          <p:cNvPr id="36" name="IconShape"/>
          <p:cNvSpPr/>
          <p:nvPr/>
        </p:nvSpPr>
        <p:spPr bwMode="auto">
          <a:xfrm>
            <a:off x="7286903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47" name="IconShape"/>
          <p:cNvSpPr/>
          <p:nvPr/>
        </p:nvSpPr>
        <p:spPr bwMode="auto">
          <a:xfrm>
            <a:off x="7282160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48" name="IconShape"/>
          <p:cNvSpPr/>
          <p:nvPr/>
        </p:nvSpPr>
        <p:spPr bwMode="auto">
          <a:xfrm>
            <a:off x="7286903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56" name="IconShape"/>
          <p:cNvSpPr/>
          <p:nvPr/>
        </p:nvSpPr>
        <p:spPr bwMode="auto">
          <a:xfrm>
            <a:off x="7282160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0" name="IconShape"/>
          <p:cNvSpPr/>
          <p:nvPr/>
        </p:nvSpPr>
        <p:spPr bwMode="auto">
          <a:xfrm>
            <a:off x="7276526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1" name="IconShape"/>
          <p:cNvSpPr/>
          <p:nvPr/>
        </p:nvSpPr>
        <p:spPr bwMode="auto">
          <a:xfrm>
            <a:off x="7271783" y="2600335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2" name="IconShape"/>
          <p:cNvSpPr/>
          <p:nvPr/>
        </p:nvSpPr>
        <p:spPr bwMode="auto">
          <a:xfrm>
            <a:off x="7326292" y="2591967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3" name="IconShape"/>
          <p:cNvSpPr/>
          <p:nvPr/>
        </p:nvSpPr>
        <p:spPr bwMode="auto">
          <a:xfrm>
            <a:off x="7306597" y="2591967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4" name="IconShape"/>
          <p:cNvSpPr/>
          <p:nvPr/>
        </p:nvSpPr>
        <p:spPr bwMode="auto">
          <a:xfrm>
            <a:off x="7306597" y="2618186"/>
            <a:ext cx="534519" cy="369547"/>
          </a:xfrm>
          <a:custGeom>
            <a:avLst/>
            <a:gdLst>
              <a:gd name="connsiteX0" fmla="*/ 159472 w 338138"/>
              <a:gd name="connsiteY0" fmla="*/ 265112 h 315913"/>
              <a:gd name="connsiteX1" fmla="*/ 155575 w 338138"/>
              <a:gd name="connsiteY1" fmla="*/ 269194 h 315913"/>
              <a:gd name="connsiteX2" fmla="*/ 155575 w 338138"/>
              <a:gd name="connsiteY2" fmla="*/ 289605 h 315913"/>
              <a:gd name="connsiteX3" fmla="*/ 158173 w 338138"/>
              <a:gd name="connsiteY3" fmla="*/ 293687 h 315913"/>
              <a:gd name="connsiteX4" fmla="*/ 181553 w 338138"/>
              <a:gd name="connsiteY4" fmla="*/ 293687 h 315913"/>
              <a:gd name="connsiteX5" fmla="*/ 184150 w 338138"/>
              <a:gd name="connsiteY5" fmla="*/ 290966 h 315913"/>
              <a:gd name="connsiteX6" fmla="*/ 184150 w 338138"/>
              <a:gd name="connsiteY6" fmla="*/ 269194 h 315913"/>
              <a:gd name="connsiteX7" fmla="*/ 181553 w 338138"/>
              <a:gd name="connsiteY7" fmla="*/ 265112 h 315913"/>
              <a:gd name="connsiteX8" fmla="*/ 159472 w 338138"/>
              <a:gd name="connsiteY8" fmla="*/ 265112 h 315913"/>
              <a:gd name="connsiteX9" fmla="*/ 169069 w 338138"/>
              <a:gd name="connsiteY9" fmla="*/ 222250 h 315913"/>
              <a:gd name="connsiteX10" fmla="*/ 155575 w 338138"/>
              <a:gd name="connsiteY10" fmla="*/ 235744 h 315913"/>
              <a:gd name="connsiteX11" fmla="*/ 169069 w 338138"/>
              <a:gd name="connsiteY11" fmla="*/ 249238 h 315913"/>
              <a:gd name="connsiteX12" fmla="*/ 182563 w 338138"/>
              <a:gd name="connsiteY12" fmla="*/ 235744 h 315913"/>
              <a:gd name="connsiteX13" fmla="*/ 169069 w 338138"/>
              <a:gd name="connsiteY13" fmla="*/ 222250 h 315913"/>
              <a:gd name="connsiteX14" fmla="*/ 145852 w 338138"/>
              <a:gd name="connsiteY14" fmla="*/ 55033 h 315913"/>
              <a:gd name="connsiteX15" fmla="*/ 157704 w 338138"/>
              <a:gd name="connsiteY15" fmla="*/ 56356 h 315913"/>
              <a:gd name="connsiteX16" fmla="*/ 156388 w 338138"/>
              <a:gd name="connsiteY16" fmla="*/ 68262 h 315913"/>
              <a:gd name="connsiteX17" fmla="*/ 57619 w 338138"/>
              <a:gd name="connsiteY17" fmla="*/ 137054 h 315913"/>
              <a:gd name="connsiteX18" fmla="*/ 53669 w 338138"/>
              <a:gd name="connsiteY18" fmla="*/ 139700 h 315913"/>
              <a:gd name="connsiteX19" fmla="*/ 47084 w 338138"/>
              <a:gd name="connsiteY19" fmla="*/ 135731 h 315913"/>
              <a:gd name="connsiteX20" fmla="*/ 48401 w 338138"/>
              <a:gd name="connsiteY20" fmla="*/ 123825 h 315913"/>
              <a:gd name="connsiteX21" fmla="*/ 145852 w 338138"/>
              <a:gd name="connsiteY21" fmla="*/ 55033 h 315913"/>
              <a:gd name="connsiteX22" fmla="*/ 88577 w 338138"/>
              <a:gd name="connsiteY22" fmla="*/ 47055 h 315913"/>
              <a:gd name="connsiteX23" fmla="*/ 100532 w 338138"/>
              <a:gd name="connsiteY23" fmla="*/ 48358 h 315913"/>
              <a:gd name="connsiteX24" fmla="*/ 99203 w 338138"/>
              <a:gd name="connsiteY24" fmla="*/ 60081 h 315913"/>
              <a:gd name="connsiteX25" fmla="*/ 52712 w 338138"/>
              <a:gd name="connsiteY25" fmla="*/ 92645 h 315913"/>
              <a:gd name="connsiteX26" fmla="*/ 47399 w 338138"/>
              <a:gd name="connsiteY26" fmla="*/ 95250 h 315913"/>
              <a:gd name="connsiteX27" fmla="*/ 40757 w 338138"/>
              <a:gd name="connsiteY27" fmla="*/ 91342 h 315913"/>
              <a:gd name="connsiteX28" fmla="*/ 43414 w 338138"/>
              <a:gd name="connsiteY28" fmla="*/ 79619 h 315913"/>
              <a:gd name="connsiteX29" fmla="*/ 88577 w 338138"/>
              <a:gd name="connsiteY29" fmla="*/ 47055 h 315913"/>
              <a:gd name="connsiteX30" fmla="*/ 35086 w 338138"/>
              <a:gd name="connsiteY30" fmla="*/ 22225 h 315913"/>
              <a:gd name="connsiteX31" fmla="*/ 20637 w 338138"/>
              <a:gd name="connsiteY31" fmla="*/ 35344 h 315913"/>
              <a:gd name="connsiteX32" fmla="*/ 20637 w 338138"/>
              <a:gd name="connsiteY32" fmla="*/ 196707 h 315913"/>
              <a:gd name="connsiteX33" fmla="*/ 35086 w 338138"/>
              <a:gd name="connsiteY33" fmla="*/ 211138 h 315913"/>
              <a:gd name="connsiteX34" fmla="*/ 303051 w 338138"/>
              <a:gd name="connsiteY34" fmla="*/ 211138 h 315913"/>
              <a:gd name="connsiteX35" fmla="*/ 317500 w 338138"/>
              <a:gd name="connsiteY35" fmla="*/ 196707 h 315913"/>
              <a:gd name="connsiteX36" fmla="*/ 317500 w 338138"/>
              <a:gd name="connsiteY36" fmla="*/ 35344 h 315913"/>
              <a:gd name="connsiteX37" fmla="*/ 303051 w 338138"/>
              <a:gd name="connsiteY37" fmla="*/ 22225 h 315913"/>
              <a:gd name="connsiteX38" fmla="*/ 35086 w 338138"/>
              <a:gd name="connsiteY38" fmla="*/ 22225 h 315913"/>
              <a:gd name="connsiteX39" fmla="*/ 14529 w 338138"/>
              <a:gd name="connsiteY39" fmla="*/ 0 h 315913"/>
              <a:gd name="connsiteX40" fmla="*/ 323609 w 338138"/>
              <a:gd name="connsiteY40" fmla="*/ 0 h 315913"/>
              <a:gd name="connsiteX41" fmla="*/ 338138 w 338138"/>
              <a:gd name="connsiteY41" fmla="*/ 13163 h 315913"/>
              <a:gd name="connsiteX42" fmla="*/ 338138 w 338138"/>
              <a:gd name="connsiteY42" fmla="*/ 251414 h 315913"/>
              <a:gd name="connsiteX43" fmla="*/ 323609 w 338138"/>
              <a:gd name="connsiteY43" fmla="*/ 265893 h 315913"/>
              <a:gd name="connsiteX44" fmla="*/ 210016 w 338138"/>
              <a:gd name="connsiteY44" fmla="*/ 265893 h 315913"/>
              <a:gd name="connsiteX45" fmla="*/ 207374 w 338138"/>
              <a:gd name="connsiteY45" fmla="*/ 268526 h 315913"/>
              <a:gd name="connsiteX46" fmla="*/ 207374 w 338138"/>
              <a:gd name="connsiteY46" fmla="*/ 290903 h 315913"/>
              <a:gd name="connsiteX47" fmla="*/ 208695 w 338138"/>
              <a:gd name="connsiteY47" fmla="*/ 293536 h 315913"/>
              <a:gd name="connsiteX48" fmla="*/ 239074 w 338138"/>
              <a:gd name="connsiteY48" fmla="*/ 293536 h 315913"/>
              <a:gd name="connsiteX49" fmla="*/ 250962 w 338138"/>
              <a:gd name="connsiteY49" fmla="*/ 305383 h 315913"/>
              <a:gd name="connsiteX50" fmla="*/ 239074 w 338138"/>
              <a:gd name="connsiteY50" fmla="*/ 315913 h 315913"/>
              <a:gd name="connsiteX51" fmla="*/ 99064 w 338138"/>
              <a:gd name="connsiteY51" fmla="*/ 315913 h 315913"/>
              <a:gd name="connsiteX52" fmla="*/ 87176 w 338138"/>
              <a:gd name="connsiteY52" fmla="*/ 305383 h 315913"/>
              <a:gd name="connsiteX53" fmla="*/ 99064 w 338138"/>
              <a:gd name="connsiteY53" fmla="*/ 293536 h 315913"/>
              <a:gd name="connsiteX54" fmla="*/ 129444 w 338138"/>
              <a:gd name="connsiteY54" fmla="*/ 293536 h 315913"/>
              <a:gd name="connsiteX55" fmla="*/ 130765 w 338138"/>
              <a:gd name="connsiteY55" fmla="*/ 289587 h 315913"/>
              <a:gd name="connsiteX56" fmla="*/ 130765 w 338138"/>
              <a:gd name="connsiteY56" fmla="*/ 268526 h 315913"/>
              <a:gd name="connsiteX57" fmla="*/ 126802 w 338138"/>
              <a:gd name="connsiteY57" fmla="*/ 265893 h 315913"/>
              <a:gd name="connsiteX58" fmla="*/ 14529 w 338138"/>
              <a:gd name="connsiteY58" fmla="*/ 265893 h 315913"/>
              <a:gd name="connsiteX59" fmla="*/ 0 w 338138"/>
              <a:gd name="connsiteY59" fmla="*/ 251414 h 315913"/>
              <a:gd name="connsiteX60" fmla="*/ 0 w 338138"/>
              <a:gd name="connsiteY60" fmla="*/ 13163 h 315913"/>
              <a:gd name="connsiteX61" fmla="*/ 14529 w 338138"/>
              <a:gd name="connsiteY61" fmla="*/ 0 h 315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138" h="315913">
                <a:moveTo>
                  <a:pt x="159472" y="265112"/>
                </a:moveTo>
                <a:cubicBezTo>
                  <a:pt x="159472" y="265112"/>
                  <a:pt x="155575" y="265112"/>
                  <a:pt x="155575" y="269194"/>
                </a:cubicBezTo>
                <a:cubicBezTo>
                  <a:pt x="155575" y="269194"/>
                  <a:pt x="155575" y="269194"/>
                  <a:pt x="155575" y="289605"/>
                </a:cubicBezTo>
                <a:cubicBezTo>
                  <a:pt x="155575" y="292326"/>
                  <a:pt x="155575" y="293687"/>
                  <a:pt x="158173" y="293687"/>
                </a:cubicBezTo>
                <a:cubicBezTo>
                  <a:pt x="158173" y="293687"/>
                  <a:pt x="158173" y="293687"/>
                  <a:pt x="181553" y="293687"/>
                </a:cubicBezTo>
                <a:cubicBezTo>
                  <a:pt x="182851" y="293687"/>
                  <a:pt x="184150" y="292326"/>
                  <a:pt x="184150" y="290966"/>
                </a:cubicBezTo>
                <a:cubicBezTo>
                  <a:pt x="184150" y="290966"/>
                  <a:pt x="184150" y="290966"/>
                  <a:pt x="184150" y="269194"/>
                </a:cubicBezTo>
                <a:cubicBezTo>
                  <a:pt x="184150" y="265112"/>
                  <a:pt x="181553" y="265112"/>
                  <a:pt x="181553" y="265112"/>
                </a:cubicBezTo>
                <a:cubicBezTo>
                  <a:pt x="181553" y="265112"/>
                  <a:pt x="181553" y="265112"/>
                  <a:pt x="159472" y="265112"/>
                </a:cubicBezTo>
                <a:close/>
                <a:moveTo>
                  <a:pt x="169069" y="222250"/>
                </a:moveTo>
                <a:cubicBezTo>
                  <a:pt x="161616" y="222250"/>
                  <a:pt x="155575" y="228291"/>
                  <a:pt x="155575" y="235744"/>
                </a:cubicBezTo>
                <a:cubicBezTo>
                  <a:pt x="155575" y="243197"/>
                  <a:pt x="161616" y="249238"/>
                  <a:pt x="169069" y="249238"/>
                </a:cubicBezTo>
                <a:cubicBezTo>
                  <a:pt x="176522" y="249238"/>
                  <a:pt x="182563" y="243197"/>
                  <a:pt x="182563" y="235744"/>
                </a:cubicBezTo>
                <a:cubicBezTo>
                  <a:pt x="182563" y="228291"/>
                  <a:pt x="176522" y="222250"/>
                  <a:pt x="169069" y="222250"/>
                </a:cubicBezTo>
                <a:close/>
                <a:moveTo>
                  <a:pt x="145852" y="55033"/>
                </a:moveTo>
                <a:cubicBezTo>
                  <a:pt x="149803" y="52387"/>
                  <a:pt x="155071" y="52387"/>
                  <a:pt x="157704" y="56356"/>
                </a:cubicBezTo>
                <a:cubicBezTo>
                  <a:pt x="160338" y="60325"/>
                  <a:pt x="159021" y="65616"/>
                  <a:pt x="156388" y="68262"/>
                </a:cubicBezTo>
                <a:cubicBezTo>
                  <a:pt x="57619" y="137054"/>
                  <a:pt x="57619" y="137054"/>
                  <a:pt x="57619" y="137054"/>
                </a:cubicBezTo>
                <a:cubicBezTo>
                  <a:pt x="56302" y="138377"/>
                  <a:pt x="54986" y="139700"/>
                  <a:pt x="53669" y="139700"/>
                </a:cubicBezTo>
                <a:cubicBezTo>
                  <a:pt x="51035" y="139700"/>
                  <a:pt x="48401" y="138377"/>
                  <a:pt x="47084" y="135731"/>
                </a:cubicBezTo>
                <a:cubicBezTo>
                  <a:pt x="44450" y="131762"/>
                  <a:pt x="44450" y="126471"/>
                  <a:pt x="48401" y="123825"/>
                </a:cubicBezTo>
                <a:cubicBezTo>
                  <a:pt x="145852" y="55033"/>
                  <a:pt x="145852" y="55033"/>
                  <a:pt x="145852" y="55033"/>
                </a:cubicBezTo>
                <a:close/>
                <a:moveTo>
                  <a:pt x="88577" y="47055"/>
                </a:moveTo>
                <a:cubicBezTo>
                  <a:pt x="92562" y="44450"/>
                  <a:pt x="97875" y="44450"/>
                  <a:pt x="100532" y="48358"/>
                </a:cubicBezTo>
                <a:cubicBezTo>
                  <a:pt x="103188" y="52265"/>
                  <a:pt x="101860" y="57476"/>
                  <a:pt x="99203" y="60081"/>
                </a:cubicBezTo>
                <a:cubicBezTo>
                  <a:pt x="52712" y="92645"/>
                  <a:pt x="52712" y="92645"/>
                  <a:pt x="52712" y="92645"/>
                </a:cubicBezTo>
                <a:cubicBezTo>
                  <a:pt x="51384" y="93947"/>
                  <a:pt x="50055" y="95250"/>
                  <a:pt x="47399" y="95250"/>
                </a:cubicBezTo>
                <a:cubicBezTo>
                  <a:pt x="44742" y="95250"/>
                  <a:pt x="42085" y="93947"/>
                  <a:pt x="40757" y="91342"/>
                </a:cubicBezTo>
                <a:cubicBezTo>
                  <a:pt x="38100" y="87435"/>
                  <a:pt x="39429" y="82224"/>
                  <a:pt x="43414" y="79619"/>
                </a:cubicBezTo>
                <a:cubicBezTo>
                  <a:pt x="88577" y="47055"/>
                  <a:pt x="88577" y="47055"/>
                  <a:pt x="88577" y="47055"/>
                </a:cubicBezTo>
                <a:close/>
                <a:moveTo>
                  <a:pt x="35086" y="22225"/>
                </a:moveTo>
                <a:cubicBezTo>
                  <a:pt x="27205" y="22225"/>
                  <a:pt x="20637" y="28785"/>
                  <a:pt x="20637" y="35344"/>
                </a:cubicBezTo>
                <a:cubicBezTo>
                  <a:pt x="20637" y="35344"/>
                  <a:pt x="20637" y="35344"/>
                  <a:pt x="20637" y="196707"/>
                </a:cubicBezTo>
                <a:cubicBezTo>
                  <a:pt x="20637" y="204579"/>
                  <a:pt x="27205" y="211138"/>
                  <a:pt x="35086" y="211138"/>
                </a:cubicBezTo>
                <a:cubicBezTo>
                  <a:pt x="35086" y="211138"/>
                  <a:pt x="35086" y="211138"/>
                  <a:pt x="303051" y="211138"/>
                </a:cubicBezTo>
                <a:cubicBezTo>
                  <a:pt x="310932" y="211138"/>
                  <a:pt x="317500" y="204579"/>
                  <a:pt x="317500" y="196707"/>
                </a:cubicBezTo>
                <a:lnTo>
                  <a:pt x="317500" y="35344"/>
                </a:lnTo>
                <a:cubicBezTo>
                  <a:pt x="317500" y="28785"/>
                  <a:pt x="310932" y="22225"/>
                  <a:pt x="303051" y="22225"/>
                </a:cubicBezTo>
                <a:cubicBezTo>
                  <a:pt x="303051" y="22225"/>
                  <a:pt x="303051" y="22225"/>
                  <a:pt x="35086" y="22225"/>
                </a:cubicBezTo>
                <a:close/>
                <a:moveTo>
                  <a:pt x="14529" y="0"/>
                </a:moveTo>
                <a:cubicBezTo>
                  <a:pt x="14529" y="0"/>
                  <a:pt x="14529" y="0"/>
                  <a:pt x="323609" y="0"/>
                </a:cubicBezTo>
                <a:cubicBezTo>
                  <a:pt x="331534" y="0"/>
                  <a:pt x="338138" y="5265"/>
                  <a:pt x="338138" y="13163"/>
                </a:cubicBezTo>
                <a:cubicBezTo>
                  <a:pt x="338138" y="13163"/>
                  <a:pt x="338138" y="13163"/>
                  <a:pt x="338138" y="251414"/>
                </a:cubicBezTo>
                <a:cubicBezTo>
                  <a:pt x="338138" y="259312"/>
                  <a:pt x="331534" y="265893"/>
                  <a:pt x="323609" y="265893"/>
                </a:cubicBezTo>
                <a:cubicBezTo>
                  <a:pt x="323609" y="265893"/>
                  <a:pt x="323609" y="265893"/>
                  <a:pt x="210016" y="265893"/>
                </a:cubicBezTo>
                <a:cubicBezTo>
                  <a:pt x="210016" y="265893"/>
                  <a:pt x="207374" y="265893"/>
                  <a:pt x="207374" y="268526"/>
                </a:cubicBezTo>
                <a:cubicBezTo>
                  <a:pt x="207374" y="268526"/>
                  <a:pt x="207374" y="268526"/>
                  <a:pt x="207374" y="290903"/>
                </a:cubicBezTo>
                <a:cubicBezTo>
                  <a:pt x="207374" y="292220"/>
                  <a:pt x="207374" y="293536"/>
                  <a:pt x="208695" y="293536"/>
                </a:cubicBezTo>
                <a:cubicBezTo>
                  <a:pt x="208695" y="293536"/>
                  <a:pt x="208695" y="293536"/>
                  <a:pt x="239074" y="293536"/>
                </a:cubicBezTo>
                <a:cubicBezTo>
                  <a:pt x="245679" y="293536"/>
                  <a:pt x="250962" y="298801"/>
                  <a:pt x="250962" y="305383"/>
                </a:cubicBezTo>
                <a:cubicBezTo>
                  <a:pt x="250962" y="310648"/>
                  <a:pt x="245679" y="315913"/>
                  <a:pt x="239074" y="315913"/>
                </a:cubicBezTo>
                <a:cubicBezTo>
                  <a:pt x="239074" y="315913"/>
                  <a:pt x="239074" y="315913"/>
                  <a:pt x="99064" y="315913"/>
                </a:cubicBezTo>
                <a:cubicBezTo>
                  <a:pt x="92460" y="315913"/>
                  <a:pt x="87176" y="310648"/>
                  <a:pt x="87176" y="305383"/>
                </a:cubicBezTo>
                <a:cubicBezTo>
                  <a:pt x="87176" y="298801"/>
                  <a:pt x="92460" y="293536"/>
                  <a:pt x="99064" y="293536"/>
                </a:cubicBezTo>
                <a:cubicBezTo>
                  <a:pt x="99064" y="293536"/>
                  <a:pt x="99064" y="293536"/>
                  <a:pt x="129444" y="293536"/>
                </a:cubicBezTo>
                <a:cubicBezTo>
                  <a:pt x="130765" y="293536"/>
                  <a:pt x="130765" y="292220"/>
                  <a:pt x="130765" y="289587"/>
                </a:cubicBezTo>
                <a:cubicBezTo>
                  <a:pt x="130765" y="289587"/>
                  <a:pt x="130765" y="289587"/>
                  <a:pt x="130765" y="268526"/>
                </a:cubicBezTo>
                <a:cubicBezTo>
                  <a:pt x="130765" y="264577"/>
                  <a:pt x="126802" y="265893"/>
                  <a:pt x="126802" y="265893"/>
                </a:cubicBezTo>
                <a:cubicBezTo>
                  <a:pt x="126802" y="265893"/>
                  <a:pt x="126802" y="265893"/>
                  <a:pt x="14529" y="265893"/>
                </a:cubicBezTo>
                <a:cubicBezTo>
                  <a:pt x="6604" y="265893"/>
                  <a:pt x="0" y="259312"/>
                  <a:pt x="0" y="251414"/>
                </a:cubicBezTo>
                <a:cubicBezTo>
                  <a:pt x="0" y="251414"/>
                  <a:pt x="0" y="251414"/>
                  <a:pt x="0" y="13163"/>
                </a:cubicBezTo>
                <a:cubicBezTo>
                  <a:pt x="0" y="5265"/>
                  <a:pt x="6604" y="0"/>
                  <a:pt x="14529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5826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5" name="ValueShape"/>
          <p:cNvSpPr/>
          <p:nvPr/>
        </p:nvSpPr>
        <p:spPr>
          <a:xfrm>
            <a:off x="5055778" y="460556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6" name="ValueShape"/>
          <p:cNvSpPr/>
          <p:nvPr/>
        </p:nvSpPr>
        <p:spPr>
          <a:xfrm>
            <a:off x="5055778" y="4577512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7" name="ValueShape"/>
          <p:cNvSpPr/>
          <p:nvPr/>
        </p:nvSpPr>
        <p:spPr>
          <a:xfrm>
            <a:off x="5065922" y="460556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8" name="ValueShape"/>
          <p:cNvSpPr/>
          <p:nvPr/>
        </p:nvSpPr>
        <p:spPr>
          <a:xfrm>
            <a:off x="5055778" y="4582852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9" name="ValueShape"/>
          <p:cNvSpPr/>
          <p:nvPr/>
        </p:nvSpPr>
        <p:spPr>
          <a:xfrm>
            <a:off x="5055778" y="459528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0" name="ValueShape"/>
          <p:cNvSpPr/>
          <p:nvPr/>
        </p:nvSpPr>
        <p:spPr>
          <a:xfrm>
            <a:off x="5076066" y="459528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1" name="ValueShape"/>
          <p:cNvSpPr/>
          <p:nvPr/>
        </p:nvSpPr>
        <p:spPr>
          <a:xfrm>
            <a:off x="5065922" y="461584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72" name="ValueShape"/>
          <p:cNvSpPr/>
          <p:nvPr/>
        </p:nvSpPr>
        <p:spPr>
          <a:xfrm>
            <a:off x="5076066" y="4626125"/>
            <a:ext cx="444616" cy="611345"/>
          </a:xfrm>
          <a:custGeom>
            <a:avLst/>
            <a:gdLst>
              <a:gd name="connsiteX0" fmla="*/ 195923 w 559782"/>
              <a:gd name="connsiteY0" fmla="*/ 209918 h 769697"/>
              <a:gd name="connsiteX1" fmla="*/ 363858 w 559782"/>
              <a:gd name="connsiteY1" fmla="*/ 209918 h 769697"/>
              <a:gd name="connsiteX2" fmla="*/ 440828 w 559782"/>
              <a:gd name="connsiteY2" fmla="*/ 256712 h 769697"/>
              <a:gd name="connsiteX3" fmla="*/ 552784 w 559782"/>
              <a:gd name="connsiteY3" fmla="*/ 424645 h 769697"/>
              <a:gd name="connsiteX4" fmla="*/ 559782 w 559782"/>
              <a:gd name="connsiteY4" fmla="*/ 447824 h 769697"/>
              <a:gd name="connsiteX5" fmla="*/ 547536 w 559782"/>
              <a:gd name="connsiteY5" fmla="*/ 477562 h 769697"/>
              <a:gd name="connsiteX6" fmla="*/ 517798 w 559782"/>
              <a:gd name="connsiteY6" fmla="*/ 489808 h 769697"/>
              <a:gd name="connsiteX7" fmla="*/ 482812 w 559782"/>
              <a:gd name="connsiteY7" fmla="*/ 471002 h 769697"/>
              <a:gd name="connsiteX8" fmla="*/ 383538 w 559782"/>
              <a:gd name="connsiteY8" fmla="*/ 321874 h 769697"/>
              <a:gd name="connsiteX9" fmla="*/ 363858 w 559782"/>
              <a:gd name="connsiteY9" fmla="*/ 321874 h 769697"/>
              <a:gd name="connsiteX10" fmla="*/ 363858 w 559782"/>
              <a:gd name="connsiteY10" fmla="*/ 379600 h 769697"/>
              <a:gd name="connsiteX11" fmla="*/ 471878 w 559782"/>
              <a:gd name="connsiteY11" fmla="*/ 559343 h 769697"/>
              <a:gd name="connsiteX12" fmla="*/ 475814 w 559782"/>
              <a:gd name="connsiteY12" fmla="*/ 573775 h 769697"/>
              <a:gd name="connsiteX13" fmla="*/ 467505 w 559782"/>
              <a:gd name="connsiteY13" fmla="*/ 593454 h 769697"/>
              <a:gd name="connsiteX14" fmla="*/ 447826 w 559782"/>
              <a:gd name="connsiteY14" fmla="*/ 601763 h 769697"/>
              <a:gd name="connsiteX15" fmla="*/ 363858 w 559782"/>
              <a:gd name="connsiteY15" fmla="*/ 601763 h 769697"/>
              <a:gd name="connsiteX16" fmla="*/ 363858 w 559782"/>
              <a:gd name="connsiteY16" fmla="*/ 720717 h 769697"/>
              <a:gd name="connsiteX17" fmla="*/ 349426 w 559782"/>
              <a:gd name="connsiteY17" fmla="*/ 755265 h 769697"/>
              <a:gd name="connsiteX18" fmla="*/ 314878 w 559782"/>
              <a:gd name="connsiteY18" fmla="*/ 769697 h 769697"/>
              <a:gd name="connsiteX19" fmla="*/ 244904 w 559782"/>
              <a:gd name="connsiteY19" fmla="*/ 769697 h 769697"/>
              <a:gd name="connsiteX20" fmla="*/ 210356 w 559782"/>
              <a:gd name="connsiteY20" fmla="*/ 755265 h 769697"/>
              <a:gd name="connsiteX21" fmla="*/ 195923 w 559782"/>
              <a:gd name="connsiteY21" fmla="*/ 720717 h 769697"/>
              <a:gd name="connsiteX22" fmla="*/ 195923 w 559782"/>
              <a:gd name="connsiteY22" fmla="*/ 601763 h 769697"/>
              <a:gd name="connsiteX23" fmla="*/ 111956 w 559782"/>
              <a:gd name="connsiteY23" fmla="*/ 601763 h 769697"/>
              <a:gd name="connsiteX24" fmla="*/ 92276 w 559782"/>
              <a:gd name="connsiteY24" fmla="*/ 593454 h 769697"/>
              <a:gd name="connsiteX25" fmla="*/ 83968 w 559782"/>
              <a:gd name="connsiteY25" fmla="*/ 573775 h 769697"/>
              <a:gd name="connsiteX26" fmla="*/ 87903 w 559782"/>
              <a:gd name="connsiteY26" fmla="*/ 559343 h 769697"/>
              <a:gd name="connsiteX27" fmla="*/ 195923 w 559782"/>
              <a:gd name="connsiteY27" fmla="*/ 379600 h 769697"/>
              <a:gd name="connsiteX28" fmla="*/ 195923 w 559782"/>
              <a:gd name="connsiteY28" fmla="*/ 321874 h 769697"/>
              <a:gd name="connsiteX29" fmla="*/ 176244 w 559782"/>
              <a:gd name="connsiteY29" fmla="*/ 321874 h 769697"/>
              <a:gd name="connsiteX30" fmla="*/ 76970 w 559782"/>
              <a:gd name="connsiteY30" fmla="*/ 471002 h 769697"/>
              <a:gd name="connsiteX31" fmla="*/ 41984 w 559782"/>
              <a:gd name="connsiteY31" fmla="*/ 489808 h 769697"/>
              <a:gd name="connsiteX32" fmla="*/ 12245 w 559782"/>
              <a:gd name="connsiteY32" fmla="*/ 477562 h 769697"/>
              <a:gd name="connsiteX33" fmla="*/ 0 w 559782"/>
              <a:gd name="connsiteY33" fmla="*/ 447824 h 769697"/>
              <a:gd name="connsiteX34" fmla="*/ 6998 w 559782"/>
              <a:gd name="connsiteY34" fmla="*/ 424645 h 769697"/>
              <a:gd name="connsiteX35" fmla="*/ 118953 w 559782"/>
              <a:gd name="connsiteY35" fmla="*/ 256712 h 769697"/>
              <a:gd name="connsiteX36" fmla="*/ 195923 w 559782"/>
              <a:gd name="connsiteY36" fmla="*/ 209918 h 769697"/>
              <a:gd name="connsiteX37" fmla="*/ 279891 w 559782"/>
              <a:gd name="connsiteY37" fmla="*/ 0 h 769697"/>
              <a:gd name="connsiteX38" fmla="*/ 349208 w 559782"/>
              <a:gd name="connsiteY38" fmla="*/ 28645 h 769697"/>
              <a:gd name="connsiteX39" fmla="*/ 377853 w 559782"/>
              <a:gd name="connsiteY39" fmla="*/ 97962 h 769697"/>
              <a:gd name="connsiteX40" fmla="*/ 349208 w 559782"/>
              <a:gd name="connsiteY40" fmla="*/ 167277 h 769697"/>
              <a:gd name="connsiteX41" fmla="*/ 279891 w 559782"/>
              <a:gd name="connsiteY41" fmla="*/ 195922 h 769697"/>
              <a:gd name="connsiteX42" fmla="*/ 210575 w 559782"/>
              <a:gd name="connsiteY42" fmla="*/ 167277 h 769697"/>
              <a:gd name="connsiteX43" fmla="*/ 181930 w 559782"/>
              <a:gd name="connsiteY43" fmla="*/ 97962 h 769697"/>
              <a:gd name="connsiteX44" fmla="*/ 210575 w 559782"/>
              <a:gd name="connsiteY44" fmla="*/ 28645 h 769697"/>
              <a:gd name="connsiteX45" fmla="*/ 279891 w 559782"/>
              <a:gd name="connsiteY45" fmla="*/ 0 h 7696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59782" h="769697">
                <a:moveTo>
                  <a:pt x="195923" y="209918"/>
                </a:moveTo>
                <a:lnTo>
                  <a:pt x="363858" y="209918"/>
                </a:lnTo>
                <a:cubicBezTo>
                  <a:pt x="393888" y="209918"/>
                  <a:pt x="419544" y="225516"/>
                  <a:pt x="440828" y="256712"/>
                </a:cubicBezTo>
                <a:lnTo>
                  <a:pt x="552784" y="424645"/>
                </a:lnTo>
                <a:cubicBezTo>
                  <a:pt x="557449" y="431643"/>
                  <a:pt x="559782" y="439368"/>
                  <a:pt x="559782" y="447824"/>
                </a:cubicBezTo>
                <a:cubicBezTo>
                  <a:pt x="559782" y="459486"/>
                  <a:pt x="555700" y="469398"/>
                  <a:pt x="547536" y="477562"/>
                </a:cubicBezTo>
                <a:cubicBezTo>
                  <a:pt x="539373" y="485725"/>
                  <a:pt x="529460" y="489808"/>
                  <a:pt x="517798" y="489808"/>
                </a:cubicBezTo>
                <a:cubicBezTo>
                  <a:pt x="502928" y="489808"/>
                  <a:pt x="491267" y="483539"/>
                  <a:pt x="482812" y="471002"/>
                </a:cubicBezTo>
                <a:lnTo>
                  <a:pt x="383538" y="321874"/>
                </a:lnTo>
                <a:lnTo>
                  <a:pt x="363858" y="321874"/>
                </a:lnTo>
                <a:lnTo>
                  <a:pt x="363858" y="379600"/>
                </a:lnTo>
                <a:lnTo>
                  <a:pt x="471878" y="559343"/>
                </a:lnTo>
                <a:cubicBezTo>
                  <a:pt x="474502" y="563716"/>
                  <a:pt x="475814" y="568526"/>
                  <a:pt x="475814" y="573775"/>
                </a:cubicBezTo>
                <a:cubicBezTo>
                  <a:pt x="475814" y="581355"/>
                  <a:pt x="473044" y="587914"/>
                  <a:pt x="467505" y="593454"/>
                </a:cubicBezTo>
                <a:cubicBezTo>
                  <a:pt x="461965" y="598993"/>
                  <a:pt x="455405" y="601763"/>
                  <a:pt x="447826" y="601763"/>
                </a:cubicBezTo>
                <a:lnTo>
                  <a:pt x="363858" y="601763"/>
                </a:lnTo>
                <a:lnTo>
                  <a:pt x="363858" y="720717"/>
                </a:lnTo>
                <a:cubicBezTo>
                  <a:pt x="363858" y="734128"/>
                  <a:pt x="359047" y="745644"/>
                  <a:pt x="349426" y="755265"/>
                </a:cubicBezTo>
                <a:cubicBezTo>
                  <a:pt x="339805" y="764887"/>
                  <a:pt x="328289" y="769697"/>
                  <a:pt x="314878" y="769697"/>
                </a:cubicBezTo>
                <a:lnTo>
                  <a:pt x="244904" y="769697"/>
                </a:lnTo>
                <a:cubicBezTo>
                  <a:pt x="231493" y="769697"/>
                  <a:pt x="219977" y="764887"/>
                  <a:pt x="210356" y="755265"/>
                </a:cubicBezTo>
                <a:cubicBezTo>
                  <a:pt x="200733" y="745644"/>
                  <a:pt x="195923" y="734128"/>
                  <a:pt x="195923" y="720717"/>
                </a:cubicBezTo>
                <a:lnTo>
                  <a:pt x="195923" y="601763"/>
                </a:lnTo>
                <a:lnTo>
                  <a:pt x="111956" y="601763"/>
                </a:lnTo>
                <a:cubicBezTo>
                  <a:pt x="104375" y="601763"/>
                  <a:pt x="97815" y="598993"/>
                  <a:pt x="92276" y="593454"/>
                </a:cubicBezTo>
                <a:cubicBezTo>
                  <a:pt x="86738" y="587914"/>
                  <a:pt x="83968" y="581355"/>
                  <a:pt x="83968" y="573775"/>
                </a:cubicBezTo>
                <a:cubicBezTo>
                  <a:pt x="83968" y="568526"/>
                  <a:pt x="85279" y="563716"/>
                  <a:pt x="87903" y="559343"/>
                </a:cubicBezTo>
                <a:lnTo>
                  <a:pt x="195923" y="379600"/>
                </a:lnTo>
                <a:lnTo>
                  <a:pt x="195923" y="321874"/>
                </a:lnTo>
                <a:lnTo>
                  <a:pt x="176244" y="321874"/>
                </a:lnTo>
                <a:lnTo>
                  <a:pt x="76970" y="471002"/>
                </a:lnTo>
                <a:cubicBezTo>
                  <a:pt x="68515" y="483539"/>
                  <a:pt x="56852" y="489808"/>
                  <a:pt x="41984" y="489808"/>
                </a:cubicBezTo>
                <a:cubicBezTo>
                  <a:pt x="30321" y="489808"/>
                  <a:pt x="20409" y="485725"/>
                  <a:pt x="12245" y="477562"/>
                </a:cubicBezTo>
                <a:cubicBezTo>
                  <a:pt x="4081" y="469398"/>
                  <a:pt x="0" y="459486"/>
                  <a:pt x="0" y="447824"/>
                </a:cubicBezTo>
                <a:cubicBezTo>
                  <a:pt x="0" y="439368"/>
                  <a:pt x="2333" y="431643"/>
                  <a:pt x="6998" y="424645"/>
                </a:cubicBezTo>
                <a:lnTo>
                  <a:pt x="118953" y="256712"/>
                </a:lnTo>
                <a:cubicBezTo>
                  <a:pt x="140237" y="225516"/>
                  <a:pt x="165894" y="209918"/>
                  <a:pt x="195923" y="209918"/>
                </a:cubicBezTo>
                <a:close/>
                <a:moveTo>
                  <a:pt x="279891" y="0"/>
                </a:moveTo>
                <a:cubicBezTo>
                  <a:pt x="307006" y="0"/>
                  <a:pt x="330111" y="9548"/>
                  <a:pt x="349208" y="28645"/>
                </a:cubicBezTo>
                <a:cubicBezTo>
                  <a:pt x="368305" y="47742"/>
                  <a:pt x="377853" y="70846"/>
                  <a:pt x="377853" y="97962"/>
                </a:cubicBezTo>
                <a:cubicBezTo>
                  <a:pt x="377853" y="125075"/>
                  <a:pt x="368305" y="148180"/>
                  <a:pt x="349208" y="167277"/>
                </a:cubicBezTo>
                <a:cubicBezTo>
                  <a:pt x="330111" y="186373"/>
                  <a:pt x="307006" y="195922"/>
                  <a:pt x="279891" y="195922"/>
                </a:cubicBezTo>
                <a:cubicBezTo>
                  <a:pt x="252777" y="195922"/>
                  <a:pt x="229671" y="186373"/>
                  <a:pt x="210575" y="167277"/>
                </a:cubicBezTo>
                <a:cubicBezTo>
                  <a:pt x="191477" y="148180"/>
                  <a:pt x="181930" y="125075"/>
                  <a:pt x="181930" y="97962"/>
                </a:cubicBezTo>
                <a:cubicBezTo>
                  <a:pt x="181930" y="70846"/>
                  <a:pt x="191477" y="47742"/>
                  <a:pt x="210575" y="28645"/>
                </a:cubicBezTo>
                <a:cubicBezTo>
                  <a:pt x="229671" y="9548"/>
                  <a:pt x="252777" y="0"/>
                  <a:pt x="279891" y="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643991" y="1148316"/>
            <a:ext cx="10515600" cy="5454785"/>
          </a:xfrm>
        </p:spPr>
        <p:txBody>
          <a:bodyPr>
            <a:normAutofit/>
          </a:bodyPr>
          <a:lstStyle/>
          <a:p>
            <a:r>
              <a:rPr lang="en-US" altLang="zh-CN" dirty="0"/>
              <a:t>1. </a:t>
            </a:r>
            <a:r>
              <a:rPr lang="en-US" altLang="zh-CN" dirty="0" err="1"/>
              <a:t>Numpy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 </a:t>
            </a:r>
            <a:r>
              <a:rPr lang="en-US" altLang="zh-CN" dirty="0" err="1"/>
              <a:t>rasterio</a:t>
            </a:r>
            <a:endParaRPr lang="en-US" altLang="zh-CN" dirty="0"/>
          </a:p>
          <a:p>
            <a:endParaRPr lang="en-US" altLang="zh-CN" b="1" dirty="0"/>
          </a:p>
          <a:p>
            <a:r>
              <a:rPr lang="en-US" altLang="zh-CN" b="1" dirty="0"/>
              <a:t>3. </a:t>
            </a:r>
            <a:r>
              <a:rPr lang="zh-CN" altLang="en-US" b="1" dirty="0"/>
              <a:t>栅格操作</a:t>
            </a:r>
            <a:endParaRPr lang="en-US" altLang="zh-CN" b="1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2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/>
                <a:ea typeface="等线"/>
                <a:cs typeface="+mn-cs"/>
              </a:rPr>
              <a:t>2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/>
              <a:ea typeface="等线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575151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栅格数据投影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719" y="1031359"/>
            <a:ext cx="6794412" cy="5145604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zh-CN" altLang="en-US" dirty="0"/>
              <a:t>采用</a:t>
            </a:r>
            <a:r>
              <a:rPr lang="en-US" altLang="zh-CN" dirty="0"/>
              <a:t>Well Know Text(WKT) </a:t>
            </a:r>
            <a:r>
              <a:rPr lang="zh-CN" altLang="en-US" dirty="0"/>
              <a:t>用于输入和输出投影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投影获取可通过对原始数据集采用</a:t>
            </a:r>
            <a:r>
              <a:rPr lang="en-US" altLang="zh-CN" dirty="0" err="1"/>
              <a:t>GetProjection</a:t>
            </a:r>
            <a:r>
              <a:rPr lang="en-US" altLang="zh-CN" dirty="0"/>
              <a:t>()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输出采用使用</a:t>
            </a:r>
            <a:r>
              <a:rPr lang="en-US" altLang="zh-CN" dirty="0" err="1"/>
              <a:t>SpatialReference</a:t>
            </a:r>
            <a:r>
              <a:rPr lang="zh-CN" altLang="en-US" dirty="0"/>
              <a:t>类创建</a:t>
            </a:r>
            <a:r>
              <a:rPr lang="en-US" altLang="zh-CN" dirty="0"/>
              <a:t>WTK</a:t>
            </a:r>
          </a:p>
          <a:p>
            <a:pPr>
              <a:lnSpc>
                <a:spcPct val="110000"/>
              </a:lnSpc>
            </a:pPr>
            <a:r>
              <a:rPr lang="en-US" altLang="zh-CN" dirty="0" err="1"/>
              <a:t>Gdal.ReprojectImage</a:t>
            </a:r>
            <a:r>
              <a:rPr lang="en-US" altLang="zh-CN" dirty="0"/>
              <a:t>(</a:t>
            </a:r>
            <a:r>
              <a:rPr lang="en-US" altLang="zh-CN" dirty="0" err="1"/>
              <a:t>source_dataset</a:t>
            </a:r>
            <a:r>
              <a:rPr lang="en-US" altLang="zh-CN" dirty="0"/>
              <a:t>, </a:t>
            </a:r>
            <a:r>
              <a:rPr lang="en-US" altLang="zh-CN" dirty="0" err="1"/>
              <a:t>output_dateset</a:t>
            </a:r>
            <a:r>
              <a:rPr lang="en-US" altLang="zh-CN" dirty="0"/>
              <a:t>, </a:t>
            </a:r>
            <a:r>
              <a:rPr lang="en-US" altLang="zh-CN" dirty="0" err="1"/>
              <a:t>source.GetProjection</a:t>
            </a:r>
            <a:r>
              <a:rPr lang="en-US" altLang="zh-CN" dirty="0"/>
              <a:t>=&lt;</a:t>
            </a:r>
            <a:r>
              <a:rPr lang="en-US" altLang="zh-CN" dirty="0" err="1"/>
              <a:t>source_wkt</a:t>
            </a:r>
            <a:r>
              <a:rPr lang="en-US" altLang="zh-CN" dirty="0"/>
              <a:t>&gt;, </a:t>
            </a:r>
            <a:r>
              <a:rPr lang="en-US" altLang="zh-CN" dirty="0" err="1"/>
              <a:t>output.GetProjection</a:t>
            </a:r>
            <a:r>
              <a:rPr lang="en-US" altLang="zh-CN" dirty="0"/>
              <a:t>=&lt;</a:t>
            </a:r>
            <a:r>
              <a:rPr lang="en-US" altLang="zh-CN" dirty="0" err="1"/>
              <a:t>output_wkt</a:t>
            </a:r>
            <a:r>
              <a:rPr lang="en-US" altLang="zh-CN" dirty="0"/>
              <a:t>&gt;, </a:t>
            </a:r>
            <a:r>
              <a:rPr lang="en-US" altLang="zh-CN" dirty="0" err="1"/>
              <a:t>eResampleAlg</a:t>
            </a:r>
            <a:r>
              <a:rPr lang="en-US" altLang="zh-CN" dirty="0"/>
              <a:t>=&lt;</a:t>
            </a:r>
            <a:r>
              <a:rPr lang="en-US" altLang="zh-CN" dirty="0" err="1"/>
              <a:t>GDALResampleAlg</a:t>
            </a:r>
            <a:r>
              <a:rPr lang="en-US" altLang="zh-CN" dirty="0"/>
              <a:t>&gt;)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1117" y="1420200"/>
            <a:ext cx="5200883" cy="448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367592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对比一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51408" y="1055007"/>
            <a:ext cx="10081522" cy="51456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采用</a:t>
            </a:r>
            <a:r>
              <a:rPr lang="en-US" altLang="zh-CN" dirty="0"/>
              <a:t>DEM</a:t>
            </a:r>
            <a:r>
              <a:rPr lang="zh-CN" altLang="en-US" dirty="0"/>
              <a:t>数据：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高程</a:t>
            </a:r>
            <a:r>
              <a:rPr lang="en-US" altLang="zh-CN" dirty="0"/>
              <a:t>&gt;2500 </a:t>
            </a:r>
            <a:r>
              <a:rPr lang="zh-CN" altLang="en-US" dirty="0"/>
              <a:t>的像素值为</a:t>
            </a:r>
            <a:r>
              <a:rPr lang="en-US" altLang="zh-CN" dirty="0"/>
              <a:t>1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高程</a:t>
            </a:r>
            <a:r>
              <a:rPr lang="en-US" altLang="zh-CN" dirty="0"/>
              <a:t>&lt;=2500</a:t>
            </a:r>
            <a:r>
              <a:rPr lang="zh-CN" altLang="en-US" dirty="0"/>
              <a:t>的像素值为</a:t>
            </a:r>
            <a:r>
              <a:rPr lang="en-US" altLang="zh-CN" dirty="0"/>
              <a:t>0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小尺寸</a:t>
            </a:r>
            <a:r>
              <a:rPr lang="en-US" altLang="zh-CN" dirty="0"/>
              <a:t>DEM </a:t>
            </a:r>
            <a:r>
              <a:rPr lang="zh-CN" altLang="en-US" dirty="0"/>
              <a:t>（</a:t>
            </a:r>
            <a:r>
              <a:rPr lang="en-US" altLang="zh-CN" dirty="0"/>
              <a:t>1051×1397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852" y="3414572"/>
            <a:ext cx="6572638" cy="278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590273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逐像素处理</a:t>
            </a:r>
            <a:r>
              <a:rPr lang="en-US" altLang="zh-CN" b="1" dirty="0">
                <a:solidFill>
                  <a:schemeClr val="bg1"/>
                </a:solidFill>
              </a:rPr>
              <a:t>&amp;</a:t>
            </a:r>
            <a:r>
              <a:rPr lang="zh-CN" altLang="en-US" b="1" dirty="0">
                <a:solidFill>
                  <a:schemeClr val="bg1"/>
                </a:solidFill>
              </a:rPr>
              <a:t>内置函数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4239"/>
            <a:ext cx="10816721" cy="51456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可以通过循环处理每个像素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或者采用</a:t>
            </a:r>
            <a:r>
              <a:rPr lang="en-US" altLang="zh-CN" dirty="0" err="1"/>
              <a:t>Numpy</a:t>
            </a:r>
            <a:r>
              <a:rPr lang="zh-CN" altLang="en-US" dirty="0"/>
              <a:t>的内置函数</a:t>
            </a:r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2343274" y="1985120"/>
            <a:ext cx="7505447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outData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numpy.zeros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((rows, cols))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2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for y in range(rows):</a:t>
            </a:r>
            <a:endParaRPr lang="en-US" altLang="zh-CN" dirty="0">
              <a:solidFill>
                <a:srgbClr val="BB2121"/>
              </a:solidFill>
              <a:latin typeface="YaHei_Monaco-R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3 	</a:t>
            </a:r>
            <a:r>
              <a:rPr lang="en-US" altLang="zh-CN" dirty="0">
                <a:latin typeface="LMSans8-Regular-Identity-H"/>
              </a:rPr>
              <a:t>for x in range(cols):</a:t>
            </a:r>
            <a:endParaRPr lang="en-US" altLang="zh-CN" dirty="0">
              <a:solidFill>
                <a:srgbClr val="8080FF"/>
              </a:solidFill>
              <a:latin typeface="LMSans8-Regular-Identity-H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4		</a:t>
            </a:r>
            <a:r>
              <a:rPr lang="en-US" altLang="zh-CN" dirty="0">
                <a:latin typeface="LMSans8-Regular-Identity-H"/>
              </a:rPr>
              <a:t>if </a:t>
            </a:r>
            <a:r>
              <a:rPr lang="en-US" altLang="zh-CN" dirty="0" err="1">
                <a:latin typeface="LMSans8-Regular-Identity-H"/>
              </a:rPr>
              <a:t>inData</a:t>
            </a:r>
            <a:r>
              <a:rPr lang="en-US" altLang="zh-CN" dirty="0">
                <a:latin typeface="LMSans8-Regular-Identity-H"/>
              </a:rPr>
              <a:t>[</a:t>
            </a:r>
            <a:r>
              <a:rPr lang="en-US" altLang="zh-CN" dirty="0" err="1">
                <a:latin typeface="LMSans8-Regular-Identity-H"/>
              </a:rPr>
              <a:t>y,x</a:t>
            </a:r>
            <a:r>
              <a:rPr lang="en-US" altLang="zh-CN" dirty="0">
                <a:latin typeface="LMSans8-Regular-Identity-H"/>
              </a:rPr>
              <a:t>] &gt; 2500: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5 			</a:t>
            </a:r>
            <a:r>
              <a:rPr lang="en-US" altLang="zh-CN" dirty="0" err="1">
                <a:latin typeface="LMSans8-Regular-Identity-H"/>
              </a:rPr>
              <a:t>outData</a:t>
            </a:r>
            <a:r>
              <a:rPr lang="en-US" altLang="zh-CN" dirty="0">
                <a:latin typeface="LMSans8-Regular-Identity-H"/>
              </a:rPr>
              <a:t>[</a:t>
            </a:r>
            <a:r>
              <a:rPr lang="en-US" altLang="zh-CN" dirty="0" err="1">
                <a:latin typeface="LMSans8-Regular-Identity-H"/>
              </a:rPr>
              <a:t>y,x</a:t>
            </a:r>
            <a:r>
              <a:rPr lang="en-US" altLang="zh-CN" dirty="0">
                <a:latin typeface="LMSans8-Regular-Identity-H"/>
              </a:rPr>
              <a:t>] = 1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		else: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7			</a:t>
            </a:r>
            <a:r>
              <a:rPr lang="en-US" altLang="zh-CN" dirty="0" err="1">
                <a:latin typeface="LMSans8-Regular-Identity-H"/>
              </a:rPr>
              <a:t>outData</a:t>
            </a:r>
            <a:r>
              <a:rPr lang="en-US" altLang="zh-CN" dirty="0">
                <a:latin typeface="LMSans8-Regular-Identity-H"/>
              </a:rPr>
              <a:t>[</a:t>
            </a:r>
            <a:r>
              <a:rPr lang="en-US" altLang="zh-CN" dirty="0" err="1">
                <a:latin typeface="LMSans8-Regular-Identity-H"/>
              </a:rPr>
              <a:t>y,x</a:t>
            </a:r>
            <a:r>
              <a:rPr lang="en-US" altLang="zh-CN" dirty="0">
                <a:latin typeface="LMSans8-Regular-Identity-H"/>
              </a:rPr>
              <a:t>] = 0</a:t>
            </a:r>
            <a:endParaRPr lang="en-US" altLang="zh-CN" dirty="0">
              <a:latin typeface="YaHei_Monaco-R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43273" y="5307440"/>
            <a:ext cx="7505447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outData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=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numpy.greater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inData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, 2500)</a:t>
            </a:r>
          </a:p>
          <a:p>
            <a:endParaRPr lang="en-US" altLang="zh-CN" dirty="0">
              <a:solidFill>
                <a:srgbClr val="000000"/>
              </a:solidFill>
              <a:latin typeface="YaHei_Monaco-R"/>
            </a:endParaRPr>
          </a:p>
        </p:txBody>
      </p:sp>
    </p:spTree>
    <p:extLst>
      <p:ext uri="{BB962C8B-B14F-4D97-AF65-F5344CB8AC3E}">
        <p14:creationId xmlns:p14="http://schemas.microsoft.com/office/powerpoint/2010/main" val="903072623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对比二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3145219"/>
            <a:ext cx="10816721" cy="321462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dirty="0"/>
              <a:t>                   </a:t>
            </a:r>
            <a:r>
              <a:rPr lang="zh-CN" altLang="en-US" dirty="0"/>
              <a:t>高程         土壤含水量</a:t>
            </a:r>
            <a:r>
              <a:rPr lang="en-US" altLang="zh-CN" dirty="0"/>
              <a:t>(</a:t>
            </a:r>
            <a:r>
              <a:rPr lang="en-US" altLang="zh-CN" dirty="0" err="1"/>
              <a:t>awch</a:t>
            </a:r>
            <a:r>
              <a:rPr lang="en-US" altLang="zh-CN" dirty="0"/>
              <a:t>)</a:t>
            </a:r>
            <a:r>
              <a:rPr lang="zh-CN" altLang="en-US" dirty="0"/>
              <a:t>          输出</a:t>
            </a:r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2880128" y="3748634"/>
            <a:ext cx="5836903" cy="286232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1 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if elevation &gt; 2000:</a:t>
            </a:r>
          </a:p>
          <a:p>
            <a:pPr marL="342900" indent="-342900">
              <a:buAutoNum type="arabicPlain" startAt="2"/>
            </a:pPr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  </a:t>
            </a:r>
            <a:r>
              <a:rPr lang="en-US" altLang="zh-CN" dirty="0">
                <a:latin typeface="LMSans8-Regular-Identity-H"/>
              </a:rPr>
              <a:t>if </a:t>
            </a:r>
            <a:r>
              <a:rPr lang="en-US" altLang="zh-CN" dirty="0" err="1">
                <a:latin typeface="LMSans8-Regular-Identity-H"/>
              </a:rPr>
              <a:t>awch</a:t>
            </a:r>
            <a:r>
              <a:rPr lang="en-US" altLang="zh-CN" dirty="0">
                <a:latin typeface="LMSans8-Regular-Identity-H"/>
              </a:rPr>
              <a:t> &gt; 0.15: </a:t>
            </a:r>
            <a:endParaRPr lang="en-US" altLang="zh-CN" dirty="0">
              <a:latin typeface="YaHei_Monaco-R"/>
            </a:endParaRP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3 	</a:t>
            </a:r>
            <a:r>
              <a:rPr lang="en-US" altLang="zh-CN" dirty="0">
                <a:latin typeface="LMSans8-Regular-Identity-H"/>
              </a:rPr>
              <a:t> output = 1</a:t>
            </a:r>
          </a:p>
          <a:p>
            <a:pPr marL="342900" indent="-342900">
              <a:buAutoNum type="arabicPlain" startAt="4"/>
            </a:pPr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  </a:t>
            </a:r>
            <a:r>
              <a:rPr lang="en-US" altLang="zh-CN" dirty="0">
                <a:latin typeface="LMSans8-Regular-Identity-H"/>
              </a:rPr>
              <a:t>else:</a:t>
            </a:r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	</a:t>
            </a:r>
          </a:p>
          <a:p>
            <a:r>
              <a:rPr lang="en-US" altLang="zh-CN" dirty="0">
                <a:latin typeface="LMSans8-Regular-Identity-H"/>
              </a:rPr>
              <a:t>         output = 0</a:t>
            </a:r>
          </a:p>
          <a:p>
            <a:r>
              <a:rPr lang="en-US" altLang="zh-CN" dirty="0">
                <a:latin typeface="LMSans8-Regular-Identity-H"/>
              </a:rPr>
              <a:t>  else:</a:t>
            </a:r>
          </a:p>
          <a:p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6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    if </a:t>
            </a:r>
            <a:r>
              <a:rPr lang="en-US" altLang="zh-CN" dirty="0" err="1">
                <a:solidFill>
                  <a:srgbClr val="000000"/>
                </a:solidFill>
                <a:latin typeface="YaHei_Monaco-R"/>
              </a:rPr>
              <a:t>awch</a:t>
            </a:r>
            <a:r>
              <a:rPr lang="en-US" altLang="zh-CN" dirty="0">
                <a:solidFill>
                  <a:srgbClr val="000000"/>
                </a:solidFill>
                <a:latin typeface="YaHei_Monaco-R"/>
              </a:rPr>
              <a:t> &gt; 0.2:</a:t>
            </a:r>
          </a:p>
          <a:p>
            <a:pPr marL="342900" indent="-342900">
              <a:buAutoNum type="arabicPlain" startAt="7"/>
            </a:pPr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      </a:t>
            </a:r>
            <a:r>
              <a:rPr lang="en-US" altLang="zh-CN" dirty="0">
                <a:latin typeface="LMSans8-Regular-Identity-H"/>
              </a:rPr>
              <a:t>output = 1</a:t>
            </a:r>
          </a:p>
          <a:p>
            <a:pPr marL="342900" indent="-342900">
              <a:buAutoNum type="arabicPlain" startAt="7"/>
            </a:pPr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   </a:t>
            </a:r>
            <a:r>
              <a:rPr lang="en-US" altLang="zh-CN" dirty="0">
                <a:latin typeface="LMSans8-Regular-Identity-H"/>
              </a:rPr>
              <a:t>else:</a:t>
            </a:r>
          </a:p>
          <a:p>
            <a:pPr marL="342900" indent="-342900">
              <a:buAutoNum type="arabicPlain" startAt="7"/>
            </a:pPr>
            <a:r>
              <a:rPr lang="en-US" altLang="zh-CN" dirty="0">
                <a:solidFill>
                  <a:srgbClr val="8080FF"/>
                </a:solidFill>
                <a:latin typeface="LMSans8-Regular-Identity-H"/>
              </a:rPr>
              <a:t>      </a:t>
            </a:r>
            <a:r>
              <a:rPr lang="en-US" altLang="zh-CN" dirty="0">
                <a:latin typeface="LMSans8-Regular-Identity-H"/>
              </a:rPr>
              <a:t>output = 0</a:t>
            </a:r>
            <a:endParaRPr lang="en-US" altLang="zh-CN" dirty="0">
              <a:latin typeface="YaHei_Monaco-R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039" y="936375"/>
            <a:ext cx="7909080" cy="212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22299"/>
      </p:ext>
    </p:extLst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逐像素处理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4239"/>
            <a:ext cx="10816721" cy="51456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可以通过循环处理方式遍历每个像素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385" y="1968854"/>
            <a:ext cx="6372079" cy="439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485507"/>
      </p:ext>
    </p:extLst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内置函数处理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09794"/>
            <a:ext cx="11104179" cy="514560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方法</a:t>
            </a:r>
            <a:r>
              <a:rPr lang="en-US" altLang="zh-CN" sz="2000" dirty="0"/>
              <a:t>1</a:t>
            </a:r>
            <a:r>
              <a:rPr lang="zh-CN" altLang="en-US" sz="2000" dirty="0"/>
              <a:t>：（注意其中使用的</a:t>
            </a:r>
            <a:r>
              <a:rPr lang="en-US" altLang="zh-CN" sz="2000" dirty="0" err="1"/>
              <a:t>numpy</a:t>
            </a:r>
            <a:r>
              <a:rPr lang="zh-CN" altLang="en-US" sz="2000" dirty="0"/>
              <a:t>中</a:t>
            </a:r>
            <a:r>
              <a:rPr lang="en-US" altLang="zh-CN" sz="2000" dirty="0"/>
              <a:t>where</a:t>
            </a:r>
            <a:r>
              <a:rPr lang="zh-CN" altLang="en-US" sz="2000" dirty="0"/>
              <a:t>语句的使用：</a:t>
            </a:r>
            <a:r>
              <a:rPr lang="en-US" altLang="zh-CN" sz="2000" dirty="0" err="1"/>
              <a:t>np.where</a:t>
            </a:r>
            <a:r>
              <a:rPr lang="en-US" altLang="zh-CN" sz="2000" dirty="0"/>
              <a:t>(condition, x, y)</a:t>
            </a:r>
            <a:r>
              <a:rPr lang="zh-CN" altLang="en-US" sz="2000" dirty="0"/>
              <a:t>，当满足</a:t>
            </a:r>
            <a:r>
              <a:rPr lang="en-US" altLang="zh-CN" sz="2000" dirty="0"/>
              <a:t>condition</a:t>
            </a:r>
            <a:r>
              <a:rPr lang="zh-CN" altLang="en-US" sz="2000" dirty="0"/>
              <a:t>时，输出</a:t>
            </a:r>
            <a:r>
              <a:rPr lang="en-US" altLang="zh-CN" sz="2000" dirty="0"/>
              <a:t>x</a:t>
            </a:r>
            <a:r>
              <a:rPr lang="zh-CN" altLang="en-US" sz="2000" dirty="0"/>
              <a:t>；不满足，输出</a:t>
            </a:r>
            <a:r>
              <a:rPr lang="en-US" altLang="zh-CN" sz="2000" dirty="0"/>
              <a:t>y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buNone/>
              <a:tabLst/>
            </a:pP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case1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np.where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((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elev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2000)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&amp;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awch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0.15),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1,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0)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buNone/>
              <a:tabLst/>
            </a:pP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case2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np.where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((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elev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&lt;=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2000)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&amp;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awch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&gt;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0.2),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1,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0)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buNone/>
              <a:tabLst/>
            </a:pP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outData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case1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case2</a:t>
            </a:r>
          </a:p>
          <a:p>
            <a:pPr>
              <a:lnSpc>
                <a:spcPct val="100000"/>
              </a:lnSpc>
              <a:tabLst/>
            </a:pP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方法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endParaRPr lang="en-US" altLang="zh-CN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case1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np.where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np.greater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elev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2000)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&amp;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np.greater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awch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0.15),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1,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case2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np.where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np.less_equal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elev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2000)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&amp;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np.greater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awch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0.2),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1,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outData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case1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case2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方法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：</a:t>
            </a:r>
            <a:endParaRPr lang="en-US" altLang="zh-CN" sz="20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outData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np.where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np.greater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elev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2000),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np.where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np.greater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awch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0.15),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1,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0),</a:t>
            </a:r>
            <a:endParaRPr lang="en-US" altLang="zh-CN" sz="2000" dirty="0"/>
          </a:p>
          <a:p>
            <a:pPr marL="0" indent="0">
              <a:lnSpc>
                <a:spcPct val="100000"/>
              </a:lnSpc>
              <a:buNone/>
              <a:tabLst>
                <a:tab pos="342900" algn="l"/>
              </a:tabLst>
            </a:pP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np.where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np.greater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awch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0.2),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1,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0))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488414242"/>
      </p:ext>
    </p:extLst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结果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95775" y="5140608"/>
            <a:ext cx="10052922" cy="124442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结论：当需要进行逐个像素的判断操作是，</a:t>
            </a:r>
            <a:r>
              <a:rPr lang="zh-CN" altLang="en-US" b="1" dirty="0">
                <a:solidFill>
                  <a:srgbClr val="FF0000"/>
                </a:solidFill>
              </a:rPr>
              <a:t>采用</a:t>
            </a:r>
            <a:r>
              <a:rPr lang="en-US" altLang="zh-CN" b="1" dirty="0" err="1">
                <a:solidFill>
                  <a:srgbClr val="FF0000"/>
                </a:solidFill>
              </a:rPr>
              <a:t>numpy</a:t>
            </a:r>
            <a:r>
              <a:rPr lang="zh-CN" altLang="en-US" b="1" dirty="0">
                <a:solidFill>
                  <a:srgbClr val="FF0000"/>
                </a:solidFill>
              </a:rPr>
              <a:t>的内置函数比逐像素循环实现更快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graphicFrame>
        <p:nvGraphicFramePr>
          <p:cNvPr id="6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963590"/>
              </p:ext>
            </p:extLst>
          </p:nvPr>
        </p:nvGraphicFramePr>
        <p:xfrm>
          <a:off x="1637209" y="1543667"/>
          <a:ext cx="8229594" cy="3200906"/>
        </p:xfrm>
        <a:graphic>
          <a:graphicData uri="http://schemas.openxmlformats.org/drawingml/2006/table">
            <a:tbl>
              <a:tblPr/>
              <a:tblGrid>
                <a:gridCol w="1752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40841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Method</a:t>
                      </a:r>
                      <a:endParaRPr lang="zh-CN" altLang="en-US" sz="1799" b="1" dirty="0">
                        <a:solidFill>
                          <a:srgbClr val="FFFF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0" cmpd="sng">
                      <a:solidFill>
                        <a:srgbClr val="FFFFFF"/>
                      </a:solidFill>
                      <a:prstDash val="soli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mpd="sng">
                      <a:solidFill>
                        <a:srgbClr val="FFFFFF"/>
                      </a:solidFill>
                      <a:prstDash val="solid"/>
                    </a:lnT>
                    <a:lnB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MyoldPC</a:t>
                      </a:r>
                      <a:endParaRPr lang="zh-CN" altLang="en-US" sz="1799" b="1" dirty="0">
                        <a:solidFill>
                          <a:srgbClr val="FFFF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/>
                      <a:r>
                        <a:rPr lang="en-US" altLang="zh-CN" sz="1799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(Numeric)</a:t>
                      </a:r>
                      <a:endParaRPr lang="zh-CN" altLang="en-US" sz="1799" b="1" dirty="0">
                        <a:solidFill>
                          <a:srgbClr val="FFFF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Numericon</a:t>
                      </a:r>
                      <a:endParaRPr lang="zh-CN" altLang="en-US" sz="1799" b="1" dirty="0">
                        <a:solidFill>
                          <a:srgbClr val="FFFF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/>
                      <a:r>
                        <a:rPr lang="en-US" altLang="zh-CN" sz="1799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WindowsVM</a:t>
                      </a:r>
                      <a:endParaRPr lang="zh-CN" altLang="en-US" sz="1799" b="1" dirty="0">
                        <a:solidFill>
                          <a:srgbClr val="FFFF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Numpyon</a:t>
                      </a:r>
                      <a:endParaRPr lang="zh-CN" altLang="en-US" sz="1799" b="1" dirty="0">
                        <a:solidFill>
                          <a:srgbClr val="FFFF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/>
                      <a:r>
                        <a:rPr lang="en-US" altLang="zh-CN" sz="1799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WindowsVM</a:t>
                      </a:r>
                      <a:endParaRPr lang="zh-CN" altLang="en-US" sz="1799" b="1" dirty="0">
                        <a:solidFill>
                          <a:srgbClr val="FFFF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Numpyon</a:t>
                      </a:r>
                      <a:endParaRPr lang="zh-CN" altLang="en-US" sz="1799" b="1" dirty="0">
                        <a:solidFill>
                          <a:srgbClr val="FFFF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/>
                      <a:r>
                        <a:rPr lang="en-US" altLang="zh-CN" sz="1799" b="1" dirty="0">
                          <a:solidFill>
                            <a:srgbClr val="FFFFFF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Mac</a:t>
                      </a:r>
                      <a:endParaRPr lang="zh-CN" altLang="en-US" sz="1799" b="1" dirty="0">
                        <a:solidFill>
                          <a:srgbClr val="FFFFFF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mpd="sng">
                      <a:solidFill>
                        <a:srgbClr val="FFFFFF"/>
                      </a:solidFill>
                      <a:prstDash val="soli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9317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DEM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Pixelbypixel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28.4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6.5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7.5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12.9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DEM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Built-infunction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0.14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0.06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0.005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Tree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Pixelbypixel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n/a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39.9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49.3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77.1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Tree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Built-infunction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mpd="sng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n/a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1.5,1.6,1.3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0.7,0.7,0.7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799" dirty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0.4,0.4,0.4</a:t>
                      </a:r>
                      <a:endParaRPr lang="zh-CN" altLang="en-US" sz="1799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lnL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E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7916423"/>
      </p:ext>
    </p:extLst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移动窗口（邻域法）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214239"/>
            <a:ext cx="6903720" cy="514560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邻域的指示方法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3×3</a:t>
            </a:r>
            <a:r>
              <a:rPr lang="zh-CN" altLang="en-US" dirty="0"/>
              <a:t>窗口滑动平均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J=(E + F + G + I + J + K +M + N + O) / 9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out[</a:t>
            </a:r>
            <a:r>
              <a:rPr lang="en-US" altLang="zh-CN" dirty="0" err="1"/>
              <a:t>i,j</a:t>
            </a:r>
            <a:r>
              <a:rPr lang="en-US" altLang="zh-CN" dirty="0"/>
              <a:t>] = (in[i-1,j-1] + in[i-1,j] + in[i-1,j+1] + in[i,j-1] +in[</a:t>
            </a:r>
            <a:r>
              <a:rPr lang="en-US" altLang="zh-CN" dirty="0" err="1"/>
              <a:t>i,j</a:t>
            </a:r>
            <a:r>
              <a:rPr lang="en-US" altLang="zh-CN" dirty="0"/>
              <a:t>] + in[i,j+1] + in[i+1,j-1]+ in[i+1,j] + in[i+1,j+1]) / 9</a:t>
            </a:r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9244" y="1824692"/>
            <a:ext cx="3274116" cy="317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513338"/>
      </p:ext>
    </p:extLst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移动窗口（邻域法）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56360" y="1214239"/>
            <a:ext cx="10298561" cy="51456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对于</a:t>
            </a:r>
            <a:r>
              <a:rPr lang="en-US" altLang="zh-CN" dirty="0"/>
              <a:t>3×3</a:t>
            </a:r>
            <a:r>
              <a:rPr lang="zh-CN" altLang="en-US" dirty="0"/>
              <a:t>的窗口，输出会比输入少</a:t>
            </a:r>
            <a:r>
              <a:rPr lang="en-US" altLang="zh-CN" dirty="0"/>
              <a:t>2</a:t>
            </a:r>
            <a:r>
              <a:rPr lang="zh-CN" altLang="en-US" dirty="0"/>
              <a:t>行</a:t>
            </a:r>
            <a:r>
              <a:rPr lang="en-US" altLang="zh-CN" dirty="0"/>
              <a:t>2</a:t>
            </a:r>
            <a:r>
              <a:rPr lang="zh-CN" altLang="en-US" dirty="0"/>
              <a:t>列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将输出写入字节类型的波段，会遇到截断的问题（</a:t>
            </a:r>
            <a:r>
              <a:rPr lang="en-US" altLang="zh-CN" dirty="0"/>
              <a:t>86.7-&gt;87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当输出到整型类型的</a:t>
            </a:r>
            <a:r>
              <a:rPr lang="en-US" altLang="zh-CN" dirty="0"/>
              <a:t>output</a:t>
            </a:r>
            <a:r>
              <a:rPr lang="zh-CN" altLang="en-US" dirty="0"/>
              <a:t>时，平均值会截断到整型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79816"/>
            <a:ext cx="2709525" cy="243452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2918" y="2059366"/>
            <a:ext cx="8020554" cy="21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229100"/>
      </p:ext>
    </p:extLst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移动窗口（邻域法）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263" y="1892726"/>
            <a:ext cx="6972658" cy="200670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454" y="4942491"/>
            <a:ext cx="6831172" cy="181719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849664"/>
            <a:ext cx="10816721" cy="51456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显式舍入平均值（</a:t>
            </a:r>
            <a:r>
              <a:rPr lang="en-US" altLang="zh-CN" dirty="0"/>
              <a:t>86.7-&gt;87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在写入输出数据之前，平均值</a:t>
            </a:r>
            <a:r>
              <a:rPr lang="zh-CN" altLang="en-US" dirty="0">
                <a:solidFill>
                  <a:srgbClr val="FF0000"/>
                </a:solidFill>
              </a:rPr>
              <a:t>计算过程中</a:t>
            </a:r>
            <a:r>
              <a:rPr lang="zh-CN" altLang="en-US" dirty="0"/>
              <a:t>已经进行了截断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隐式舍入平均值（</a:t>
            </a:r>
            <a:r>
              <a:rPr lang="en-US" altLang="zh-CN" dirty="0"/>
              <a:t>86.7-&gt;87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在写入输入数据之前，平均值保持</a:t>
            </a:r>
            <a:r>
              <a:rPr lang="en-US" altLang="zh-CN" dirty="0"/>
              <a:t>float</a:t>
            </a:r>
            <a:r>
              <a:rPr lang="zh-CN" altLang="en-US" dirty="0"/>
              <a:t>类型直到</a:t>
            </a:r>
            <a:r>
              <a:rPr lang="zh-CN" altLang="en-US" dirty="0">
                <a:solidFill>
                  <a:srgbClr val="FF0000"/>
                </a:solidFill>
              </a:rPr>
              <a:t>写入输出数据时</a:t>
            </a:r>
            <a:r>
              <a:rPr lang="zh-CN" altLang="en-US" dirty="0"/>
              <a:t>才转变为字节类型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22404504"/>
      </p:ext>
    </p:extLst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64945"/>
            <a:ext cx="10515600" cy="77683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使用数组索引计算邻域平均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3117" y="1143294"/>
            <a:ext cx="5615151" cy="514560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b="1" dirty="0"/>
              <a:t>常见的舍入方式：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四舍五入</a:t>
            </a:r>
            <a:r>
              <a:rPr lang="zh-CN" altLang="en-US" dirty="0"/>
              <a:t>：当尾数小于 </a:t>
            </a:r>
            <a:r>
              <a:rPr lang="en-US" altLang="zh-CN" dirty="0"/>
              <a:t>5 </a:t>
            </a:r>
            <a:r>
              <a:rPr lang="zh-CN" altLang="en-US" dirty="0"/>
              <a:t>时舍去，尾数大于等于 </a:t>
            </a:r>
            <a:r>
              <a:rPr lang="en-US" altLang="zh-CN" dirty="0"/>
              <a:t>5 </a:t>
            </a:r>
            <a:r>
              <a:rPr lang="zh-CN" altLang="en-US" dirty="0"/>
              <a:t>时进位。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函数：</a:t>
            </a:r>
            <a:r>
              <a:rPr lang="en-US" altLang="zh-CN" dirty="0"/>
              <a:t>round(number, </a:t>
            </a:r>
            <a:r>
              <a:rPr lang="en-US" altLang="zh-CN" dirty="0" err="1"/>
              <a:t>ndigits</a:t>
            </a:r>
            <a:r>
              <a:rPr lang="en-US" altLang="zh-CN" dirty="0"/>
              <a:t>=None)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# </a:t>
            </a:r>
            <a:r>
              <a:rPr lang="zh-CN" altLang="en-US" dirty="0"/>
              <a:t>舍入为整数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num1 = 3.14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rounded_num1 = round(num1)   # </a:t>
            </a:r>
            <a:r>
              <a:rPr lang="zh-CN" altLang="en-US" dirty="0"/>
              <a:t>输出</a:t>
            </a:r>
            <a:r>
              <a:rPr lang="en-US" altLang="zh-CN" dirty="0"/>
              <a:t>: 3</a:t>
            </a:r>
            <a:r>
              <a:rPr lang="zh-CN" altLang="en-US" dirty="0"/>
              <a:t> 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# </a:t>
            </a:r>
            <a:r>
              <a:rPr lang="zh-CN" altLang="en-US" dirty="0"/>
              <a:t>保留两位小数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num2 = 2.71828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rounded_num2 = round(num2, 2)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# </a:t>
            </a:r>
            <a:r>
              <a:rPr lang="zh-CN" altLang="en-US" dirty="0"/>
              <a:t>输出</a:t>
            </a:r>
            <a:r>
              <a:rPr lang="en-US" altLang="zh-CN" dirty="0"/>
              <a:t>: 2.72</a:t>
            </a:r>
            <a:endParaRPr lang="en-US" altLang="zh-CN" b="1" dirty="0"/>
          </a:p>
          <a:p>
            <a:pPr marL="0" indent="0">
              <a:lnSpc>
                <a:spcPct val="120000"/>
              </a:lnSpc>
              <a:buNone/>
            </a:pP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6453352" y="1214239"/>
            <a:ext cx="5026572" cy="51456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1" dirty="0"/>
          </a:p>
          <a:p>
            <a:r>
              <a:rPr lang="zh-CN" altLang="en-US" sz="2000" b="1" dirty="0"/>
              <a:t>向上舍入</a:t>
            </a:r>
            <a:r>
              <a:rPr lang="zh-CN" altLang="en-US" sz="2000" dirty="0"/>
              <a:t>：将数值向上近似到最接近的整数或指定的精度。</a:t>
            </a:r>
          </a:p>
          <a:p>
            <a:r>
              <a:rPr lang="zh-CN" altLang="en-US" sz="2000" b="1" dirty="0"/>
              <a:t>向下舍入</a:t>
            </a:r>
            <a:r>
              <a:rPr lang="zh-CN" altLang="en-US" sz="2000" dirty="0"/>
              <a:t>：将数值向下近似到最接近的整数或指定的精度。</a:t>
            </a:r>
            <a:endParaRPr lang="en-US" altLang="zh-CN" sz="2000" dirty="0"/>
          </a:p>
          <a:p>
            <a:r>
              <a:rPr lang="zh-CN" altLang="en-US" sz="2000" dirty="0"/>
              <a:t>函数：</a:t>
            </a:r>
            <a:r>
              <a:rPr lang="en-US" altLang="zh-CN" sz="2000" dirty="0"/>
              <a:t>math</a:t>
            </a:r>
            <a:r>
              <a:rPr lang="zh-CN" altLang="en-US" sz="2000" dirty="0"/>
              <a:t>模块提供了</a:t>
            </a:r>
            <a:r>
              <a:rPr lang="en-US" altLang="zh-CN" sz="2000" dirty="0"/>
              <a:t>ceil(),</a:t>
            </a:r>
            <a:r>
              <a:rPr lang="zh-CN" altLang="en-US" sz="2000" dirty="0"/>
              <a:t>和</a:t>
            </a:r>
            <a:r>
              <a:rPr lang="en-US" altLang="zh-CN" sz="2000" dirty="0"/>
              <a:t>floor()</a:t>
            </a:r>
          </a:p>
          <a:p>
            <a:r>
              <a:rPr lang="en-US" altLang="zh-CN" sz="2000" dirty="0"/>
              <a:t>import math </a:t>
            </a:r>
          </a:p>
          <a:p>
            <a:r>
              <a:rPr lang="en-US" altLang="zh-CN" sz="2000" dirty="0"/>
              <a:t># </a:t>
            </a:r>
            <a:r>
              <a:rPr lang="zh-CN" altLang="en-US" sz="2000" dirty="0"/>
              <a:t>向上舍入</a:t>
            </a:r>
            <a:endParaRPr lang="en-US" altLang="zh-CN" sz="2000" dirty="0"/>
          </a:p>
          <a:p>
            <a:r>
              <a:rPr lang="en-US" altLang="zh-CN" sz="2000" dirty="0"/>
              <a:t>num3 = 3.2</a:t>
            </a:r>
          </a:p>
          <a:p>
            <a:r>
              <a:rPr lang="en-US" altLang="zh-CN" sz="2000" dirty="0" err="1"/>
              <a:t>ceiling_num</a:t>
            </a:r>
            <a:r>
              <a:rPr lang="en-US" altLang="zh-CN" sz="2000" dirty="0"/>
              <a:t> =</a:t>
            </a:r>
            <a:r>
              <a:rPr lang="en-US" altLang="zh-CN" sz="2000" dirty="0" err="1"/>
              <a:t>math.ceil</a:t>
            </a:r>
            <a:r>
              <a:rPr lang="en-US" altLang="zh-CN" sz="2000" dirty="0"/>
              <a:t>(num3) # </a:t>
            </a:r>
            <a:r>
              <a:rPr lang="zh-CN" altLang="en-US" sz="2000" dirty="0"/>
              <a:t>输出</a:t>
            </a:r>
            <a:r>
              <a:rPr lang="en-US" altLang="zh-CN" sz="2000" dirty="0"/>
              <a:t>: 4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r>
              <a:rPr lang="en-US" altLang="zh-CN" sz="2000" dirty="0"/>
              <a:t># </a:t>
            </a:r>
            <a:r>
              <a:rPr lang="zh-CN" altLang="en-US" sz="2000" dirty="0"/>
              <a:t>向下舍入</a:t>
            </a:r>
            <a:endParaRPr lang="en-US" altLang="zh-CN" sz="2000" dirty="0"/>
          </a:p>
          <a:p>
            <a:r>
              <a:rPr lang="en-US" altLang="zh-CN" sz="2000" dirty="0"/>
              <a:t>num4 = 3.8</a:t>
            </a:r>
          </a:p>
          <a:p>
            <a:r>
              <a:rPr lang="en-US" altLang="zh-CN" sz="2000" dirty="0" err="1"/>
              <a:t>floor_num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math.floor</a:t>
            </a:r>
            <a:r>
              <a:rPr lang="en-US" altLang="zh-CN" sz="2000" dirty="0"/>
              <a:t>(num4) # </a:t>
            </a:r>
            <a:r>
              <a:rPr lang="zh-CN" altLang="en-US" sz="2000" dirty="0"/>
              <a:t>输出</a:t>
            </a:r>
            <a:r>
              <a:rPr lang="en-US" altLang="zh-CN" sz="2000" dirty="0"/>
              <a:t>: 3</a:t>
            </a:r>
          </a:p>
          <a:p>
            <a:pPr>
              <a:lnSpc>
                <a:spcPct val="100000"/>
              </a:lnSpc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70507920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64945"/>
            <a:ext cx="10515600" cy="77683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使用数组索引计算邻域平均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4239"/>
            <a:ext cx="10816721" cy="51456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注意：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通过基本的切片和移动数组方式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在整个数组而不是逐像素级别进行计算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输出和所有输入切片必须有相同的维度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输出数组不能是比任何的输入数组更小的数据类型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26566739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使用数组索引计算邻域平均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56960" y="1844565"/>
            <a:ext cx="5497961" cy="451527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将对数组切片的引用替换为特定像素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例子中阴影区域为获得输出的值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蓝色阴影区域为将要参与计算的输入数组块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873" y="1031952"/>
            <a:ext cx="5640213" cy="13164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00" y="2530719"/>
            <a:ext cx="5496386" cy="3202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408115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使用数组索引计算邻域平均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432560"/>
            <a:ext cx="9966960" cy="456270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截断平均值（</a:t>
            </a:r>
            <a:r>
              <a:rPr lang="en-US" altLang="zh-CN" dirty="0"/>
              <a:t>86.7-&gt;87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由于输出是整型，在计算过程中必须保持所有变量为整型，例如不能除以</a:t>
            </a:r>
            <a:r>
              <a:rPr lang="en-US" altLang="zh-CN" dirty="0"/>
              <a:t>9.0</a:t>
            </a:r>
            <a:r>
              <a:rPr lang="zh-CN" altLang="en-US" dirty="0"/>
              <a:t>，要除以</a:t>
            </a:r>
            <a:r>
              <a:rPr lang="en-US" altLang="zh-CN" dirty="0"/>
              <a:t>9</a:t>
            </a:r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589" y="3454834"/>
            <a:ext cx="8452183" cy="2033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524355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使用数组索引计算邻域平均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849664"/>
            <a:ext cx="10088880" cy="51456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显式舍入平均值（</a:t>
            </a:r>
            <a:r>
              <a:rPr lang="en-US" altLang="zh-CN" dirty="0"/>
              <a:t>86.7-&gt;87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平均值四舍五入变回整型，写入输出数据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隐式舍入平均值（</a:t>
            </a:r>
            <a:r>
              <a:rPr lang="en-US" altLang="zh-CN" dirty="0"/>
              <a:t>86.7-&gt;87</a:t>
            </a:r>
            <a:r>
              <a:rPr lang="zh-CN" altLang="en-US" dirty="0"/>
              <a:t>）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在写入输入数据之前，平均值保持</a:t>
            </a:r>
            <a:r>
              <a:rPr lang="en-US" altLang="zh-CN" dirty="0"/>
              <a:t>float</a:t>
            </a:r>
            <a:r>
              <a:rPr lang="zh-CN" altLang="en-US" dirty="0"/>
              <a:t>类型直到写入输出数据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102" y="1896314"/>
            <a:ext cx="5988794" cy="170215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8735" y="4720492"/>
            <a:ext cx="7269072" cy="205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57571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结果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31176" y="5463648"/>
            <a:ext cx="9929648" cy="108977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结论：</a:t>
            </a:r>
            <a:r>
              <a:rPr lang="zh-CN" altLang="en-US" b="1" dirty="0">
                <a:solidFill>
                  <a:srgbClr val="FF0000"/>
                </a:solidFill>
              </a:rPr>
              <a:t>采用数据切片的方式更快，同时定义数组时进行截断计算速度最快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723" y="974041"/>
            <a:ext cx="7696126" cy="436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452129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采用滤波方式计算平均值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4239"/>
            <a:ext cx="10816721" cy="51456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为了计算</a:t>
            </a:r>
            <a:r>
              <a:rPr lang="en-US" altLang="zh-CN" dirty="0"/>
              <a:t>3×3</a:t>
            </a:r>
            <a:r>
              <a:rPr lang="zh-CN" altLang="en-US" dirty="0"/>
              <a:t>平均值，我们将每个像素相加，然后除以</a:t>
            </a:r>
            <a:r>
              <a:rPr lang="en-US" altLang="zh-CN" dirty="0"/>
              <a:t>9</a:t>
            </a:r>
          </a:p>
          <a:p>
            <a:pPr>
              <a:lnSpc>
                <a:spcPct val="100000"/>
              </a:lnSpc>
            </a:pPr>
            <a:r>
              <a:rPr lang="en-US" altLang="zh-CN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(p1+p2+p3+p4+p5+p6+p7+p8+p9)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9</a:t>
            </a:r>
          </a:p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1/9 =0.111, </a:t>
            </a:r>
            <a:r>
              <a:rPr lang="zh-CN" alt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就相当于 </a:t>
            </a:r>
            <a:r>
              <a:rPr lang="en-US" altLang="zh-CN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(p1+p2+p3+p4+p5+p6+p7+p8+p9)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*</a:t>
            </a:r>
            <a:r>
              <a:rPr lang="en-US" altLang="zh-CN" b="1" dirty="0">
                <a:latin typeface="Times New Roman" pitchFamily="18" charset="0"/>
                <a:cs typeface="Times New Roman" pitchFamily="18" charset="0"/>
              </a:rPr>
              <a:t>0.111</a:t>
            </a:r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也就相当于：</a:t>
            </a:r>
            <a:endParaRPr lang="en-US" altLang="zh-CN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1100957" y="3660562"/>
            <a:ext cx="932004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/>
            </a:pPr>
            <a:r>
              <a:rPr lang="en-US" altLang="zh-CN" sz="2800" b="1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0.111p1+0.111p2+0.111p3+0.111p4+0.111p5+0.111p6+0.111p7+0.111p8+0.111p9</a:t>
            </a:r>
          </a:p>
        </p:txBody>
      </p:sp>
    </p:spTree>
    <p:extLst>
      <p:ext uri="{BB962C8B-B14F-4D97-AF65-F5344CB8AC3E}">
        <p14:creationId xmlns:p14="http://schemas.microsoft.com/office/powerpoint/2010/main" val="1001332872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滤波方式计算平均值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4239"/>
            <a:ext cx="10816721" cy="51456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低通滤波（</a:t>
            </a:r>
            <a:r>
              <a:rPr lang="en-US" altLang="zh-CN" dirty="0">
                <a:solidFill>
                  <a:srgbClr val="FF0000"/>
                </a:solidFill>
              </a:rPr>
              <a:t>Low-pass filter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dirty="0"/>
              <a:t>1) </a:t>
            </a:r>
            <a:r>
              <a:rPr lang="zh-CN" altLang="en-US" dirty="0"/>
              <a:t>用于平滑数据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2) </a:t>
            </a:r>
            <a:r>
              <a:rPr lang="zh-CN" altLang="en-US" dirty="0"/>
              <a:t>每个像素都乘以相同的权重，与</a:t>
            </a:r>
            <a:r>
              <a:rPr lang="en-US" altLang="zh-CN" dirty="0"/>
              <a:t>3×3</a:t>
            </a:r>
            <a:r>
              <a:rPr lang="zh-CN" altLang="en-US" dirty="0"/>
              <a:t>求平均相同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高通滤波（</a:t>
            </a:r>
            <a:r>
              <a:rPr lang="en-US" altLang="zh-CN" dirty="0">
                <a:solidFill>
                  <a:srgbClr val="FF0000"/>
                </a:solidFill>
              </a:rPr>
              <a:t>High-pass filter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en-US" altLang="zh-CN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dirty="0"/>
              <a:t>1) </a:t>
            </a:r>
            <a:r>
              <a:rPr lang="zh-CN" altLang="en-US" dirty="0"/>
              <a:t>用于增强边界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2) </a:t>
            </a:r>
            <a:r>
              <a:rPr lang="zh-CN" altLang="en-US" dirty="0"/>
              <a:t>像素有不同的权重值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移动窗口的方法相当于采用了</a:t>
            </a:r>
            <a:r>
              <a:rPr lang="zh-CN" altLang="en-US" dirty="0">
                <a:solidFill>
                  <a:srgbClr val="0070C0"/>
                </a:solidFill>
              </a:rPr>
              <a:t>低通滤波</a:t>
            </a:r>
            <a:endParaRPr lang="en-US" altLang="zh-CN" dirty="0">
              <a:solidFill>
                <a:srgbClr val="0070C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1000" y="1214239"/>
            <a:ext cx="2617928" cy="185220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254" y="3530680"/>
            <a:ext cx="2641674" cy="1869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00605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72828"/>
            <a:ext cx="10515600" cy="776836"/>
          </a:xfrm>
        </p:spPr>
        <p:txBody>
          <a:bodyPr/>
          <a:lstStyle/>
          <a:p>
            <a:r>
              <a:rPr lang="zh-CN" altLang="en-US" b="1" dirty="0">
                <a:solidFill>
                  <a:schemeClr val="bg1"/>
                </a:solidFill>
              </a:rPr>
              <a:t>练习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4239"/>
            <a:ext cx="10816721" cy="51456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使用</a:t>
            </a:r>
            <a:r>
              <a:rPr lang="en-US" altLang="zh-CN" dirty="0"/>
              <a:t>3×3</a:t>
            </a:r>
            <a:r>
              <a:rPr lang="zh-CN" altLang="en-US" dirty="0"/>
              <a:t>高通滤波检测图像的波段</a:t>
            </a:r>
            <a:r>
              <a:rPr lang="en-US" altLang="zh-CN" dirty="0"/>
              <a:t>1</a:t>
            </a:r>
            <a:r>
              <a:rPr lang="zh-CN" altLang="en-US" dirty="0"/>
              <a:t>的边界，输出数据类型为</a:t>
            </a:r>
            <a:r>
              <a:rPr lang="en-US" altLang="zh-CN" dirty="0"/>
              <a:t>Float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1</a:t>
            </a:r>
            <a:r>
              <a:rPr lang="zh-CN" altLang="en-US" dirty="0"/>
              <a:t>）使用逐个像素指示方法（使用</a:t>
            </a:r>
            <a:r>
              <a:rPr lang="en-US" altLang="zh-CN" dirty="0" err="1"/>
              <a:t>smallaster.img</a:t>
            </a:r>
            <a:r>
              <a:rPr lang="en-US" altLang="zh-CN" dirty="0"/>
              <a:t> </a:t>
            </a:r>
            <a:r>
              <a:rPr lang="zh-CN" altLang="en-US" dirty="0"/>
              <a:t>）实现，输出图像到</a:t>
            </a:r>
            <a:r>
              <a:rPr lang="en-US" altLang="zh-CN" dirty="0"/>
              <a:t>output1.img</a:t>
            </a:r>
          </a:p>
          <a:p>
            <a:pPr>
              <a:lnSpc>
                <a:spcPct val="100000"/>
              </a:lnSpc>
            </a:pPr>
            <a:r>
              <a:rPr lang="en-US" altLang="zh-CN" dirty="0"/>
              <a:t>2</a:t>
            </a:r>
            <a:r>
              <a:rPr lang="zh-CN" altLang="en-US" dirty="0"/>
              <a:t>）使用数组块指示方法（使用</a:t>
            </a:r>
            <a:r>
              <a:rPr lang="en-US" altLang="zh-CN" dirty="0" err="1"/>
              <a:t>aster.img</a:t>
            </a:r>
            <a:r>
              <a:rPr lang="en-US" altLang="zh-CN" dirty="0"/>
              <a:t> </a:t>
            </a:r>
            <a:r>
              <a:rPr lang="zh-CN" altLang="en-US" dirty="0"/>
              <a:t>）实现，输出图像到</a:t>
            </a:r>
            <a:r>
              <a:rPr lang="en-US" altLang="zh-CN" dirty="0"/>
              <a:t>output2.img</a:t>
            </a:r>
          </a:p>
          <a:p>
            <a:pPr>
              <a:lnSpc>
                <a:spcPct val="100000"/>
              </a:lnSpc>
            </a:pPr>
            <a:r>
              <a:rPr lang="zh-CN" altLang="en-US" dirty="0"/>
              <a:t>比较两种方法的输出和效率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示例代码在</a:t>
            </a:r>
            <a:r>
              <a:rPr lang="en-US" altLang="zh-CN" dirty="0">
                <a:solidFill>
                  <a:srgbClr val="FF0000"/>
                </a:solidFill>
              </a:rPr>
              <a:t>Demo_Filter.txt</a:t>
            </a:r>
            <a:r>
              <a:rPr lang="zh-CN" altLang="en-US" dirty="0">
                <a:solidFill>
                  <a:srgbClr val="FF0000"/>
                </a:solidFill>
              </a:rPr>
              <a:t>，请补全关键部分实现以上要求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8080543"/>
      </p:ext>
    </p:extLst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71918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71918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71918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71918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71918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71918;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4276AA"/>
      </a:accent1>
      <a:accent2>
        <a:srgbClr val="178AA1"/>
      </a:accent2>
      <a:accent3>
        <a:srgbClr val="40A693"/>
      </a:accent3>
      <a:accent4>
        <a:srgbClr val="5268A5"/>
      </a:accent4>
      <a:accent5>
        <a:srgbClr val="5E5CA2"/>
      </a:accent5>
      <a:accent6>
        <a:srgbClr val="778495"/>
      </a:accent6>
      <a:hlink>
        <a:srgbClr val="4276AA"/>
      </a:hlink>
      <a:folHlink>
        <a:srgbClr val="BFBFBF"/>
      </a:folHlink>
    </a:clrScheme>
    <a:fontScheme name="umv3b5mn">
      <a:majorFont>
        <a:latin typeface="Arial"/>
        <a:ea typeface="等线"/>
        <a:cs typeface=""/>
      </a:majorFont>
      <a:minorFont>
        <a:latin typeface="Arial"/>
        <a:ea typeface="等线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ctr">
          <a:lnSpc>
            <a:spcPct val="150000"/>
          </a:lnSpc>
          <a:defRPr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4604</TotalTime>
  <Words>4307</Words>
  <Application>Microsoft Office PowerPoint</Application>
  <PresentationFormat>宽屏</PresentationFormat>
  <Paragraphs>447</Paragraphs>
  <Slides>37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37</vt:i4>
      </vt:variant>
    </vt:vector>
  </HeadingPairs>
  <TitlesOfParts>
    <vt:vector size="47" baseType="lpstr">
      <vt:lpstr>LMSans8-Regular-Identity-H</vt:lpstr>
      <vt:lpstr>YaHei_Monaco-R</vt:lpstr>
      <vt:lpstr>等线</vt:lpstr>
      <vt:lpstr>Microsoft YaHei</vt:lpstr>
      <vt:lpstr>Microsoft YaHei</vt:lpstr>
      <vt:lpstr>Arial</vt:lpstr>
      <vt:lpstr>Impact</vt:lpstr>
      <vt:lpstr>Times New Roman</vt:lpstr>
      <vt:lpstr>默认设计模板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Numpy数组属性</vt:lpstr>
      <vt:lpstr>ndarray数组的基本索引和切片</vt:lpstr>
      <vt:lpstr>ndarray数组的转置和轴对换</vt:lpstr>
      <vt:lpstr>Ndarray运算和通用函数</vt:lpstr>
      <vt:lpstr>Ndarray运算和通用函数</vt:lpstr>
      <vt:lpstr>numpy中的线性代数</vt:lpstr>
      <vt:lpstr>PowerPoint 演示文稿</vt:lpstr>
      <vt:lpstr>rasterio</vt:lpstr>
      <vt:lpstr>Rasterio的安装</vt:lpstr>
      <vt:lpstr>Rasterio的基本操作</vt:lpstr>
      <vt:lpstr>Rasterio的可视化操作</vt:lpstr>
      <vt:lpstr>Rasterio计算NDVI</vt:lpstr>
      <vt:lpstr>PowerPoint 演示文稿</vt:lpstr>
      <vt:lpstr>栅格数据投影</vt:lpstr>
      <vt:lpstr>对比一</vt:lpstr>
      <vt:lpstr>逐像素处理&amp;内置函数</vt:lpstr>
      <vt:lpstr>对比二</vt:lpstr>
      <vt:lpstr>逐像素处理</vt:lpstr>
      <vt:lpstr>内置函数处理</vt:lpstr>
      <vt:lpstr>结果</vt:lpstr>
      <vt:lpstr>移动窗口（邻域法）</vt:lpstr>
      <vt:lpstr>移动窗口（邻域法）</vt:lpstr>
      <vt:lpstr>移动窗口（邻域法）</vt:lpstr>
      <vt:lpstr>使用数组索引计算邻域平均</vt:lpstr>
      <vt:lpstr>使用数组索引计算邻域平均</vt:lpstr>
      <vt:lpstr>使用数组索引计算邻域平均</vt:lpstr>
      <vt:lpstr>使用数组索引计算邻域平均</vt:lpstr>
      <vt:lpstr>使用数组索引计算邻域平均</vt:lpstr>
      <vt:lpstr>结果</vt:lpstr>
      <vt:lpstr>采用滤波方式计算平均值</vt:lpstr>
      <vt:lpstr>滤波方式计算平均值</vt:lpstr>
      <vt:lpstr>练习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董娜</dc:creator>
  <cp:lastModifiedBy>娜 董</cp:lastModifiedBy>
  <cp:revision>129</cp:revision>
  <dcterms:created xsi:type="dcterms:W3CDTF">2021-07-19T14:43:53Z</dcterms:created>
  <dcterms:modified xsi:type="dcterms:W3CDTF">2026-10-10T05:24:39Z</dcterms:modified>
</cp:coreProperties>
</file>