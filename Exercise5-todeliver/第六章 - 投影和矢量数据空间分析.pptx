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49"/>
  </p:notesMasterIdLst>
  <p:sldIdLst>
    <p:sldId id="257" r:id="rId3"/>
    <p:sldId id="306" r:id="rId4"/>
    <p:sldId id="305" r:id="rId5"/>
    <p:sldId id="276" r:id="rId6"/>
    <p:sldId id="327" r:id="rId7"/>
    <p:sldId id="279" r:id="rId8"/>
    <p:sldId id="280" r:id="rId9"/>
    <p:sldId id="277" r:id="rId10"/>
    <p:sldId id="317" r:id="rId11"/>
    <p:sldId id="275" r:id="rId12"/>
    <p:sldId id="307" r:id="rId13"/>
    <p:sldId id="319" r:id="rId14"/>
    <p:sldId id="318" r:id="rId15"/>
    <p:sldId id="320" r:id="rId16"/>
    <p:sldId id="321" r:id="rId17"/>
    <p:sldId id="322" r:id="rId18"/>
    <p:sldId id="326" r:id="rId19"/>
    <p:sldId id="316" r:id="rId20"/>
    <p:sldId id="324" r:id="rId21"/>
    <p:sldId id="311" r:id="rId22"/>
    <p:sldId id="309" r:id="rId23"/>
    <p:sldId id="282" r:id="rId24"/>
    <p:sldId id="312" r:id="rId25"/>
    <p:sldId id="313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325" r:id="rId35"/>
    <p:sldId id="291" r:id="rId36"/>
    <p:sldId id="292" r:id="rId37"/>
    <p:sldId id="315" r:id="rId38"/>
    <p:sldId id="294" r:id="rId39"/>
    <p:sldId id="295" r:id="rId40"/>
    <p:sldId id="296" r:id="rId41"/>
    <p:sldId id="297" r:id="rId42"/>
    <p:sldId id="298" r:id="rId43"/>
    <p:sldId id="300" r:id="rId44"/>
    <p:sldId id="299" r:id="rId45"/>
    <p:sldId id="301" r:id="rId46"/>
    <p:sldId id="328" r:id="rId47"/>
    <p:sldId id="304" r:id="rId4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58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85134" autoAdjust="0"/>
  </p:normalViewPr>
  <p:slideViewPr>
    <p:cSldViewPr snapToGrid="0">
      <p:cViewPr varScale="1">
        <p:scale>
          <a:sx n="77" d="100"/>
          <a:sy n="77" d="100"/>
        </p:scale>
        <p:origin x="11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C430-894F-42D3-8C16-073B9F8886A9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C33C5-0F3E-445E-A9B0-160F9160C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18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gs.gov/products/maps/topo-map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osgeo.cn/index.html?p=10422" TargetMode="Externa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773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大地水准面是一个不规则曲面，在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GIS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中为了建模方便，一般使用规则的椭球体和基准面的概念。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一幅地图除了需要画出地物的形状，更重要的是要标识出地物的位置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GIS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数据的处理过程中，不可避免的要涉及到投影问题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对于测绘、地图制图和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GIS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工作者来说投影可谓是一切的基础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投影的正确与否将关系到最终结果正确与否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对于遥感影像，是否具有地图投影，也是区别遥感应用与地理信息应用的一个方面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大地水准面是假定海水处于“完全” 静止状态，将海水面延伸到大陆之下形成包围整个地球的连续表面；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大地水准面所包围的球体称为大地球体。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由于大地水准面上任何一点的铅垂线都与大地水准面成正交，而铅垂线的方向又受地球内部质量分布不均匀的影响而有微小变化，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导致大地水准而产生微小的起伏。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因此，大地球体仍然是一个表面起伏的不规则球体，还不能直接作为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投影的依据。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083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523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OsGeo</a:t>
            </a:r>
            <a:r>
              <a:rPr lang="zh-CN" altLang="en-US" dirty="0" smtClean="0"/>
              <a:t>开源地理空间项目</a:t>
            </a:r>
            <a:endParaRPr lang="en-US" altLang="zh-CN" dirty="0" smtClean="0"/>
          </a:p>
          <a:p>
            <a:r>
              <a:rPr lang="en-US" altLang="zh-CN" dirty="0" smtClean="0"/>
              <a:t>Proj.4</a:t>
            </a:r>
            <a:r>
              <a:rPr lang="zh-CN" altLang="en-US" dirty="0" smtClean="0"/>
              <a:t>不仅是一些应用程序的集合，更是一个库，可以被编程语言调用，从而进行更高级的开发和应用。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EPSG:3857 (Pseudo-Mercator)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伪墨卡托投影，也被称为球体墨卡托，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Mercator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。它是基于墨卡托投影的，把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WGS84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坐标系投影到正方形。我们前面已经知道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WGS84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是基于椭球体的，但是伪墨卡托投影把坐标投影到球体上，这导致两极的失真变大，但是却更容易计算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144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 smtClean="0"/>
              <a:t>OsGeo</a:t>
            </a:r>
            <a:r>
              <a:rPr lang="zh-CN" altLang="en-US" dirty="0" smtClean="0"/>
              <a:t>开源地理空间项目</a:t>
            </a:r>
            <a:endParaRPr lang="en-US" altLang="zh-CN" dirty="0" smtClean="0"/>
          </a:p>
          <a:p>
            <a:r>
              <a:rPr lang="en-US" altLang="zh-CN" dirty="0" smtClean="0"/>
              <a:t>Proj.4</a:t>
            </a:r>
            <a:r>
              <a:rPr lang="zh-CN" altLang="en-US" dirty="0" smtClean="0"/>
              <a:t>不仅是一些应用程序的集合，更是一个库，可以被编程语言调用，从而进行更高级的开发和应用。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581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—Python </a:t>
            </a:r>
            <a:r>
              <a:rPr lang="zh-CN" altLang="en-US" dirty="0" smtClean="0"/>
              <a:t>是一种代表简单主义思想的语言。关键字少，结构简单，语法清晰。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Python </a:t>
            </a:r>
            <a:r>
              <a:rPr lang="zh-CN" altLang="en-US" dirty="0" smtClean="0"/>
              <a:t>使用一种优雅的语法，可读性强</a:t>
            </a:r>
            <a:r>
              <a:rPr lang="en-US" altLang="zh-CN" dirty="0" smtClean="0"/>
              <a:t> “</a:t>
            </a:r>
            <a:r>
              <a:rPr lang="en-US" altLang="zh-CN" dirty="0" err="1" smtClean="0"/>
              <a:t>Pythonic</a:t>
            </a:r>
            <a:r>
              <a:rPr lang="en-US" altLang="zh-CN" dirty="0" smtClean="0"/>
              <a:t>”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为什么学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</a:p>
          <a:p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语言是科研工作应该掌握的第一语言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很多学术机构、组织在使用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有很多开放资源（</a:t>
            </a:r>
            <a:r>
              <a:rPr lang="en-US" altLang="zh-CN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Github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带来的丰富的第三方包支持，不需要自己再重复造轮子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通过信息技术，建立自己的工具链</a:t>
            </a:r>
          </a:p>
          <a:p>
            <a:r>
              <a:rPr lang="zh-CN" altLang="en-US" sz="1200" b="0" i="1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语言可以影响思维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>batteries included </a:t>
            </a:r>
            <a:r>
              <a:rPr lang="zh-CN" altLang="en-US" dirty="0" smtClean="0"/>
              <a:t>指这个语言的官方发行版自带了相当齐全的软件库，拿来就可以直接写程序，一般不需要再去安装额外的库</a:t>
            </a:r>
            <a:endParaRPr lang="en-US" altLang="zh-CN" dirty="0" smtClean="0"/>
          </a:p>
          <a:p>
            <a:r>
              <a:rPr lang="zh-CN" altLang="en-US" dirty="0" smtClean="0"/>
              <a:t>类似买一个电动玩具自带了电池一样，拆开后简单装配即可使用。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8304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01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5678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700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008000"/>
                </a:solidFill>
              </a:rPr>
              <a:t>ArcGIS </a:t>
            </a:r>
            <a:r>
              <a:rPr lang="zh-CN" altLang="en-US" dirty="0" smtClean="0">
                <a:solidFill>
                  <a:srgbClr val="008000"/>
                </a:solidFill>
              </a:rPr>
              <a:t>自带</a:t>
            </a:r>
            <a:r>
              <a:rPr lang="en-US" altLang="zh-CN" dirty="0" smtClean="0">
                <a:solidFill>
                  <a:srgbClr val="008000"/>
                </a:solidFill>
              </a:rPr>
              <a:t>Python </a:t>
            </a:r>
            <a:r>
              <a:rPr lang="zh-CN" altLang="en-US" dirty="0" smtClean="0">
                <a:solidFill>
                  <a:srgbClr val="008000"/>
                </a:solidFill>
              </a:rPr>
              <a:t>环境</a:t>
            </a:r>
            <a:endParaRPr lang="en-US" altLang="zh-CN" dirty="0" smtClean="0">
              <a:solidFill>
                <a:srgbClr val="008000"/>
              </a:solidFill>
            </a:endParaRPr>
          </a:p>
          <a:p>
            <a:r>
              <a:rPr lang="zh-CN" altLang="en-US" dirty="0" smtClean="0"/>
              <a:t>一般不要安装其他版本</a:t>
            </a:r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sv-SE" altLang="zh-CN" dirty="0" smtClean="0">
                <a:solidFill>
                  <a:srgbClr val="C00000"/>
                </a:solidFill>
              </a:rPr>
              <a:t>Python 2 </a:t>
            </a:r>
            <a:r>
              <a:rPr lang="zh-CN" altLang="sv-SE" dirty="0" smtClean="0">
                <a:solidFill>
                  <a:srgbClr val="C00000"/>
                </a:solidFill>
              </a:rPr>
              <a:t>与</a:t>
            </a:r>
            <a:r>
              <a:rPr lang="sv-SE" altLang="zh-CN" dirty="0" smtClean="0">
                <a:solidFill>
                  <a:srgbClr val="C00000"/>
                </a:solidFill>
              </a:rPr>
              <a:t>Python 3</a:t>
            </a:r>
          </a:p>
          <a:p>
            <a:r>
              <a:rPr lang="zh-CN" altLang="en-US" i="1" dirty="0" smtClean="0"/>
              <a:t> </a:t>
            </a:r>
            <a:r>
              <a:rPr lang="zh-CN" altLang="en-US" dirty="0" smtClean="0"/>
              <a:t>不能完全兼容</a:t>
            </a:r>
          </a:p>
          <a:p>
            <a:r>
              <a:rPr lang="zh-CN" altLang="en-US" i="1" dirty="0" smtClean="0"/>
              <a:t> </a:t>
            </a:r>
            <a:r>
              <a:rPr lang="zh-CN" altLang="en-US" dirty="0" smtClean="0"/>
              <a:t>科学研究、数据分析、</a:t>
            </a:r>
            <a:r>
              <a:rPr lang="en-US" altLang="zh-CN" dirty="0" smtClean="0"/>
              <a:t>GIS </a:t>
            </a:r>
            <a:r>
              <a:rPr lang="zh-CN" altLang="en-US" dirty="0" smtClean="0"/>
              <a:t>应用，建议使用</a:t>
            </a:r>
            <a:r>
              <a:rPr lang="en-US" altLang="zh-CN" dirty="0" smtClean="0"/>
              <a:t>Python 2</a:t>
            </a:r>
          </a:p>
          <a:p>
            <a:r>
              <a:rPr lang="zh-CN" altLang="en-US" i="1" dirty="0" smtClean="0"/>
              <a:t> </a:t>
            </a:r>
            <a:r>
              <a:rPr lang="zh-CN" altLang="en-US" dirty="0" smtClean="0"/>
              <a:t>尽量使用</a:t>
            </a:r>
            <a:r>
              <a:rPr lang="en-US" altLang="zh-CN" dirty="0" smtClean="0"/>
              <a:t>Python 3 </a:t>
            </a:r>
            <a:r>
              <a:rPr lang="zh-CN" altLang="en-US" dirty="0" smtClean="0"/>
              <a:t>的兼容性写法</a:t>
            </a:r>
            <a:endParaRPr lang="en-US" altLang="zh-CN" dirty="0" smtClean="0"/>
          </a:p>
          <a:p>
            <a:r>
              <a:rPr lang="en-US" altLang="zh-CN" dirty="0" smtClean="0"/>
              <a:t>Python2.*</a:t>
            </a:r>
            <a:r>
              <a:rPr lang="zh-CN" altLang="en-US" dirty="0" smtClean="0"/>
              <a:t>在</a:t>
            </a:r>
            <a:r>
              <a:rPr lang="en-US" altLang="zh-CN" dirty="0" smtClean="0"/>
              <a:t>2020</a:t>
            </a:r>
            <a:r>
              <a:rPr lang="zh-CN" altLang="en-US" dirty="0" smtClean="0"/>
              <a:t>年初已经停止维护了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865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302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代表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年的北美基准。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是对长基线调查的调整。总的来说，它在北美建立了一个标准化水平位置网络。最具历史意义 </a:t>
            </a:r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USGS topographic maps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美国陆军工程兵团的项目使用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作为参考系统。</a:t>
            </a:r>
            <a:endParaRPr lang="en-US" altLang="zh-CN" dirty="0" smtClean="0"/>
          </a:p>
          <a:p>
            <a:r>
              <a:rPr lang="en-US" altLang="zh-CN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North American Datum of 1983 (NAD 83)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是北美使用的最新数据。它使用参考椭球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GRS80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提供纬度、经度和一些高度信息。像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年北美基准（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NAD83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）这样的大地基准构成了加拿大和美国所有水平位置坐标的基础。这个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1983</a:t>
            </a:r>
            <a:r>
              <a:rPr lang="zh-CN" alt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年北美基准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（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 83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）是一个统一的水平或几何基准，是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的继承者，为加拿大和美国提供了空间参考。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NAD83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通过使用来自地面和多普勒卫星数据的更敏感的位置集，纠正了距离上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的一些扭曲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WGS84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GPS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统一全球椭球体模型</a:t>
            </a: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由于全球定位系统提供的全球测量数据，我们以前从未能够如此精确地估计椭球体。它由参考椭球体、标准坐标系、高程数据和大地水准面组成。与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NAD83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类似，它使用地球的中心质量作为坐标原点。误差被认为是小于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厘米的中心质量。</a:t>
            </a: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57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03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EPSG2927 NAD83(HARN) / Washington South (</a:t>
            </a:r>
            <a:r>
              <a:rPr lang="en-US" altLang="zh-CN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ftUS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投影坐标系统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5766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769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218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952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0907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037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0004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2099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1507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35781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6039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4611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2089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在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Shapely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中，标准的二元谓词通过</a:t>
            </a:r>
            <a:r>
              <a:rPr lang="en-US" altLang="zh-CN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</a:t>
            </a:r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的实现方法。这些谓词评估拓扑与集合论之间的关系。在少数情况下，结果可能不是人们从不同</a:t>
            </a:r>
          </a:p>
          <a:p>
            <a:r>
              <a:rPr lang="zh-CN" alt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假设中预期的那样。所有二元谓词（方法）将另一个几何对象作为参数，且返回为真或为假</a:t>
            </a:r>
            <a:endParaRPr lang="en-US" altLang="zh-CN" sz="1200" b="0" i="0" u="none" strike="noStrike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zh-CN" sz="1200" dirty="0" err="1" smtClean="0"/>
              <a:t>object.is_ccw</a:t>
            </a:r>
            <a:r>
              <a:rPr lang="en-US" altLang="zh-CN" sz="1200" dirty="0" smtClean="0"/>
              <a:t> </a:t>
            </a:r>
            <a:r>
              <a:rPr lang="zh-CN" altLang="en-US" sz="1200" dirty="0" smtClean="0"/>
              <a:t>是否是逆时针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3029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1547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1778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133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7344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5750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3735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65510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60237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69894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81070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756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91854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44098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8132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3C33C5-0F3E-445E-A9B0-160F9160CA7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882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3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1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3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1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9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7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7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5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66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3"/>
            </a:lvl2pPr>
            <a:lvl3pPr marL="685783" indent="0">
              <a:buNone/>
              <a:defRPr sz="900"/>
            </a:lvl3pPr>
            <a:lvl4pPr marL="1028674" indent="0">
              <a:buNone/>
              <a:defRPr sz="753"/>
            </a:lvl4pPr>
            <a:lvl5pPr marL="1371566" indent="0">
              <a:buNone/>
              <a:defRPr sz="753"/>
            </a:lvl5pPr>
            <a:lvl6pPr marL="1714457" indent="0">
              <a:buNone/>
              <a:defRPr sz="753"/>
            </a:lvl6pPr>
            <a:lvl7pPr marL="2057349" indent="0">
              <a:buNone/>
              <a:defRPr sz="753"/>
            </a:lvl7pPr>
            <a:lvl8pPr marL="2400240" indent="0">
              <a:buNone/>
              <a:defRPr sz="753"/>
            </a:lvl8pPr>
            <a:lvl9pPr marL="2743131" indent="0">
              <a:buNone/>
              <a:defRPr sz="7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7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891" indent="0">
              <a:buNone/>
              <a:defRPr sz="1353"/>
            </a:lvl2pPr>
            <a:lvl3pPr marL="685783" indent="0">
              <a:buNone/>
              <a:defRPr sz="1200"/>
            </a:lvl3pPr>
            <a:lvl4pPr marL="1028674" indent="0">
              <a:buNone/>
              <a:defRPr sz="1053"/>
            </a:lvl4pPr>
            <a:lvl5pPr marL="1371566" indent="0">
              <a:buNone/>
              <a:defRPr sz="1053"/>
            </a:lvl5pPr>
            <a:lvl6pPr marL="1714457" indent="0">
              <a:buNone/>
              <a:defRPr sz="1053"/>
            </a:lvl6pPr>
            <a:lvl7pPr marL="2057349" indent="0">
              <a:buNone/>
              <a:defRPr sz="1053"/>
            </a:lvl7pPr>
            <a:lvl8pPr marL="2400240" indent="0">
              <a:buNone/>
              <a:defRPr sz="1053"/>
            </a:lvl8pPr>
            <a:lvl9pPr marL="2743131" indent="0">
              <a:buNone/>
              <a:defRPr sz="10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9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40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8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0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FA0558-CA62-4D91-8F6C-F489DB76540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860912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17694C-3D4D-4953-9445-362C8CEA373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4948" y="-7982"/>
            <a:ext cx="12192000" cy="863689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270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9D961-437F-401F-B16E-BDE8894DB2E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62635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C75184-7F82-46C7-8239-96CEF9BBA8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29284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9D0AF-35F2-48A3-A662-D2FC8BD1C4F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11" name="矩形 10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754392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D7F696-4055-43A7-BE65-94FC5C35372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7" name="矩形 6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841845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A19FCB-2E0D-4422-B8FA-F92E299B686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6" name="矩形 5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16033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E0852-CA4C-4F15-90AC-8A82F656E17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6373054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B2B1AD-C4DA-46F7-83EF-6591A3CFF03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792931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6873A-4751-4F25-81CF-773CD233D7D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65981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C80336-C3CE-4067-A076-C598A13B532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09253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4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lvl="0" indent="0" algn="ctr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891" lvl="0" indent="-342891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3355" lvl="1" indent="-286166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2971" lvl="2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160" lvl="3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349" lvl="4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lvl="5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726" lvl="6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8914" lvl="7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103" lvl="8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lvl="1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377" lvl="2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566" lvl="3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754" lvl="4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5943" lvl="5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131" lvl="6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320" lvl="7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509" lvl="8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11B6F-EF2D-465A-830E-49C93EBC700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2025/10/14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94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 spd="slow"/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fd.uci.edu/~gohlke/pythonlibs/#gda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lfd.uci.edu/~gohlke/pythonlibs/#pyproj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psg.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fd.uci.edu/~gohlke/pythonlibs/#gda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png"/><Relationship Id="rId4" Type="http://schemas.openxmlformats.org/officeDocument/2006/relationships/hyperlink" Target="https://www.lfd.uci.edu/~gohlke/pythonlibs/#shapely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sgeo.cn/shapely/manual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772156"/>
            <a:ext cx="12187054" cy="1794243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4B24D44-5A02-4BF7-9F07-D6538C4E4CFB}"/>
              </a:ext>
            </a:extLst>
          </p:cNvPr>
          <p:cNvSpPr txBox="1"/>
          <p:nvPr/>
        </p:nvSpPr>
        <p:spPr>
          <a:xfrm>
            <a:off x="927961" y="1938312"/>
            <a:ext cx="10375821" cy="119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5400" b="1" kern="1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地图投影和矢量数据空间分析</a:t>
            </a:r>
            <a:endParaRPr lang="en-US" altLang="zh-CN" sz="5400" b="1" kern="1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EF9987-8C74-42DD-8457-C4BEA5DE63AA}"/>
              </a:ext>
            </a:extLst>
          </p:cNvPr>
          <p:cNvSpPr txBox="1"/>
          <p:nvPr/>
        </p:nvSpPr>
        <p:spPr>
          <a:xfrm>
            <a:off x="5020888" y="5782144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5E18C867-1F19-1E4D-8B9B-98AA283D003A}" type="datetime1">
              <a:rPr lang="zh-CN" altLang="en-US" sz="28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2025/10/14</a:t>
            </a:fld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649118" y="4003198"/>
            <a:ext cx="8888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kern="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董娜 </a:t>
            </a:r>
            <a:r>
              <a:rPr lang="zh-CN" altLang="en-US" sz="2800" kern="1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kern="100" dirty="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2800" u="sng" kern="1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dongn6@mail.sysu.edu.cn</a:t>
            </a:r>
            <a:endParaRPr lang="zh-CN" altLang="en-US" sz="28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509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地图投影</a:t>
            </a:r>
            <a:r>
              <a:rPr lang="en-US" altLang="zh-CN" dirty="0" err="1" smtClean="0"/>
              <a:t>pyproj</a:t>
            </a:r>
            <a:r>
              <a:rPr lang="zh-CN" altLang="en-US" dirty="0" smtClean="0"/>
              <a:t>的基本操作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2</a:t>
            </a:r>
            <a:r>
              <a:rPr lang="en-US" altLang="zh-CN" dirty="0" smtClean="0"/>
              <a:t>. Shapely</a:t>
            </a:r>
            <a:r>
              <a:rPr lang="zh-CN" altLang="en-US" dirty="0" smtClean="0"/>
              <a:t>空间分析基本操作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3. Shapely</a:t>
            </a:r>
            <a:r>
              <a:rPr lang="zh-CN" altLang="en-US" dirty="0" smtClean="0"/>
              <a:t>空间分析实例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81388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地图投影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5880"/>
            <a:ext cx="10730502" cy="529437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dirty="0" smtClean="0"/>
              <a:t>大地水准面：地面高程的依据水准面，是对地球形状的一个抽象、简化的表达。</a:t>
            </a:r>
            <a:endParaRPr lang="en-US" altLang="zh-CN" sz="2600" dirty="0" smtClean="0"/>
          </a:p>
          <a:p>
            <a:pPr>
              <a:lnSpc>
                <a:spcPct val="110000"/>
              </a:lnSpc>
            </a:pPr>
            <a:r>
              <a:rPr lang="zh-CN" altLang="en-US" sz="2600" dirty="0" smtClean="0"/>
              <a:t>地球椭球体：</a:t>
            </a:r>
            <a:r>
              <a:rPr lang="zh-CN" altLang="en-US" sz="2600" dirty="0"/>
              <a:t>为了描述和表达地球表面，必须选择一个与地球形状、大小相</a:t>
            </a:r>
            <a:r>
              <a:rPr lang="zh-CN" altLang="en-US" sz="2600" dirty="0" smtClean="0"/>
              <a:t>接近的</a:t>
            </a:r>
            <a:r>
              <a:rPr lang="zh-CN" altLang="en-US" sz="2600" dirty="0"/>
              <a:t>椭球体来近似代替它。所以在测量和制图中就用旋转椭球来</a:t>
            </a:r>
            <a:r>
              <a:rPr lang="zh-CN" altLang="en-US" sz="2600" dirty="0" smtClean="0"/>
              <a:t>代替大</a:t>
            </a:r>
            <a:r>
              <a:rPr lang="zh-CN" altLang="en-US" sz="2600" dirty="0"/>
              <a:t>地球体，这个旋转球体</a:t>
            </a:r>
            <a:r>
              <a:rPr lang="zh-CN" altLang="en-US" sz="2600" dirty="0" smtClean="0"/>
              <a:t>通常</a:t>
            </a:r>
            <a:r>
              <a:rPr lang="zh-CN" altLang="en-US" sz="2600" dirty="0"/>
              <a:t>称为</a:t>
            </a:r>
            <a:r>
              <a:rPr lang="zh-CN" altLang="en-US" sz="2600" dirty="0" smtClean="0"/>
              <a:t>地球椭球体。</a:t>
            </a:r>
            <a:endParaRPr lang="en-US" altLang="zh-CN" sz="2600" dirty="0"/>
          </a:p>
          <a:p>
            <a:pPr>
              <a:lnSpc>
                <a:spcPct val="110000"/>
              </a:lnSpc>
            </a:pPr>
            <a:r>
              <a:rPr lang="zh-CN" altLang="en-US" sz="2600" dirty="0"/>
              <a:t>地球椭球的两个主要参数为长轴半径</a:t>
            </a:r>
            <a:r>
              <a:rPr lang="en-US" altLang="zh-CN" sz="2600" i="1" dirty="0"/>
              <a:t>a</a:t>
            </a:r>
            <a:r>
              <a:rPr lang="zh-CN" altLang="en-US" sz="2600" dirty="0"/>
              <a:t>、短轴半径</a:t>
            </a:r>
            <a:r>
              <a:rPr lang="en-US" altLang="zh-CN" sz="2600" i="1" dirty="0"/>
              <a:t>b</a:t>
            </a:r>
            <a:r>
              <a:rPr lang="zh-CN" altLang="en-US" sz="2600" dirty="0"/>
              <a:t>，以及三个派生</a:t>
            </a:r>
            <a:r>
              <a:rPr lang="zh-CN" altLang="en-US" sz="2600" dirty="0" smtClean="0"/>
              <a:t>参数</a:t>
            </a:r>
            <a:r>
              <a:rPr lang="zh-CN" altLang="en-US" sz="2600" dirty="0"/>
              <a:t>：椭圆的</a:t>
            </a:r>
            <a:r>
              <a:rPr lang="zh-CN" altLang="en-US" sz="2600" dirty="0" smtClean="0"/>
              <a:t>扁率，</a:t>
            </a:r>
            <a:r>
              <a:rPr lang="zh-CN" altLang="en-US" sz="2600" dirty="0"/>
              <a:t>第一</a:t>
            </a:r>
            <a:r>
              <a:rPr lang="zh-CN" altLang="en-US" sz="2600" dirty="0" smtClean="0"/>
              <a:t>偏心率，</a:t>
            </a:r>
            <a:r>
              <a:rPr lang="zh-CN" altLang="en-US" sz="2600" dirty="0"/>
              <a:t>第二</a:t>
            </a:r>
            <a:r>
              <a:rPr lang="zh-CN" altLang="en-US" sz="2600" dirty="0" smtClean="0"/>
              <a:t>偏心率。</a:t>
            </a:r>
            <a:endParaRPr lang="en-US" altLang="zh-CN" sz="2600" dirty="0" smtClean="0"/>
          </a:p>
          <a:p>
            <a:pPr>
              <a:lnSpc>
                <a:spcPct val="110000"/>
              </a:lnSpc>
            </a:pPr>
            <a:r>
              <a:rPr lang="zh-CN" altLang="en-US" sz="2600" dirty="0" smtClean="0"/>
              <a:t>大地基准面：每个国家</a:t>
            </a:r>
            <a:r>
              <a:rPr lang="zh-CN" altLang="en-US" sz="2600" dirty="0"/>
              <a:t>甚至区域都有自己的基准面。例如我们通常说的</a:t>
            </a:r>
            <a:r>
              <a:rPr lang="zh-CN" altLang="en-US" sz="2600" dirty="0" smtClean="0"/>
              <a:t>北京</a:t>
            </a:r>
            <a:r>
              <a:rPr lang="en-US" altLang="zh-CN" sz="2600" dirty="0" smtClean="0"/>
              <a:t>54 </a:t>
            </a:r>
            <a:r>
              <a:rPr lang="zh-CN" altLang="en-US" sz="2600" dirty="0"/>
              <a:t>和西安</a:t>
            </a:r>
            <a:r>
              <a:rPr lang="en-US" altLang="zh-CN" sz="2600" dirty="0"/>
              <a:t>80 </a:t>
            </a:r>
            <a:r>
              <a:rPr lang="zh-CN" altLang="en-US" sz="2600" dirty="0"/>
              <a:t>指的就是基准面</a:t>
            </a:r>
            <a:r>
              <a:rPr lang="zh-CN" altLang="en-US" sz="2600" dirty="0" smtClean="0"/>
              <a:t>。</a:t>
            </a:r>
            <a:r>
              <a:rPr lang="en-US" altLang="zh-CN" sz="2600" dirty="0"/>
              <a:t>GIS </a:t>
            </a:r>
            <a:r>
              <a:rPr lang="zh-CN" altLang="en-US" sz="2600" dirty="0"/>
              <a:t>中的基准面通过当地基准面向</a:t>
            </a:r>
            <a:r>
              <a:rPr lang="en-US" altLang="zh-CN" sz="2600" dirty="0"/>
              <a:t>WGS1984 </a:t>
            </a:r>
            <a:r>
              <a:rPr lang="zh-CN" altLang="en-US" sz="2600" dirty="0"/>
              <a:t>的转换</a:t>
            </a:r>
            <a:r>
              <a:rPr lang="en-US" altLang="zh-CN" sz="2600" dirty="0"/>
              <a:t>7 </a:t>
            </a:r>
            <a:r>
              <a:rPr lang="zh-CN" altLang="en-US" sz="2600" dirty="0"/>
              <a:t>参数来定义</a:t>
            </a:r>
            <a:r>
              <a:rPr lang="zh-CN" altLang="en-US" sz="2600" dirty="0" smtClean="0"/>
              <a:t>，转换</a:t>
            </a:r>
            <a:r>
              <a:rPr lang="zh-CN" altLang="en-US" sz="2600" dirty="0"/>
              <a:t>通过相似变换方法</a:t>
            </a:r>
            <a:r>
              <a:rPr lang="zh-CN" altLang="en-US" sz="2600" dirty="0" smtClean="0"/>
              <a:t>实现。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39257814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地球椭球体参数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1733"/>
            <a:ext cx="10666071" cy="553212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 smtClean="0"/>
              <a:t>下表是</a:t>
            </a:r>
            <a:r>
              <a:rPr lang="zh-CN" altLang="en-US" sz="2400" dirty="0"/>
              <a:t>我国建国后使用的地球椭球体</a:t>
            </a:r>
            <a:r>
              <a:rPr lang="zh-CN" altLang="en-US" sz="2400" dirty="0" smtClean="0"/>
              <a:t>参数。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目前，普遍采用</a:t>
            </a:r>
            <a:r>
              <a:rPr lang="zh-CN" altLang="en-US" sz="2400" dirty="0" smtClean="0">
                <a:solidFill>
                  <a:srgbClr val="FF0000"/>
                </a:solidFill>
              </a:rPr>
              <a:t>欧洲</a:t>
            </a:r>
            <a:r>
              <a:rPr lang="zh-CN" altLang="en-US" sz="2400" dirty="0">
                <a:solidFill>
                  <a:srgbClr val="FF0000"/>
                </a:solidFill>
              </a:rPr>
              <a:t>石油测绘组 </a:t>
            </a:r>
            <a:r>
              <a:rPr lang="en-US" altLang="zh-CN" sz="2400" dirty="0">
                <a:solidFill>
                  <a:srgbClr val="FF0000"/>
                </a:solidFill>
              </a:rPr>
              <a:t>(EPSG) </a:t>
            </a:r>
            <a:r>
              <a:rPr lang="zh-CN" altLang="en-US" sz="2400" dirty="0">
                <a:solidFill>
                  <a:srgbClr val="FF0000"/>
                </a:solidFill>
              </a:rPr>
              <a:t>定义</a:t>
            </a:r>
            <a:r>
              <a:rPr lang="zh-CN" altLang="en-US" sz="2400" dirty="0" smtClean="0">
                <a:solidFill>
                  <a:srgbClr val="FF0000"/>
                </a:solidFill>
              </a:rPr>
              <a:t>的空间参考标志符</a:t>
            </a:r>
            <a:r>
              <a:rPr lang="zh-CN" altLang="en-US" sz="2400" dirty="0" smtClean="0"/>
              <a:t>来唯一标识不同的坐标参考系统（</a:t>
            </a:r>
            <a:r>
              <a:rPr lang="en-US" altLang="zh-CN" sz="2400" dirty="0" smtClean="0"/>
              <a:t>CRS</a:t>
            </a:r>
            <a:r>
              <a:rPr lang="zh-CN" altLang="en-US" sz="2400" dirty="0" smtClean="0"/>
              <a:t>），包括地理坐标和投影坐标系统。</a:t>
            </a:r>
            <a:endParaRPr lang="en-US" altLang="zh-CN" sz="2400" dirty="0" smtClean="0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92" y="1893102"/>
            <a:ext cx="6229350" cy="336721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r="14067"/>
          <a:stretch/>
        </p:blipFill>
        <p:spPr>
          <a:xfrm>
            <a:off x="6369175" y="1975694"/>
            <a:ext cx="5681311" cy="328462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515100" y="3461657"/>
            <a:ext cx="5412921" cy="310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44235" y="4152900"/>
            <a:ext cx="6085115" cy="5170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878224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表示地图投影的方法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968" y="1112445"/>
            <a:ext cx="10933167" cy="530016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 smtClean="0"/>
              <a:t>Well Known Text(WKT): </a:t>
            </a:r>
            <a:r>
              <a:rPr lang="en-US" altLang="zh-CN" sz="2400" dirty="0" err="1" smtClean="0"/>
              <a:t>OpenGIS</a:t>
            </a:r>
            <a:r>
              <a:rPr lang="zh-CN" altLang="en-US" sz="2400" dirty="0" smtClean="0"/>
              <a:t>定义的文本格式描述坐标系统，是</a:t>
            </a:r>
            <a:r>
              <a:rPr lang="en-US" altLang="zh-CN" sz="2400" dirty="0" smtClean="0"/>
              <a:t>GDAL</a:t>
            </a:r>
            <a:r>
              <a:rPr lang="zh-CN" altLang="en-US" sz="2400" dirty="0" smtClean="0"/>
              <a:t>中使用的坐标系统的内部工作格式。常用 </a:t>
            </a:r>
            <a:r>
              <a:rPr lang="en-US" altLang="zh-CN" sz="2400" dirty="0" err="1" smtClean="0"/>
              <a:t>ExportToWkt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实现。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en-US" altLang="zh-CN" sz="2400" dirty="0" smtClean="0"/>
              <a:t>Proj.4</a:t>
            </a:r>
            <a:r>
              <a:rPr lang="zh-CN" altLang="en-US" sz="2400" dirty="0" smtClean="0"/>
              <a:t>：它所表示的字符串</a:t>
            </a:r>
            <a:r>
              <a:rPr lang="zh-CN" altLang="en-US" sz="2400" dirty="0"/>
              <a:t>定义</a:t>
            </a:r>
            <a:r>
              <a:rPr lang="zh-CN" altLang="en-US" sz="2400" dirty="0" smtClean="0"/>
              <a:t>坐标系统，通常将字符串整体作为一个单独的参数。“</a:t>
            </a:r>
            <a:r>
              <a:rPr lang="en-US" altLang="zh-CN" sz="2400" dirty="0" smtClean="0"/>
              <a:t>+</a:t>
            </a:r>
            <a:r>
              <a:rPr lang="en-US" altLang="zh-CN" sz="2400" dirty="0" err="1" smtClean="0"/>
              <a:t>proj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utm</a:t>
            </a:r>
            <a:r>
              <a:rPr lang="en-US" altLang="zh-CN" sz="2400" dirty="0" smtClean="0"/>
              <a:t> +zone=12 +</a:t>
            </a:r>
            <a:r>
              <a:rPr lang="en-US" altLang="zh-CN" sz="2400" dirty="0" err="1" smtClean="0"/>
              <a:t>ellps</a:t>
            </a:r>
            <a:r>
              <a:rPr lang="en-US" altLang="zh-CN" sz="2400" dirty="0" smtClean="0"/>
              <a:t>=WGS84 +datum=WGS84 +units=m +</a:t>
            </a:r>
            <a:r>
              <a:rPr lang="en-US" altLang="zh-CN" sz="2400" dirty="0" err="1" smtClean="0"/>
              <a:t>no_defs</a:t>
            </a:r>
            <a:r>
              <a:rPr lang="zh-CN" altLang="en-US" sz="2400" dirty="0" smtClean="0"/>
              <a:t>”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en-US" altLang="zh-CN" sz="2400" dirty="0" smtClean="0"/>
              <a:t>EPSG</a:t>
            </a:r>
            <a:r>
              <a:rPr lang="zh-CN" altLang="en-US" sz="2400" dirty="0" smtClean="0"/>
              <a:t>编码方式：坐标系统可以通过</a:t>
            </a:r>
            <a:r>
              <a:rPr lang="en-US" altLang="zh-CN" sz="2400" dirty="0" smtClean="0"/>
              <a:t>EPSG</a:t>
            </a:r>
            <a:r>
              <a:rPr lang="zh-CN" altLang="en-US" sz="2400" dirty="0" smtClean="0"/>
              <a:t>编码来选择。例如：</a:t>
            </a:r>
            <a:r>
              <a:rPr lang="en-US" altLang="zh-CN" sz="2400" dirty="0" smtClean="0"/>
              <a:t>EPSG3857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688" y="2030681"/>
            <a:ext cx="8299569" cy="223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5603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Proj.4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400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osgeo.osr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968" y="1112445"/>
            <a:ext cx="10933167" cy="530016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 smtClean="0"/>
              <a:t>Proj.4 </a:t>
            </a:r>
            <a:r>
              <a:rPr lang="zh-CN" altLang="en-US" sz="2400" dirty="0"/>
              <a:t>是开源</a:t>
            </a:r>
            <a:r>
              <a:rPr lang="en-US" altLang="zh-CN" sz="2400" dirty="0"/>
              <a:t>GIS </a:t>
            </a:r>
            <a:r>
              <a:rPr lang="zh-CN" altLang="en-US" sz="2400" dirty="0"/>
              <a:t>最著名的地图投影库，它专注于地图投影的</a:t>
            </a:r>
            <a:r>
              <a:rPr lang="zh-CN" altLang="en-US" sz="2400" dirty="0" smtClean="0"/>
              <a:t>表达和</a:t>
            </a:r>
            <a:r>
              <a:rPr lang="zh-CN" altLang="en-US" sz="2400" dirty="0"/>
              <a:t>转换</a:t>
            </a:r>
            <a:r>
              <a:rPr lang="zh-CN" altLang="en-US" sz="2400" dirty="0" smtClean="0"/>
              <a:t>，许多</a:t>
            </a:r>
            <a:r>
              <a:rPr lang="zh-CN" altLang="en-US" sz="2400" dirty="0"/>
              <a:t>开源</a:t>
            </a:r>
            <a:r>
              <a:rPr lang="en-US" altLang="zh-CN" sz="2400" dirty="0"/>
              <a:t>GIS </a:t>
            </a:r>
            <a:r>
              <a:rPr lang="zh-CN" altLang="en-US" sz="2400" dirty="0"/>
              <a:t>软件的投影都直接使用</a:t>
            </a:r>
            <a:r>
              <a:rPr lang="en-US" altLang="zh-CN" sz="2400" dirty="0"/>
              <a:t>Proj.4 </a:t>
            </a:r>
            <a:r>
              <a:rPr lang="zh-CN" altLang="en-US" sz="2400" dirty="0"/>
              <a:t>库的文件</a:t>
            </a:r>
            <a:r>
              <a:rPr lang="zh-CN" altLang="en-US" sz="2400" dirty="0" smtClean="0"/>
              <a:t>。</a:t>
            </a:r>
            <a:r>
              <a:rPr lang="en-US" altLang="zh-CN" sz="2400" dirty="0" smtClean="0"/>
              <a:t>GDAL </a:t>
            </a:r>
            <a:r>
              <a:rPr lang="zh-CN" altLang="en-US" sz="2400" dirty="0"/>
              <a:t>中的投影转换函数（类</a:t>
            </a:r>
            <a:r>
              <a:rPr lang="en-US" altLang="zh-CN" sz="2400" dirty="0" err="1"/>
              <a:t>CoordinateTransformation</a:t>
            </a:r>
            <a:r>
              <a:rPr lang="en-US" altLang="zh-CN" sz="2400" dirty="0"/>
              <a:t> </a:t>
            </a:r>
            <a:r>
              <a:rPr lang="zh-CN" altLang="en-US" sz="2400" dirty="0"/>
              <a:t>中的函数</a:t>
            </a:r>
            <a:r>
              <a:rPr lang="zh-CN" altLang="en-US" sz="2400" dirty="0" smtClean="0"/>
              <a:t>）也</a:t>
            </a:r>
            <a:r>
              <a:rPr lang="zh-CN" altLang="en-US" sz="2400" dirty="0"/>
              <a:t>是动态</a:t>
            </a:r>
            <a:r>
              <a:rPr lang="zh-CN" altLang="en-US" sz="2400" dirty="0" smtClean="0"/>
              <a:t>调用该库函数。</a:t>
            </a:r>
            <a:endParaRPr lang="zh-CN" altLang="en-US" sz="2400" dirty="0"/>
          </a:p>
          <a:p>
            <a:pPr>
              <a:lnSpc>
                <a:spcPct val="120000"/>
              </a:lnSpc>
            </a:pPr>
            <a:r>
              <a:rPr lang="zh-CN" altLang="en-US" sz="2400" dirty="0" smtClean="0"/>
              <a:t>由</a:t>
            </a:r>
            <a:r>
              <a:rPr lang="en-US" altLang="zh-CN" sz="2400" dirty="0"/>
              <a:t>USGS </a:t>
            </a:r>
            <a:r>
              <a:rPr lang="zh-CN" altLang="en-US" sz="2400" dirty="0"/>
              <a:t>的</a:t>
            </a:r>
            <a:r>
              <a:rPr lang="en-US" altLang="zh-CN" sz="2400" dirty="0"/>
              <a:t>Gerald I. </a:t>
            </a:r>
            <a:r>
              <a:rPr lang="en-US" altLang="zh-CN" sz="2400" dirty="0" err="1"/>
              <a:t>Evenden</a:t>
            </a:r>
            <a:r>
              <a:rPr lang="en-US" altLang="zh-CN" sz="2400" dirty="0"/>
              <a:t> </a:t>
            </a:r>
            <a:r>
              <a:rPr lang="zh-CN" altLang="en-US" sz="2400" dirty="0"/>
              <a:t>在</a:t>
            </a:r>
            <a:r>
              <a:rPr lang="en-US" altLang="zh-CN" sz="2400" dirty="0"/>
              <a:t>1980 </a:t>
            </a:r>
            <a:r>
              <a:rPr lang="zh-CN" altLang="en-US" sz="2400" dirty="0"/>
              <a:t>年代创立并一直维护直到</a:t>
            </a:r>
            <a:r>
              <a:rPr lang="zh-CN" altLang="en-US" sz="2400" dirty="0" smtClean="0"/>
              <a:t>退休</a:t>
            </a:r>
            <a:r>
              <a:rPr lang="zh-CN" altLang="en-US" sz="2400" dirty="0"/>
              <a:t>，后来由</a:t>
            </a:r>
            <a:r>
              <a:rPr lang="en-US" altLang="zh-CN" sz="2400" dirty="0"/>
              <a:t>Frank </a:t>
            </a:r>
            <a:r>
              <a:rPr lang="en-US" altLang="zh-CN" sz="2400" dirty="0" err="1"/>
              <a:t>Warmerdam</a:t>
            </a:r>
            <a:r>
              <a:rPr lang="en-US" altLang="zh-CN" sz="2400" dirty="0"/>
              <a:t> </a:t>
            </a:r>
            <a:r>
              <a:rPr lang="zh-CN" altLang="en-US" sz="2400" dirty="0"/>
              <a:t>进行维护</a:t>
            </a:r>
            <a:r>
              <a:rPr lang="zh-CN" altLang="en-US" sz="2400" dirty="0" smtClean="0"/>
              <a:t>。</a:t>
            </a:r>
            <a:r>
              <a:rPr lang="en-US" altLang="zh-CN" sz="2400" dirty="0" smtClean="0"/>
              <a:t>2008 </a:t>
            </a:r>
            <a:r>
              <a:rPr lang="zh-CN" altLang="en-US" sz="2400" dirty="0"/>
              <a:t>年</a:t>
            </a:r>
            <a:r>
              <a:rPr lang="en-US" altLang="zh-CN" sz="2400" dirty="0"/>
              <a:t>5 </a:t>
            </a:r>
            <a:r>
              <a:rPr lang="zh-CN" altLang="en-US" sz="2400" dirty="0" smtClean="0"/>
              <a:t>月，</a:t>
            </a:r>
            <a:r>
              <a:rPr lang="en-US" altLang="zh-CN" sz="2400" dirty="0" smtClean="0"/>
              <a:t>Proj.4</a:t>
            </a:r>
            <a:r>
              <a:rPr lang="zh-CN" altLang="en-US" sz="2400" dirty="0" smtClean="0"/>
              <a:t>（</a:t>
            </a:r>
            <a:r>
              <a:rPr lang="en-US" altLang="zh-CN" sz="2400" dirty="0"/>
              <a:t>https://proj.org/</a:t>
            </a:r>
            <a:r>
              <a:rPr lang="zh-CN" altLang="en-US" sz="2400" dirty="0" smtClean="0"/>
              <a:t>）</a:t>
            </a:r>
            <a:r>
              <a:rPr lang="zh-CN" altLang="en-US" sz="2400" dirty="0"/>
              <a:t>纳入</a:t>
            </a:r>
            <a:r>
              <a:rPr lang="zh-CN" altLang="en-US" sz="2400" dirty="0" smtClean="0"/>
              <a:t>成为</a:t>
            </a:r>
            <a:r>
              <a:rPr lang="en-US" altLang="zh-CN" sz="2400" dirty="0" err="1" smtClean="0"/>
              <a:t>OSGeo</a:t>
            </a:r>
            <a:r>
              <a:rPr lang="zh-CN" altLang="en-US" sz="2400" dirty="0" smtClean="0"/>
              <a:t>下</a:t>
            </a:r>
            <a:r>
              <a:rPr lang="en-US" altLang="zh-CN" sz="2400" dirty="0" err="1" smtClean="0"/>
              <a:t>MetaCRS</a:t>
            </a:r>
            <a:r>
              <a:rPr lang="en-US" altLang="zh-CN" sz="2400" dirty="0" smtClean="0"/>
              <a:t>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一部分</a:t>
            </a:r>
            <a:r>
              <a:rPr lang="zh-CN" altLang="en-US" sz="2400" dirty="0"/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sz="2400" dirty="0" smtClean="0"/>
              <a:t>Proj.4 </a:t>
            </a:r>
            <a:r>
              <a:rPr lang="zh-CN" altLang="en-US" sz="2400" dirty="0"/>
              <a:t>主要功能是经纬度坐标与地理坐标的</a:t>
            </a:r>
            <a:r>
              <a:rPr lang="zh-CN" altLang="en-US" sz="2400" dirty="0" smtClean="0"/>
              <a:t>转换，坐标系的转换和基准变换等，用</a:t>
            </a:r>
            <a:r>
              <a:rPr lang="en-US" altLang="zh-CN" sz="2400" dirty="0" smtClean="0"/>
              <a:t>C </a:t>
            </a:r>
            <a:r>
              <a:rPr lang="zh-CN" altLang="en-US" sz="2400" dirty="0"/>
              <a:t>语言</a:t>
            </a:r>
            <a:r>
              <a:rPr lang="zh-CN" altLang="en-US" sz="2400" dirty="0" smtClean="0"/>
              <a:t>编写，其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的接口为</a:t>
            </a:r>
            <a:r>
              <a:rPr lang="en-US" altLang="zh-CN" sz="2400" dirty="0" err="1" smtClean="0">
                <a:solidFill>
                  <a:srgbClr val="FF0000"/>
                </a:solidFill>
              </a:rPr>
              <a:t>pyproj</a:t>
            </a:r>
            <a:r>
              <a:rPr lang="zh-CN" altLang="en-US" sz="2400" dirty="0" smtClean="0">
                <a:solidFill>
                  <a:srgbClr val="FF0000"/>
                </a:solidFill>
              </a:rPr>
              <a:t>软件包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GDAL</a:t>
            </a:r>
            <a:r>
              <a:rPr lang="zh-CN" altLang="en-US" sz="2400" dirty="0">
                <a:solidFill>
                  <a:srgbClr val="FF0000"/>
                </a:solidFill>
              </a:rPr>
              <a:t>中有</a:t>
            </a:r>
            <a:r>
              <a:rPr lang="en-US" altLang="zh-CN" sz="2400" dirty="0" err="1">
                <a:solidFill>
                  <a:srgbClr val="FF0000"/>
                </a:solidFill>
              </a:rPr>
              <a:t>osgeo.osr</a:t>
            </a:r>
            <a:r>
              <a:rPr lang="zh-CN" altLang="en-US" sz="2400" dirty="0">
                <a:solidFill>
                  <a:srgbClr val="FF0000"/>
                </a:solidFill>
              </a:rPr>
              <a:t>模块</a:t>
            </a:r>
            <a:r>
              <a:rPr lang="zh-CN" altLang="en-US" sz="2400" dirty="0"/>
              <a:t>，用于处理空间</a:t>
            </a:r>
            <a:r>
              <a:rPr lang="zh-CN" altLang="en-US" sz="2400" dirty="0" smtClean="0"/>
              <a:t>参考，其模块底层使用了</a:t>
            </a:r>
            <a:r>
              <a:rPr lang="en-US" altLang="zh-CN" sz="2400" dirty="0" smtClean="0"/>
              <a:t>Proj.4</a:t>
            </a:r>
            <a:r>
              <a:rPr lang="zh-CN" altLang="en-US" sz="2400" dirty="0" smtClean="0"/>
              <a:t>，但更加关注数据层面的投影和投影变换。</a:t>
            </a:r>
            <a:endParaRPr lang="en-US" altLang="zh-CN" sz="2400" dirty="0" smtClean="0"/>
          </a:p>
          <a:p>
            <a:pPr>
              <a:lnSpc>
                <a:spcPct val="12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836817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pyproj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安装与基本用法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0596" y="1238358"/>
            <a:ext cx="10888039" cy="535283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600" dirty="0"/>
              <a:t>python3-pyproj </a:t>
            </a:r>
            <a:r>
              <a:rPr lang="zh-CN" altLang="en-US" sz="2600" dirty="0" smtClean="0"/>
              <a:t>是</a:t>
            </a:r>
            <a:r>
              <a:rPr lang="en-US" altLang="zh-CN" sz="2600" dirty="0" smtClean="0"/>
              <a:t>Proj.4</a:t>
            </a:r>
            <a:r>
              <a:rPr lang="zh-CN" altLang="en-US" sz="2600" dirty="0" smtClean="0"/>
              <a:t>在</a:t>
            </a:r>
            <a:r>
              <a:rPr lang="en-US" altLang="zh-CN" sz="2600" dirty="0"/>
              <a:t>Python 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中</a:t>
            </a:r>
            <a:r>
              <a:rPr lang="zh-CN" altLang="en-US" sz="2600" dirty="0"/>
              <a:t>的</a:t>
            </a:r>
            <a:r>
              <a:rPr lang="zh-CN" altLang="en-US" sz="2600" dirty="0" smtClean="0"/>
              <a:t>实现</a:t>
            </a:r>
            <a:endParaRPr lang="en-US" altLang="zh-CN" sz="2600" dirty="0" smtClean="0"/>
          </a:p>
          <a:p>
            <a:pPr>
              <a:lnSpc>
                <a:spcPct val="110000"/>
              </a:lnSpc>
            </a:pPr>
            <a:r>
              <a:rPr lang="en-US" altLang="zh-CN" sz="2600" dirty="0">
                <a:hlinkClick r:id="rId3"/>
              </a:rPr>
              <a:t>Python Extension Packages for Windows - Christoph </a:t>
            </a:r>
            <a:r>
              <a:rPr lang="en-US" altLang="zh-CN" sz="2600" dirty="0" err="1">
                <a:hlinkClick r:id="rId3"/>
              </a:rPr>
              <a:t>Gohlke</a:t>
            </a:r>
            <a:r>
              <a:rPr lang="en-US" altLang="zh-CN" sz="2600" dirty="0">
                <a:hlinkClick r:id="rId3"/>
              </a:rPr>
              <a:t> (uci.edu)</a:t>
            </a:r>
            <a:endParaRPr lang="en-US" altLang="zh-CN" sz="2600" dirty="0"/>
          </a:p>
          <a:p>
            <a:pPr>
              <a:lnSpc>
                <a:spcPct val="110000"/>
              </a:lnSpc>
            </a:pPr>
            <a:r>
              <a:rPr lang="en-US" altLang="zh-CN" sz="2600" dirty="0">
                <a:hlinkClick r:id="rId4"/>
              </a:rPr>
              <a:t>https://www.lfd.uci.edu/~gohlke/pythonlibs</a:t>
            </a:r>
            <a:r>
              <a:rPr lang="en-US" altLang="zh-CN" sz="2600" dirty="0" smtClean="0">
                <a:hlinkClick r:id="rId4"/>
              </a:rPr>
              <a:t>/#pyproj</a:t>
            </a:r>
            <a:r>
              <a:rPr lang="en-US" altLang="zh-CN" sz="2600" dirty="0" smtClean="0"/>
              <a:t> </a:t>
            </a:r>
            <a:endParaRPr lang="en-US" altLang="zh-CN" sz="2600" dirty="0"/>
          </a:p>
          <a:p>
            <a:pPr>
              <a:lnSpc>
                <a:spcPct val="110000"/>
              </a:lnSpc>
            </a:pPr>
            <a:endParaRPr lang="en-US" altLang="zh-CN" sz="2600" dirty="0" smtClean="0"/>
          </a:p>
          <a:p>
            <a:pPr>
              <a:lnSpc>
                <a:spcPct val="110000"/>
              </a:lnSpc>
            </a:pPr>
            <a:endParaRPr lang="en-US" altLang="zh-CN" sz="2600" dirty="0"/>
          </a:p>
          <a:p>
            <a:pPr>
              <a:lnSpc>
                <a:spcPct val="110000"/>
              </a:lnSpc>
            </a:pPr>
            <a:r>
              <a:rPr lang="en-US" altLang="zh-CN" sz="2600" dirty="0" smtClean="0"/>
              <a:t>Proj.4</a:t>
            </a:r>
            <a:r>
              <a:rPr lang="zh-CN" altLang="en-US" sz="2600" dirty="0"/>
              <a:t>的</a:t>
            </a:r>
            <a:r>
              <a:rPr lang="zh-CN" altLang="en-US" sz="2600" dirty="0" smtClean="0"/>
              <a:t>命令行工具，实现了在</a:t>
            </a:r>
            <a:r>
              <a:rPr lang="en-US" altLang="zh-CN" sz="2600" dirty="0" smtClean="0"/>
              <a:t>Linux</a:t>
            </a:r>
            <a:r>
              <a:rPr lang="zh-CN" altLang="en-US" sz="2600" dirty="0" smtClean="0"/>
              <a:t>下</a:t>
            </a:r>
            <a:r>
              <a:rPr lang="en-US" altLang="zh-CN" sz="2600" dirty="0" smtClean="0"/>
              <a:t>Shell</a:t>
            </a:r>
            <a:r>
              <a:rPr lang="zh-CN" altLang="en-US" sz="2600" dirty="0" smtClean="0"/>
              <a:t>环境中的地图投影处理。</a:t>
            </a:r>
            <a:endParaRPr lang="en-US" altLang="zh-CN" sz="2600" dirty="0" smtClean="0"/>
          </a:p>
          <a:p>
            <a:pPr>
              <a:lnSpc>
                <a:spcPct val="110000"/>
              </a:lnSpc>
            </a:pPr>
            <a:r>
              <a:rPr lang="en-US" altLang="zh-CN" sz="2600" dirty="0" err="1" smtClean="0"/>
              <a:t>pyproj</a:t>
            </a:r>
            <a:r>
              <a:rPr lang="en-US" altLang="zh-CN" sz="2600" dirty="0" smtClean="0"/>
              <a:t> </a:t>
            </a:r>
            <a:r>
              <a:rPr lang="zh-CN" altLang="en-US" sz="2600" dirty="0"/>
              <a:t>在</a:t>
            </a:r>
            <a:r>
              <a:rPr lang="en-US" altLang="zh-CN" sz="2600" dirty="0"/>
              <a:t>Windows </a:t>
            </a:r>
            <a:r>
              <a:rPr lang="zh-CN" altLang="en-US" sz="2600" dirty="0"/>
              <a:t>和</a:t>
            </a:r>
            <a:r>
              <a:rPr lang="en-US" altLang="zh-CN" sz="2600" dirty="0"/>
              <a:t>Linux </a:t>
            </a:r>
            <a:r>
              <a:rPr lang="zh-CN" altLang="en-US" sz="2600" dirty="0"/>
              <a:t>下都很好安装。</a:t>
            </a:r>
            <a:r>
              <a:rPr lang="en-US" altLang="zh-CN" sz="2600" dirty="0" err="1"/>
              <a:t>pyproj</a:t>
            </a:r>
            <a:r>
              <a:rPr lang="en-US" altLang="zh-CN" sz="2600" dirty="0"/>
              <a:t> </a:t>
            </a:r>
            <a:r>
              <a:rPr lang="zh-CN" altLang="en-US" sz="2600" dirty="0"/>
              <a:t>原来托管在</a:t>
            </a:r>
            <a:r>
              <a:rPr lang="en-US" altLang="zh-CN" sz="2600" dirty="0" smtClean="0"/>
              <a:t>Google Code</a:t>
            </a:r>
            <a:r>
              <a:rPr lang="zh-CN" altLang="en-US" sz="2600" dirty="0"/>
              <a:t>，后来迁移到</a:t>
            </a:r>
            <a:r>
              <a:rPr lang="en-US" altLang="zh-CN" sz="2600" dirty="0" smtClean="0"/>
              <a:t>GitHub (https</a:t>
            </a:r>
            <a:r>
              <a:rPr lang="en-US" altLang="zh-CN" sz="2600" dirty="0"/>
              <a:t>://</a:t>
            </a:r>
            <a:r>
              <a:rPr lang="en-US" altLang="zh-CN" sz="2600" dirty="0" smtClean="0"/>
              <a:t>github.com/jswhit/pyproj)</a:t>
            </a:r>
            <a:r>
              <a:rPr lang="zh-CN" altLang="en-US" sz="2600" dirty="0" smtClean="0"/>
              <a:t>。</a:t>
            </a:r>
            <a:endParaRPr lang="zh-CN" altLang="en-US" sz="2600" dirty="0"/>
          </a:p>
        </p:txBody>
      </p:sp>
      <p:sp>
        <p:nvSpPr>
          <p:cNvPr id="7" name="矩形 6"/>
          <p:cNvSpPr/>
          <p:nvPr/>
        </p:nvSpPr>
        <p:spPr>
          <a:xfrm>
            <a:off x="1405037" y="3284839"/>
            <a:ext cx="62315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 smtClean="0">
                <a:latin typeface="YaHei_Monaco-R"/>
              </a:rPr>
              <a:t>pip install pyproj-3.2.0-cp38-cp38m-win_amd64.whl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05778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pyproj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262288"/>
            <a:ext cx="10515600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p</a:t>
            </a:r>
            <a:r>
              <a:rPr lang="en-US" altLang="zh-CN" dirty="0" err="1" smtClean="0"/>
              <a:t>yproj</a:t>
            </a:r>
            <a:r>
              <a:rPr lang="en-US" altLang="zh-CN" dirty="0" smtClean="0"/>
              <a:t> </a:t>
            </a:r>
            <a:r>
              <a:rPr lang="zh-CN" altLang="en-US" dirty="0"/>
              <a:t>包里包括两个类，</a:t>
            </a:r>
            <a:r>
              <a:rPr lang="en-US" altLang="zh-CN" dirty="0" err="1"/>
              <a:t>Proj</a:t>
            </a:r>
            <a:r>
              <a:rPr lang="en-US" altLang="zh-CN" dirty="0"/>
              <a:t> </a:t>
            </a:r>
            <a:r>
              <a:rPr lang="zh-CN" altLang="en-US" dirty="0"/>
              <a:t>类和</a:t>
            </a:r>
            <a:r>
              <a:rPr lang="en-US" altLang="zh-CN" dirty="0" err="1"/>
              <a:t>Geod</a:t>
            </a:r>
            <a:r>
              <a:rPr lang="en-US" altLang="zh-CN" dirty="0"/>
              <a:t> </a:t>
            </a:r>
            <a:r>
              <a:rPr lang="zh-CN" altLang="en-US" dirty="0"/>
              <a:t>类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Proj</a:t>
            </a:r>
            <a:r>
              <a:rPr lang="en-US" altLang="zh-CN" dirty="0" smtClean="0"/>
              <a:t> </a:t>
            </a:r>
            <a:r>
              <a:rPr lang="zh-CN" altLang="en-US" dirty="0" smtClean="0"/>
              <a:t>类可以</a:t>
            </a:r>
            <a:r>
              <a:rPr lang="zh-CN" altLang="en-US" dirty="0"/>
              <a:t>进行地图投影的变换：即</a:t>
            </a:r>
            <a:r>
              <a:rPr lang="zh-CN" altLang="en-US" dirty="0" smtClean="0"/>
              <a:t>是从</a:t>
            </a:r>
            <a:r>
              <a:rPr lang="zh-CN" altLang="en-US" dirty="0"/>
              <a:t>经纬度转换为平面投影坐标，同时也可以反转；也可以在不同的</a:t>
            </a:r>
            <a:r>
              <a:rPr lang="zh-CN" altLang="en-US" dirty="0" smtClean="0"/>
              <a:t>地图投影</a:t>
            </a:r>
            <a:r>
              <a:rPr lang="zh-CN" altLang="en-US" dirty="0"/>
              <a:t>之间转换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 err="1"/>
              <a:t>Geod</a:t>
            </a:r>
            <a:r>
              <a:rPr lang="en-US" altLang="zh-CN" dirty="0"/>
              <a:t> </a:t>
            </a:r>
            <a:r>
              <a:rPr lang="zh-CN" altLang="en-US" dirty="0" smtClean="0"/>
              <a:t>类可以很</a:t>
            </a:r>
            <a:r>
              <a:rPr lang="zh-CN" altLang="en-US" dirty="0"/>
              <a:t>方便的计算地球上任意两点的大圆距离，以及它们的相对方位；同时</a:t>
            </a:r>
            <a:r>
              <a:rPr lang="zh-CN" altLang="en-US" dirty="0" smtClean="0"/>
              <a:t>，也</a:t>
            </a:r>
            <a:r>
              <a:rPr lang="zh-CN" altLang="en-US" dirty="0"/>
              <a:t>可根据方位和大圆距离来反算出另一点的经纬度。其处理的输入</a:t>
            </a:r>
            <a:r>
              <a:rPr lang="zh-CN" altLang="en-US" dirty="0" smtClean="0"/>
              <a:t>坐标可以</a:t>
            </a:r>
            <a:r>
              <a:rPr lang="zh-CN" altLang="en-US" dirty="0"/>
              <a:t>是</a:t>
            </a:r>
            <a:r>
              <a:rPr lang="en-US" altLang="zh-CN" dirty="0"/>
              <a:t>Python </a:t>
            </a:r>
            <a:r>
              <a:rPr lang="zh-CN" altLang="en-US" dirty="0"/>
              <a:t>数组，</a:t>
            </a:r>
            <a:r>
              <a:rPr lang="en-US" altLang="zh-CN" dirty="0"/>
              <a:t>list </a:t>
            </a:r>
            <a:r>
              <a:rPr lang="zh-CN" altLang="en-US" dirty="0"/>
              <a:t>元组</a:t>
            </a:r>
            <a:r>
              <a:rPr lang="zh-CN" altLang="en-US" dirty="0" smtClean="0"/>
              <a:t>，或者</a:t>
            </a:r>
            <a:r>
              <a:rPr lang="en-US" altLang="zh-CN" dirty="0" err="1"/>
              <a:t>numpy</a:t>
            </a:r>
            <a:r>
              <a:rPr lang="en-US" altLang="zh-CN" dirty="0"/>
              <a:t> </a:t>
            </a:r>
            <a:r>
              <a:rPr lang="zh-CN" altLang="en-US" dirty="0"/>
              <a:t>数组。</a:t>
            </a:r>
          </a:p>
        </p:txBody>
      </p:sp>
    </p:spTree>
    <p:extLst>
      <p:ext uri="{BB962C8B-B14F-4D97-AF65-F5344CB8AC3E}">
        <p14:creationId xmlns:p14="http://schemas.microsoft.com/office/powerpoint/2010/main" val="37364019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4000" b="1" noProof="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yproj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初始化坐标参考系统（</a:t>
            </a: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CRS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76498"/>
            <a:ext cx="10363200" cy="514317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pyproj</a:t>
            </a:r>
            <a:r>
              <a:rPr lang="zh-CN" altLang="en-US" dirty="0"/>
              <a:t>库提供了</a:t>
            </a:r>
            <a:r>
              <a:rPr lang="zh-CN" altLang="en-US" b="1" dirty="0">
                <a:solidFill>
                  <a:srgbClr val="FF0000"/>
                </a:solidFill>
              </a:rPr>
              <a:t>四种初始化参考坐标</a:t>
            </a:r>
            <a:r>
              <a:rPr lang="zh-CN" altLang="en-US" dirty="0"/>
              <a:t>的方式，括号里面的数字是地图坐标系统</a:t>
            </a:r>
            <a:r>
              <a:rPr lang="zh-CN" altLang="en-US" dirty="0" smtClean="0"/>
              <a:t>在</a:t>
            </a:r>
            <a:r>
              <a:rPr lang="en-US" altLang="zh-CN" b="1" dirty="0"/>
              <a:t>EPSG</a:t>
            </a:r>
            <a:r>
              <a:rPr lang="zh-CN" altLang="en-US" b="1" dirty="0" smtClean="0"/>
              <a:t>中的</a:t>
            </a:r>
            <a:r>
              <a:rPr lang="zh-CN" altLang="en-US" b="1" dirty="0"/>
              <a:t>编码</a:t>
            </a:r>
            <a:r>
              <a:rPr lang="zh-CN" altLang="en-US" b="1" dirty="0" smtClean="0"/>
              <a:t>，</a:t>
            </a:r>
            <a:r>
              <a:rPr lang="zh-CN" altLang="en-US" b="1" dirty="0"/>
              <a:t>每一种地图坐标系统</a:t>
            </a:r>
            <a:r>
              <a:rPr lang="zh-CN" altLang="en-US" b="1" dirty="0" smtClean="0"/>
              <a:t>在</a:t>
            </a:r>
            <a:r>
              <a:rPr lang="en-US" altLang="zh-CN" b="1" dirty="0"/>
              <a:t>EPSG</a:t>
            </a:r>
            <a:r>
              <a:rPr lang="zh-CN" altLang="en-US" b="1" dirty="0" smtClean="0"/>
              <a:t>中</a:t>
            </a:r>
            <a:r>
              <a:rPr lang="zh-CN" altLang="en-US" b="1" dirty="0"/>
              <a:t>都有一个</a:t>
            </a:r>
            <a:r>
              <a:rPr lang="zh-CN" altLang="en-US" b="1" dirty="0">
                <a:solidFill>
                  <a:srgbClr val="FF0000"/>
                </a:solidFill>
              </a:rPr>
              <a:t>唯一的数值</a:t>
            </a:r>
            <a:r>
              <a:rPr lang="zh-CN" altLang="en-US" b="1" dirty="0"/>
              <a:t>与之</a:t>
            </a:r>
            <a:r>
              <a:rPr lang="zh-CN" altLang="en-US" b="1" dirty="0" smtClean="0"/>
              <a:t>对应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en-US" altLang="zh-CN" dirty="0"/>
              <a:t>4326</a:t>
            </a:r>
            <a:r>
              <a:rPr lang="zh-CN" altLang="en-US" dirty="0"/>
              <a:t>对应的就是</a:t>
            </a:r>
            <a:r>
              <a:rPr lang="en-US" altLang="zh-CN" dirty="0"/>
              <a:t>WGS84</a:t>
            </a:r>
            <a:r>
              <a:rPr lang="zh-CN" altLang="en-US" dirty="0"/>
              <a:t>地理坐标</a:t>
            </a:r>
            <a:r>
              <a:rPr lang="zh-CN" altLang="en-US" dirty="0" smtClean="0"/>
              <a:t>系统，坐标系统代码可在</a:t>
            </a:r>
            <a:r>
              <a:rPr lang="en-US" altLang="zh-CN" dirty="0" smtClean="0">
                <a:hlinkClick r:id="rId3"/>
              </a:rPr>
              <a:t>https://epsg.io/</a:t>
            </a:r>
            <a:r>
              <a:rPr lang="en-US" altLang="zh-CN" dirty="0" smtClean="0"/>
              <a:t> </a:t>
            </a:r>
            <a:r>
              <a:rPr lang="zh-CN" altLang="en-US" dirty="0" smtClean="0"/>
              <a:t>中查询</a:t>
            </a:r>
            <a:r>
              <a:rPr lang="en-US" altLang="zh-CN" dirty="0" smtClean="0"/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1406978" y="3088403"/>
            <a:ext cx="8757557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pyproj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CRS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crs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err="1" smtClean="0">
                <a:latin typeface="YaHei_Monaco-R"/>
              </a:rPr>
              <a:t>CRS.from_epsg</a:t>
            </a:r>
            <a:r>
              <a:rPr lang="en-US" altLang="zh-CN" dirty="0" smtClean="0">
                <a:latin typeface="YaHei_Monaco-R"/>
              </a:rPr>
              <a:t>(4326)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CRS.from_string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(“epsg:4326”)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crs</a:t>
            </a:r>
            <a:r>
              <a:rPr lang="en-US" altLang="zh-CN" dirty="0" smtClean="0">
                <a:latin typeface="YaHei_Monaco-R"/>
              </a:rPr>
              <a:t>=CRS.from_proj4(“+</a:t>
            </a:r>
            <a:r>
              <a:rPr lang="en-US" altLang="zh-CN" dirty="0" err="1" smtClean="0">
                <a:latin typeface="YaHei_Monaco-R"/>
              </a:rPr>
              <a:t>proj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err="1" smtClean="0">
                <a:latin typeface="YaHei_Monaco-R"/>
              </a:rPr>
              <a:t>latlon</a:t>
            </a:r>
            <a:r>
              <a:rPr lang="en-US" altLang="zh-CN" dirty="0" smtClean="0">
                <a:latin typeface="YaHei_Monaco-R"/>
              </a:rPr>
              <a:t>”)</a:t>
            </a:r>
            <a:endParaRPr lang="en-US" altLang="zh-CN" dirty="0"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crs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err="1" smtClean="0">
                <a:latin typeface="YaHei_Monaco-R"/>
              </a:rPr>
              <a:t>CRS.from_user_input</a:t>
            </a:r>
            <a:r>
              <a:rPr lang="en-US" altLang="zh-CN" dirty="0" smtClean="0">
                <a:latin typeface="YaHei_Monaco-R"/>
              </a:rPr>
              <a:t>(4326)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crs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63964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Pyproj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4000" b="1" noProof="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2614"/>
            <a:ext cx="10363200" cy="51431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/>
              <a:t>当初始化一个</a:t>
            </a:r>
            <a:r>
              <a:rPr lang="en-US" altLang="zh-CN" dirty="0" err="1" smtClean="0"/>
              <a:t>Proj</a:t>
            </a:r>
            <a:r>
              <a:rPr lang="zh-CN" altLang="en-US" dirty="0" smtClean="0"/>
              <a:t>类的实例，地图投影的参数可以用关键字</a:t>
            </a:r>
            <a:r>
              <a:rPr lang="en-US" altLang="zh-CN" dirty="0" smtClean="0"/>
              <a:t>/</a:t>
            </a:r>
            <a:r>
              <a:rPr lang="zh-CN" altLang="en-US" dirty="0" smtClean="0"/>
              <a:t>值的形式，也可以用</a:t>
            </a:r>
            <a:r>
              <a:rPr lang="en-US" altLang="zh-CN" dirty="0" smtClean="0"/>
              <a:t>Proj.4</a:t>
            </a:r>
            <a:r>
              <a:rPr lang="zh-CN" altLang="en-US" dirty="0" smtClean="0"/>
              <a:t>格式的字符串。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首先</a:t>
            </a:r>
            <a:r>
              <a:rPr lang="zh-CN" altLang="en-US" dirty="0"/>
              <a:t>看一下如何转换成平面坐标：</a:t>
            </a:r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en-US" altLang="zh-CN" dirty="0" err="1" smtClean="0"/>
              <a:t>Proj</a:t>
            </a:r>
            <a:r>
              <a:rPr lang="zh-CN" altLang="en-US" dirty="0" smtClean="0"/>
              <a:t>类投影</a:t>
            </a:r>
            <a:r>
              <a:rPr lang="zh-CN" altLang="en-US" dirty="0"/>
              <a:t>控制参数必须在</a:t>
            </a:r>
            <a:r>
              <a:rPr lang="zh-CN" altLang="en-US" dirty="0" smtClean="0"/>
              <a:t>字典或</a:t>
            </a:r>
            <a:r>
              <a:rPr lang="zh-CN" altLang="en-US" dirty="0"/>
              <a:t>关键字参数</a:t>
            </a:r>
            <a:r>
              <a:rPr lang="zh-CN" altLang="en-US" dirty="0" smtClean="0"/>
              <a:t>给定，也接受弧度作为单位的输入。</a:t>
            </a:r>
            <a:endParaRPr lang="en-US" altLang="zh-CN" dirty="0" smtClean="0"/>
          </a:p>
          <a:p>
            <a:pPr marL="914400" lvl="2" indent="0">
              <a:lnSpc>
                <a:spcPct val="110000"/>
              </a:lnSpc>
              <a:buNone/>
            </a:pP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583871" y="2691345"/>
            <a:ext cx="9462408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pyproj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Proj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import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math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‘+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utm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 +zone=50 +</a:t>
            </a:r>
            <a:r>
              <a:rPr lang="en-US" altLang="zh-CN" dirty="0" err="1" smtClean="0">
                <a:solidFill>
                  <a:srgbClr val="BB2121"/>
                </a:solidFill>
                <a:latin typeface="YaHei_Monaco-R"/>
              </a:rPr>
              <a:t>ellps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=WGS84’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使用</a:t>
            </a:r>
            <a:r>
              <a:rPr lang="en-US" altLang="zh-CN" dirty="0"/>
              <a:t>PROJ.4</a:t>
            </a:r>
            <a:r>
              <a:rPr lang="zh-CN" altLang="en-US" dirty="0"/>
              <a:t>格式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字符串定义投影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p=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=‘</a:t>
            </a:r>
            <a:r>
              <a:rPr lang="en-US" altLang="zh-CN" dirty="0" err="1">
                <a:solidFill>
                  <a:srgbClr val="BB2121"/>
                </a:solidFill>
                <a:latin typeface="YaHei_Monaco-R"/>
              </a:rPr>
              <a:t>utm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’,zone=50,ellps=‘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WGS84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’)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使用关键字定义投影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p=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init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=“epsg:32650”)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x,y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p(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117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36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x,y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=p(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math.radians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(117),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math.radians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（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36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,radians=</a:t>
            </a:r>
            <a:r>
              <a:rPr lang="en-US" altLang="zh-CN" dirty="0" smtClean="0">
                <a:solidFill>
                  <a:srgbClr val="008000"/>
                </a:solidFill>
                <a:latin typeface="YaHei_Monaco-R"/>
              </a:rPr>
              <a:t>True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弧度作为输入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BB6688"/>
                </a:solidFill>
                <a:latin typeface="YaHei_Monaco-R"/>
              </a:rPr>
              <a:t>%.3f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,</a:t>
            </a:r>
            <a:r>
              <a:rPr lang="en-US" altLang="zh-CN" dirty="0">
                <a:solidFill>
                  <a:srgbClr val="BB6688"/>
                </a:solidFill>
                <a:latin typeface="YaHei_Monaco-R"/>
              </a:rPr>
              <a:t>%.3f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%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x,y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))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500000.000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3983948.453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86674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4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Pyproj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40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Proj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34783" y="1027719"/>
            <a:ext cx="10025743" cy="5435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投影</a:t>
            </a:r>
            <a:r>
              <a:rPr lang="zh-CN" altLang="en-US" sz="2400" dirty="0" smtClean="0"/>
              <a:t>转换</a:t>
            </a:r>
            <a:r>
              <a:rPr lang="en-US" altLang="zh-CN" sz="2400" dirty="0"/>
              <a:t>T</a:t>
            </a:r>
            <a:r>
              <a:rPr lang="en-US" altLang="zh-CN" sz="2400" dirty="0" smtClean="0"/>
              <a:t>ransformer() </a:t>
            </a:r>
            <a:r>
              <a:rPr lang="zh-CN" altLang="en-US" sz="2400" dirty="0" smtClean="0"/>
              <a:t>函数是</a:t>
            </a:r>
            <a:r>
              <a:rPr lang="zh-CN" altLang="en-US" sz="2400" dirty="0"/>
              <a:t>在</a:t>
            </a:r>
            <a:r>
              <a:rPr lang="en-US" altLang="zh-CN" sz="2400" dirty="0" err="1"/>
              <a:t>pyproj</a:t>
            </a:r>
            <a:r>
              <a:rPr lang="en-US" altLang="zh-CN" sz="2400" dirty="0"/>
              <a:t> </a:t>
            </a:r>
            <a:r>
              <a:rPr lang="zh-CN" altLang="en-US" sz="2400" dirty="0"/>
              <a:t>库下，可以进行两个不同投影的</a:t>
            </a:r>
            <a:r>
              <a:rPr lang="zh-CN" altLang="en-US" sz="2400" dirty="0" smtClean="0"/>
              <a:t>转换。首先要采用</a:t>
            </a:r>
            <a:r>
              <a:rPr lang="en-US" altLang="zh-CN" sz="2400" dirty="0" smtClean="0"/>
              <a:t>CRS</a:t>
            </a:r>
            <a:r>
              <a:rPr lang="zh-CN" altLang="en-US" sz="2400" dirty="0" smtClean="0"/>
              <a:t>构造两个初始坐标参考系统，再采用</a:t>
            </a:r>
            <a:r>
              <a:rPr lang="en-US" altLang="zh-CN" sz="2400" dirty="0" smtClean="0"/>
              <a:t>Transformer</a:t>
            </a:r>
            <a:r>
              <a:rPr lang="zh-CN" altLang="en-US" sz="2400" dirty="0" smtClean="0"/>
              <a:t>进行</a:t>
            </a:r>
            <a:r>
              <a:rPr lang="en-US" altLang="zh-CN" sz="2400" dirty="0" smtClean="0"/>
              <a:t>CRS</a:t>
            </a:r>
            <a:r>
              <a:rPr lang="zh-CN" altLang="en-US" sz="2400" dirty="0" smtClean="0"/>
              <a:t>之间转换。</a:t>
            </a:r>
            <a:endParaRPr lang="en-US" altLang="zh-CN" sz="2400" dirty="0" smtClean="0"/>
          </a:p>
          <a:p>
            <a:endParaRPr lang="en-US" altLang="zh-CN" sz="3600" dirty="0"/>
          </a:p>
        </p:txBody>
      </p:sp>
      <p:sp>
        <p:nvSpPr>
          <p:cNvPr id="21" name="矩形 20"/>
          <p:cNvSpPr/>
          <p:nvPr/>
        </p:nvSpPr>
        <p:spPr>
          <a:xfrm>
            <a:off x="952497" y="2144992"/>
            <a:ext cx="10025744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pyproj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CRS,Proj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albers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'+</a:t>
            </a:r>
            <a:r>
              <a:rPr lang="en-US" altLang="zh-CN" dirty="0" err="1" smtClean="0">
                <a:solidFill>
                  <a:srgbClr val="97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970000"/>
                </a:solidFill>
                <a:latin typeface="YaHei_Monaco-R"/>
              </a:rPr>
              <a:t>aea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+lon_0=105 +lat_1=25 +lat_2=47 +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ellps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krass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'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=CRS.from_proj4(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'+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proj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aea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 +lon_0=105 +lat_1=25 +lat_2=47 +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ellps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krass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albers_x,albers_y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albers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(105,36)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albers_x,albers_y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(0.0, 3847866.972516728)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952498" y="4004813"/>
            <a:ext cx="10025743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utm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err="1" smtClean="0">
                <a:latin typeface="YaHei_Monaco-R"/>
              </a:rPr>
              <a:t>Proj</a:t>
            </a:r>
            <a:r>
              <a:rPr lang="en-US" altLang="zh-CN" dirty="0" smtClean="0">
                <a:latin typeface="YaHei_Monaco-R"/>
              </a:rPr>
              <a:t>(</a:t>
            </a:r>
            <a:r>
              <a:rPr lang="en-US" altLang="zh-CN" dirty="0" err="1" smtClean="0">
                <a:latin typeface="YaHei_Monaco-R"/>
              </a:rPr>
              <a:t>proj</a:t>
            </a:r>
            <a:r>
              <a:rPr lang="en-US" altLang="zh-CN" dirty="0">
                <a:latin typeface="YaHei_Monaco-R"/>
              </a:rPr>
              <a:t>=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‘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utm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’,</a:t>
            </a:r>
            <a:r>
              <a:rPr lang="en-US" altLang="zh-CN" dirty="0" smtClean="0">
                <a:latin typeface="YaHei_Monaco-R"/>
              </a:rPr>
              <a:t>zone=48, </a:t>
            </a:r>
            <a:r>
              <a:rPr lang="en-US" altLang="zh-CN" dirty="0" err="1" smtClean="0">
                <a:latin typeface="YaHei_Monaco-R"/>
              </a:rPr>
              <a:t>ellps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smtClean="0">
                <a:solidFill>
                  <a:srgbClr val="970000"/>
                </a:solidFill>
                <a:latin typeface="YaHei_Monaco-R"/>
              </a:rPr>
              <a:t>'</a:t>
            </a:r>
            <a:r>
              <a:rPr lang="en-US" altLang="zh-CN" dirty="0" err="1">
                <a:solidFill>
                  <a:srgbClr val="970000"/>
                </a:solidFill>
                <a:latin typeface="YaHei_Monaco-R"/>
              </a:rPr>
              <a:t>k</a:t>
            </a:r>
            <a:r>
              <a:rPr lang="en-US" altLang="zh-CN" dirty="0" err="1" smtClean="0">
                <a:solidFill>
                  <a:srgbClr val="970000"/>
                </a:solidFill>
                <a:latin typeface="YaHei_Monaco-R"/>
              </a:rPr>
              <a:t>rass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</a:t>
            </a:r>
            <a:r>
              <a:rPr lang="en-US" altLang="zh-CN" dirty="0" smtClean="0"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 err="1" smtClean="0">
                <a:latin typeface="YaHei_Monaco-R"/>
              </a:rPr>
              <a:t>crs_new</a:t>
            </a:r>
            <a:r>
              <a:rPr lang="en-US" altLang="zh-CN" dirty="0" smtClean="0">
                <a:latin typeface="YaHei_Monaco-R"/>
              </a:rPr>
              <a:t>=CRS.from_proj4(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'+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proj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utm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 +zone=48 +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ellps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C00000"/>
                </a:solidFill>
                <a:latin typeface="YaHei_Monaco-R"/>
              </a:rPr>
              <a:t>krass</a:t>
            </a:r>
            <a:r>
              <a:rPr lang="en-US" altLang="zh-CN" dirty="0" smtClean="0">
                <a:solidFill>
                  <a:srgbClr val="C00000"/>
                </a:solidFill>
                <a:latin typeface="YaHei_Monaco-R"/>
              </a:rPr>
              <a:t>'</a:t>
            </a:r>
            <a:r>
              <a:rPr lang="en-US" altLang="zh-CN" dirty="0" smtClean="0">
                <a:latin typeface="YaHei_Monaco-R"/>
              </a:rPr>
              <a:t>) 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utm_x,utm_y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utm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(105,36)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utm_x,utm_y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499999.99999999773 3984019.058813516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52497" y="5618555"/>
            <a:ext cx="1002574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pyproj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Transformer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transformer=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Transformer.from_crs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crs,crs_new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构造一个从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albers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转换为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utm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的投影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transformer.transform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albers_x,albers_y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调用该转换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499999.99999999773 3984019.058813516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1192767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Pyproj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4000" b="1" dirty="0" err="1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Geod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2614"/>
            <a:ext cx="10363200" cy="51431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/>
              <a:t>初始化一个</a:t>
            </a:r>
            <a:r>
              <a:rPr lang="en-US" altLang="zh-CN" dirty="0" err="1" smtClean="0"/>
              <a:t>Geod</a:t>
            </a:r>
            <a:r>
              <a:rPr lang="zh-CN" altLang="en-US" dirty="0" smtClean="0"/>
              <a:t>类的实例，使用关键字来定义一个椭球体。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正变换：</a:t>
            </a:r>
            <a:r>
              <a:rPr lang="en-US" altLang="zh-CN" dirty="0" err="1" smtClean="0"/>
              <a:t>fwd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函数根据起点及第二点与起点的相对方位，距离，返回第二个点所在位置（经纬度）。</a:t>
            </a:r>
            <a:r>
              <a:rPr lang="en-US" altLang="zh-CN" dirty="0" err="1"/>
              <a:t>f</a:t>
            </a:r>
            <a:r>
              <a:rPr lang="en-US" altLang="zh-CN" dirty="0" err="1" smtClean="0"/>
              <a:t>wd</a:t>
            </a:r>
            <a:r>
              <a:rPr lang="en-US" altLang="zh-CN" dirty="0" smtClean="0"/>
              <a:t>(self, </a:t>
            </a:r>
            <a:r>
              <a:rPr lang="en-US" altLang="zh-CN" dirty="0" err="1" smtClean="0"/>
              <a:t>lons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lats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az,dist</a:t>
            </a:r>
            <a:r>
              <a:rPr lang="en-US" altLang="zh-CN" dirty="0" smtClean="0"/>
              <a:t>, radians=False)</a:t>
            </a:r>
            <a:endParaRPr lang="zh-CN" altLang="en-US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逆变换：</a:t>
            </a:r>
            <a:r>
              <a:rPr lang="en-US" altLang="zh-CN" dirty="0" err="1" smtClean="0"/>
              <a:t>inv</a:t>
            </a:r>
            <a:r>
              <a:rPr lang="en-US" altLang="zh-CN" dirty="0" smtClean="0"/>
              <a:t>()</a:t>
            </a:r>
            <a:r>
              <a:rPr lang="zh-CN" altLang="en-US" dirty="0" smtClean="0"/>
              <a:t>函数通过已知两点的经纬度，返回其前方位角，后方位角以及距离。</a:t>
            </a:r>
            <a:r>
              <a:rPr lang="en-US" altLang="zh-CN" dirty="0" err="1"/>
              <a:t>i</a:t>
            </a:r>
            <a:r>
              <a:rPr lang="en-US" altLang="zh-CN" dirty="0" err="1" smtClean="0"/>
              <a:t>nv</a:t>
            </a:r>
            <a:r>
              <a:rPr lang="en-US" altLang="zh-CN" dirty="0" smtClean="0"/>
              <a:t>(self, lons1, lats1, lons2, lats2, radians=False)</a:t>
            </a: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231446" y="3205695"/>
            <a:ext cx="9462408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pyproj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Geod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g=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Geod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ellps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=</a:t>
            </a:r>
            <a:r>
              <a:rPr lang="en-US" altLang="zh-CN" dirty="0" smtClean="0">
                <a:solidFill>
                  <a:srgbClr val="BB2121"/>
                </a:solidFill>
                <a:latin typeface="YaHei_Monaco-R"/>
              </a:rPr>
              <a:t>‘WGS84’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g.fwd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(91,29.6, 52.88778703659133,3419167.0426993747) 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正变换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(125.35, 43.88333000000001, -105.99963245807416)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g.inv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(91,29.6, 125.35, 43.88333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          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逆变换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latin typeface="LMSans8-Regular-Identity-H"/>
              </a:rPr>
              <a:t>(52.88778703659133, -105.99963245807415, 3419167.0426993747</a:t>
            </a:r>
            <a:r>
              <a:rPr lang="en-US" altLang="zh-CN" dirty="0" smtClean="0">
                <a:latin typeface="LMSans8-Regular-Identity-H"/>
              </a:rPr>
              <a:t>)</a:t>
            </a:r>
            <a:endParaRPr lang="en-US" altLang="zh-CN" dirty="0"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36438240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sgeo.osr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处理空间参考信息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04207"/>
            <a:ext cx="10763250" cy="51431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osgeo.osr</a:t>
            </a:r>
            <a:r>
              <a:rPr lang="zh-CN" altLang="en-US" sz="2400" dirty="0" smtClean="0"/>
              <a:t>主要包括两个类：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osr.SpatialReference</a:t>
            </a:r>
            <a:r>
              <a:rPr lang="zh-CN" altLang="en-US" sz="2400" dirty="0" smtClean="0"/>
              <a:t>用于初始化坐标系统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osr.CoordinateTransformation</a:t>
            </a:r>
            <a:r>
              <a:rPr lang="zh-CN" altLang="en-US" sz="2400" dirty="0" smtClean="0"/>
              <a:t>用于进行坐标系统转换</a:t>
            </a:r>
            <a:endParaRPr lang="zh-CN" altLang="en-US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osr.SpatialReference</a:t>
            </a:r>
            <a:r>
              <a:rPr lang="zh-CN" altLang="en-US" sz="2400" dirty="0" smtClean="0"/>
              <a:t>定义地理坐标系统，需要包含基准面，本初子午线，一个角度单位。可使用</a:t>
            </a:r>
            <a:r>
              <a:rPr lang="en-US" altLang="zh-CN" sz="2400" dirty="0" err="1" smtClean="0"/>
              <a:t>SetGeogCS</a:t>
            </a:r>
            <a:r>
              <a:rPr lang="en-US" altLang="zh-CN" sz="2400" dirty="0" smtClean="0"/>
              <a:t>()</a:t>
            </a:r>
            <a:r>
              <a:rPr lang="zh-CN" altLang="en-US" sz="2400" dirty="0" smtClean="0"/>
              <a:t>自定义</a:t>
            </a:r>
            <a:r>
              <a:rPr lang="en-US" altLang="zh-CN" sz="2400" dirty="0" smtClean="0"/>
              <a:t>: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329418" y="4327068"/>
            <a:ext cx="9462408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osrs.SetGeogCS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(“My geographic coordinate system”,”WGS_1984”,”My WGS84 Spheroid”,osr.SRS_WGS84_SEMIMAJOR, osr.SRS_WGS84_INVFLATTENING, “Greenwich”, 0.0,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osr.SRS_UA_DEGREE_CONV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39272657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sgeo.osr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处理空间参考信息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69352"/>
            <a:ext cx="10763250" cy="51431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osr.SpatialReference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也可采用</a:t>
            </a:r>
            <a:r>
              <a:rPr lang="en-US" altLang="zh-CN" sz="2400" dirty="0" err="1" smtClean="0"/>
              <a:t>SetWellKnownGeogCS</a:t>
            </a:r>
            <a:r>
              <a:rPr lang="en-US" altLang="zh-CN" sz="2400" dirty="0" smtClean="0"/>
              <a:t>()</a:t>
            </a:r>
            <a:r>
              <a:rPr lang="zh-CN" altLang="en-US" sz="2400" dirty="0"/>
              <a:t>调用</a:t>
            </a:r>
            <a:r>
              <a:rPr lang="zh-CN" altLang="en-US" sz="2400" dirty="0" smtClean="0"/>
              <a:t>标准的坐标系统，如“</a:t>
            </a:r>
            <a:r>
              <a:rPr lang="en-US" altLang="zh-CN" sz="2400" dirty="0" smtClean="0"/>
              <a:t>NAD27</a:t>
            </a:r>
            <a:r>
              <a:rPr lang="zh-CN" altLang="en-US" sz="2400" dirty="0" smtClean="0"/>
              <a:t>”， “</a:t>
            </a:r>
            <a:r>
              <a:rPr lang="en-US" altLang="zh-CN" sz="2400" dirty="0" smtClean="0"/>
              <a:t>NAD83</a:t>
            </a:r>
            <a:r>
              <a:rPr lang="zh-CN" altLang="en-US" sz="2400" dirty="0" smtClean="0"/>
              <a:t>”，“</a:t>
            </a:r>
            <a:r>
              <a:rPr lang="en-US" altLang="zh-CN" sz="2400" dirty="0" smtClean="0"/>
              <a:t>WGS84</a:t>
            </a:r>
            <a:r>
              <a:rPr lang="zh-CN" altLang="en-US" sz="2400" dirty="0" smtClean="0"/>
              <a:t>”。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en-US" altLang="zh-CN" sz="2400" dirty="0" err="1" smtClean="0"/>
              <a:t>Osr.SpatialReference</a:t>
            </a:r>
            <a:r>
              <a:rPr lang="zh-CN" altLang="en-US" sz="2400" dirty="0" smtClean="0"/>
              <a:t>定义投影系统，需要先基于一个地理坐标系统进行定义。比如定义一个在</a:t>
            </a:r>
            <a:r>
              <a:rPr lang="en-US" altLang="zh-CN" sz="2400" dirty="0" smtClean="0"/>
              <a:t>WGS84</a:t>
            </a:r>
            <a:r>
              <a:rPr lang="zh-CN" altLang="en-US" sz="2400" dirty="0" smtClean="0"/>
              <a:t>基准面下空间参考为</a:t>
            </a:r>
            <a:r>
              <a:rPr lang="en-US" altLang="zh-CN" sz="2400" dirty="0" smtClean="0"/>
              <a:t>UTM17</a:t>
            </a:r>
            <a:r>
              <a:rPr lang="zh-CN" altLang="en-US" sz="2400" dirty="0" smtClean="0"/>
              <a:t>带的投影坐标系统：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345748" y="1836962"/>
            <a:ext cx="9462408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osrs.SetWellKnownGeogCS</a:t>
            </a:r>
            <a:r>
              <a:rPr lang="en-US" altLang="zh-CN" dirty="0" smtClean="0">
                <a:latin typeface="YaHei_Monaco-R"/>
              </a:rPr>
              <a:t>(“WGS84”)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0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>
                <a:latin typeface="YaHei_Monaco-R"/>
              </a:rPr>
              <a:t>osrs.SetWellKnownGeogCS</a:t>
            </a:r>
            <a:r>
              <a:rPr lang="en-US" altLang="zh-CN" dirty="0" smtClean="0">
                <a:latin typeface="YaHei_Monaco-R"/>
              </a:rPr>
              <a:t>(“EPSG:4326”)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wkt</a:t>
            </a:r>
            <a:r>
              <a:rPr lang="en-US" altLang="zh-CN" dirty="0" smtClean="0">
                <a:latin typeface="YaHei_Monaco-R"/>
              </a:rPr>
              <a:t>=</a:t>
            </a:r>
            <a:r>
              <a:rPr lang="en-US" altLang="zh-CN" dirty="0" err="1" smtClean="0">
                <a:latin typeface="YaHei_Monaco-R"/>
              </a:rPr>
              <a:t>osrs.ExportToWkt</a:t>
            </a:r>
            <a:r>
              <a:rPr lang="en-US" altLang="zh-CN" dirty="0" smtClean="0">
                <a:latin typeface="YaHei_Monaco-R"/>
              </a:rPr>
              <a:t>()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wkt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'GEOGCS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["WGS 84",DATUM["WGS_1984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",……</a:t>
            </a:r>
          </a:p>
        </p:txBody>
      </p:sp>
      <p:sp>
        <p:nvSpPr>
          <p:cNvPr id="6" name="矩形 5"/>
          <p:cNvSpPr/>
          <p:nvPr/>
        </p:nvSpPr>
        <p:spPr>
          <a:xfrm>
            <a:off x="1345748" y="5512360"/>
            <a:ext cx="9462408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sr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sr.SetProjCS</a:t>
            </a:r>
            <a:r>
              <a:rPr lang="en-US" altLang="zh-CN" dirty="0" smtClean="0">
                <a:latin typeface="YaHei_Monaco-R"/>
              </a:rPr>
              <a:t>(‘UTM 17(WGS84)in northern hemisphere.’) #</a:t>
            </a:r>
            <a:r>
              <a:rPr lang="zh-CN" altLang="en-US" dirty="0" smtClean="0">
                <a:latin typeface="YaHei_Monaco-R"/>
              </a:rPr>
              <a:t>定义投影系统名字</a:t>
            </a:r>
            <a:endParaRPr lang="en-US" altLang="zh-CN" dirty="0" smtClean="0"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sr.SetWellKnownGeogCS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(‘WGS84’)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分配一个地理坐标系统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sr.SetUTM</a:t>
            </a:r>
            <a:r>
              <a:rPr lang="en-US" altLang="zh-CN" dirty="0" smtClean="0">
                <a:latin typeface="YaHei_Monaco-R"/>
              </a:rPr>
              <a:t>(17, True)  #</a:t>
            </a:r>
            <a:r>
              <a:rPr lang="zh-CN" altLang="en-US" dirty="0" smtClean="0">
                <a:latin typeface="YaHei_Monaco-R"/>
              </a:rPr>
              <a:t>设置投影变换参数，比如投影带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13766264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sgeo.osr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处理空间参考信息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69352"/>
            <a:ext cx="10763250" cy="51431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 smtClean="0"/>
              <a:t>从文件中获取投影信息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402898" y="1548649"/>
            <a:ext cx="9462408" cy="4524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 smtClean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gdal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dataset 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gdal.Open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(“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geotiff_file.tif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”)   #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从栅格数据中读取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sr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dataset.GetProjectionRef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sr1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sr1.ImportFromWkt</a:t>
            </a:r>
            <a:r>
              <a:rPr lang="en-US" altLang="zh-CN" dirty="0">
                <a:latin typeface="YaHei_Monaco-R"/>
              </a:rPr>
              <a:t>(</a:t>
            </a:r>
            <a:r>
              <a:rPr lang="en-US" altLang="zh-CN" dirty="0" err="1" smtClean="0">
                <a:latin typeface="YaHei_Monaco-R"/>
              </a:rPr>
              <a:t>sr</a:t>
            </a:r>
            <a:r>
              <a:rPr lang="en-US" altLang="zh-CN" dirty="0" smtClean="0">
                <a:latin typeface="YaHei_Monaco-R"/>
              </a:rPr>
              <a:t>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0</a:t>
            </a:r>
          </a:p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sr1.ExportToWkt()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'PROJCS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["Albers_Beijing54",GEOGCS["Unknown datum based upon the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Krassowsky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……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sr1.MorphToESRI()       #</a:t>
            </a:r>
            <a:r>
              <a:rPr lang="zh-CN" altLang="en-US" dirty="0" smtClean="0">
                <a:latin typeface="YaHei_Monaco-R"/>
              </a:rPr>
              <a:t>转换为</a:t>
            </a:r>
            <a:r>
              <a:rPr lang="en-US" altLang="zh-CN" dirty="0" smtClean="0">
                <a:latin typeface="YaHei_Monaco-R"/>
              </a:rPr>
              <a:t>ESRI</a:t>
            </a:r>
            <a:r>
              <a:rPr lang="zh-CN" altLang="en-US" dirty="0" smtClean="0">
                <a:latin typeface="YaHei_Monaco-R"/>
              </a:rPr>
              <a:t>的</a:t>
            </a:r>
            <a:r>
              <a:rPr lang="en-US" altLang="zh-CN" dirty="0" smtClean="0">
                <a:latin typeface="YaHei_Monaco-R"/>
              </a:rPr>
              <a:t>WKT</a:t>
            </a:r>
            <a:r>
              <a:rPr lang="zh-CN" altLang="en-US" dirty="0" smtClean="0">
                <a:latin typeface="YaHei_Monaco-R"/>
              </a:rPr>
              <a:t>格式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11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sr1.ExportToWkt() 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12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'PROJCS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["Albers_Beijing54",GEOGCS["GCS_Krasovsky_1940",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DATUM……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sr1.IsGeographic()   #</a:t>
            </a:r>
            <a:r>
              <a:rPr lang="zh-CN" altLang="en-US" dirty="0" smtClean="0">
                <a:latin typeface="YaHei_Monaco-R"/>
              </a:rPr>
              <a:t>是否是地理坐标系统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0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15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sr1.IsProjected()   #</a:t>
            </a:r>
            <a:r>
              <a:rPr lang="zh-CN" altLang="en-US" dirty="0" smtClean="0">
                <a:latin typeface="YaHei_Monaco-R"/>
              </a:rPr>
              <a:t>是否是投影坐标系统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1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428311716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kumimoji="0" lang="en-US" altLang="zh-CN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sgeo.osr</a:t>
            </a: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处理空间参考信息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69352"/>
            <a:ext cx="10763250" cy="514317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转换坐标系统，比如从</a:t>
            </a:r>
            <a:r>
              <a:rPr lang="en-US" altLang="zh-CN" sz="2400" dirty="0" smtClean="0"/>
              <a:t>EPSG2927</a:t>
            </a:r>
            <a:r>
              <a:rPr lang="zh-CN" altLang="en-US" sz="2400" dirty="0" smtClean="0"/>
              <a:t>到</a:t>
            </a:r>
            <a:r>
              <a:rPr lang="en-US" altLang="zh-CN" sz="2400" dirty="0" smtClean="0"/>
              <a:t>EPSG4326</a:t>
            </a:r>
            <a:r>
              <a:rPr lang="zh-CN" altLang="en-US" sz="2400" dirty="0" smtClean="0"/>
              <a:t>的投影变换如下：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329420" y="3646870"/>
            <a:ext cx="9462408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source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source.ImportFromEPSG</a:t>
            </a:r>
            <a:r>
              <a:rPr lang="en-US" altLang="zh-CN" dirty="0" smtClean="0">
                <a:latin typeface="YaHei_Monaco-R"/>
              </a:rPr>
              <a:t>(2927)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0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target </a:t>
            </a:r>
            <a:r>
              <a:rPr lang="en-US" altLang="zh-CN" dirty="0">
                <a:latin typeface="YaHei_Monaco-R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osr.SpatialReference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target.ImportFromEPSG</a:t>
            </a:r>
            <a:r>
              <a:rPr lang="en-US" altLang="zh-CN" dirty="0" smtClean="0">
                <a:latin typeface="YaHei_Monaco-R"/>
              </a:rPr>
              <a:t>(4326) </a:t>
            </a: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latin typeface="YaHei_Monaco-R"/>
              </a:rPr>
              <a:t>0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transform = </a:t>
            </a:r>
            <a:r>
              <a:rPr lang="en-US" altLang="zh-CN" dirty="0" err="1" smtClean="0">
                <a:latin typeface="YaHei_Monaco-R"/>
              </a:rPr>
              <a:t>osr.CoordinateTransformation</a:t>
            </a:r>
            <a:r>
              <a:rPr lang="en-US" altLang="zh-CN" dirty="0" smtClean="0">
                <a:latin typeface="YaHei_Monaco-R"/>
              </a:rPr>
              <a:t>(source, target)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transform.TransformPoint</a:t>
            </a:r>
            <a:r>
              <a:rPr lang="en-US" altLang="zh-CN" dirty="0" smtClean="0">
                <a:latin typeface="YaHei_Monaco-R"/>
              </a:rPr>
              <a:t>(609000,4928000)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8080FF"/>
                </a:solidFill>
                <a:latin typeface="LMSans8-Regular-Identity-H"/>
              </a:rPr>
              <a:t>10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latin typeface="YaHei_Monaco-R"/>
              </a:rPr>
              <a:t>(58.64357235206437, -125.78844260112797, 0.0</a:t>
            </a:r>
            <a:r>
              <a:rPr lang="en-US" altLang="zh-CN" dirty="0" smtClean="0">
                <a:latin typeface="YaHei_Monaco-R"/>
              </a:rPr>
              <a:t>)</a:t>
            </a:r>
          </a:p>
        </p:txBody>
      </p:sp>
      <p:sp>
        <p:nvSpPr>
          <p:cNvPr id="6" name="矩形 5"/>
          <p:cNvSpPr/>
          <p:nvPr/>
        </p:nvSpPr>
        <p:spPr>
          <a:xfrm>
            <a:off x="1329420" y="1016140"/>
            <a:ext cx="9462408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osgeo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osr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，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driver </a:t>
            </a:r>
            <a:r>
              <a:rPr lang="en-US" altLang="zh-CN" dirty="0">
                <a:latin typeface="YaHei_Monaco-R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ogr.GetDriverByName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(‘ESRI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Shapefile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’) </a:t>
            </a:r>
            <a:r>
              <a:rPr lang="en-US" altLang="zh-CN" dirty="0" smtClean="0">
                <a:latin typeface="YaHei_Monaco-R"/>
              </a:rPr>
              <a:t>#</a:t>
            </a:r>
            <a:r>
              <a:rPr lang="zh-CN" altLang="en-US" dirty="0" smtClean="0">
                <a:latin typeface="YaHei_Monaco-R"/>
              </a:rPr>
              <a:t>从矢量数据读取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dataset=</a:t>
            </a:r>
            <a:r>
              <a:rPr lang="en-US" altLang="zh-CN" dirty="0" err="1" smtClean="0">
                <a:latin typeface="YaHei_Monaco-R"/>
              </a:rPr>
              <a:t>driver.Open</a:t>
            </a:r>
            <a:r>
              <a:rPr lang="en-US" altLang="zh-CN" dirty="0" smtClean="0">
                <a:latin typeface="YaHei_Monaco-R"/>
              </a:rPr>
              <a:t>(‘</a:t>
            </a:r>
            <a:r>
              <a:rPr lang="en-US" altLang="zh-CN" dirty="0" err="1" smtClean="0">
                <a:latin typeface="YaHei_Monaco-R"/>
              </a:rPr>
              <a:t>GSHHS_c.shp</a:t>
            </a:r>
            <a:r>
              <a:rPr lang="en-US" altLang="zh-CN" dirty="0" smtClean="0">
                <a:latin typeface="YaHei_Monaco-R"/>
              </a:rPr>
              <a:t>’)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&gt;&gt;&gt; layer =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dataset.GetLayer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spatialRef</a:t>
            </a:r>
            <a:r>
              <a:rPr lang="en-US" altLang="zh-CN" dirty="0" smtClean="0">
                <a:latin typeface="YaHei_Monaco-R"/>
              </a:rPr>
              <a:t> </a:t>
            </a:r>
            <a:r>
              <a:rPr lang="en-US" altLang="zh-CN" dirty="0">
                <a:latin typeface="YaHei_Monaco-R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layer.GetSpatialRef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latin typeface="YaHei_Monaco-R"/>
              </a:rPr>
              <a:t>spatialRef.ExportToWkt</a:t>
            </a:r>
            <a:r>
              <a:rPr lang="en-US" altLang="zh-CN" dirty="0" smtClean="0">
                <a:latin typeface="YaHei_Monaco-R"/>
              </a:rPr>
              <a:t>()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 smtClean="0">
                <a:latin typeface="YaHei_Monaco-R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598880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55622"/>
            <a:ext cx="10763250" cy="514317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/>
              <a:t>获取</a:t>
            </a:r>
            <a:r>
              <a:rPr lang="en-US" altLang="zh-CN" sz="2400" dirty="0" err="1" smtClean="0"/>
              <a:t>shapefile</a:t>
            </a:r>
            <a:r>
              <a:rPr lang="zh-CN" altLang="en-US" sz="2400" dirty="0" smtClean="0"/>
              <a:t>文件</a:t>
            </a:r>
            <a:r>
              <a:rPr lang="en-US" altLang="zh-CN" sz="2400" dirty="0" err="1" smtClean="0"/>
              <a:t>sites.shp</a:t>
            </a:r>
            <a:r>
              <a:rPr lang="zh-CN" altLang="en-US" sz="2400" dirty="0" smtClean="0"/>
              <a:t>第一个</a:t>
            </a:r>
            <a:r>
              <a:rPr lang="en-US" altLang="zh-CN" sz="2400" dirty="0" smtClean="0"/>
              <a:t>/</a:t>
            </a:r>
            <a:r>
              <a:rPr lang="zh-CN" altLang="en-US" sz="2400" dirty="0" smtClean="0"/>
              <a:t>所有要素点的坐标，以及它投影到</a:t>
            </a:r>
            <a:r>
              <a:rPr lang="en-US" altLang="zh-CN" sz="2400" dirty="0" smtClean="0"/>
              <a:t>WGS84</a:t>
            </a:r>
            <a:r>
              <a:rPr lang="zh-CN" altLang="en-US" sz="2400" dirty="0" smtClean="0"/>
              <a:t>的重投影坐标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步骤：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1. </a:t>
            </a:r>
            <a:r>
              <a:rPr lang="zh-CN" altLang="en-US" sz="2400" dirty="0" smtClean="0"/>
              <a:t>导入需要的模块并设置工作目录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2. </a:t>
            </a:r>
            <a:r>
              <a:rPr lang="zh-CN" altLang="en-US" sz="2400" dirty="0" smtClean="0"/>
              <a:t>获取</a:t>
            </a:r>
            <a:r>
              <a:rPr lang="en-US" altLang="zh-CN" sz="2400" dirty="0" err="1" smtClean="0"/>
              <a:t>shapefile</a:t>
            </a:r>
            <a:r>
              <a:rPr lang="zh-CN" altLang="en-US" sz="2400" dirty="0" smtClean="0"/>
              <a:t>的驱动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3. </a:t>
            </a:r>
            <a:r>
              <a:rPr lang="zh-CN" altLang="en-US" sz="2400" dirty="0" smtClean="0"/>
              <a:t>获取图层和要素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4. </a:t>
            </a:r>
            <a:r>
              <a:rPr lang="zh-CN" altLang="en-US" sz="2400" dirty="0" smtClean="0"/>
              <a:t>获取要素的几何信息及坐标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 smtClean="0"/>
              <a:t>5. </a:t>
            </a:r>
            <a:r>
              <a:rPr lang="zh-CN" altLang="en-US" sz="2400" dirty="0" smtClean="0"/>
              <a:t>输出其原始坐标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6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构建</a:t>
            </a:r>
            <a:r>
              <a:rPr lang="zh-CN" altLang="en-US" sz="2400" dirty="0"/>
              <a:t>重</a:t>
            </a:r>
            <a:r>
              <a:rPr lang="zh-CN" altLang="en-US" sz="2400" dirty="0" smtClean="0"/>
              <a:t>投影所需要的</a:t>
            </a:r>
            <a:r>
              <a:rPr lang="en-US" altLang="zh-CN" sz="2400" dirty="0" err="1" smtClean="0"/>
              <a:t>CoordinateTransformation</a:t>
            </a:r>
            <a:r>
              <a:rPr lang="zh-CN" altLang="en-US" sz="2400" dirty="0" smtClean="0"/>
              <a:t>（</a:t>
            </a:r>
            <a:r>
              <a:rPr lang="zh-CN" altLang="en-US" sz="2400" dirty="0"/>
              <a:t>原</a:t>
            </a:r>
            <a:r>
              <a:rPr lang="zh-CN" altLang="en-US" sz="2400" dirty="0" smtClean="0"/>
              <a:t>坐标系统</a:t>
            </a:r>
            <a:r>
              <a:rPr lang="en-US" altLang="zh-CN" sz="2400" dirty="0" smtClean="0"/>
              <a:t> -&gt; EPSG4326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7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采用构建的重投影转换对要素进行投影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en-US" altLang="zh-CN" sz="2400" dirty="0"/>
              <a:t>8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输出新获取的投影坐标</a:t>
            </a: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  <a:p>
            <a:pPr>
              <a:lnSpc>
                <a:spcPct val="110000"/>
              </a:lnSpc>
            </a:pPr>
            <a:endParaRPr lang="en-US" altLang="zh-CN" sz="2400" dirty="0"/>
          </a:p>
          <a:p>
            <a:pPr>
              <a:lnSpc>
                <a:spcPct val="110000"/>
              </a:lnSpc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45004692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4851083"/>
          </a:xfrm>
        </p:spPr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地图投影</a:t>
            </a:r>
            <a:r>
              <a:rPr lang="en-US" altLang="zh-CN" dirty="0" err="1" smtClean="0"/>
              <a:t>pyproj</a:t>
            </a:r>
            <a:r>
              <a:rPr lang="zh-CN" altLang="en-US" dirty="0" smtClean="0"/>
              <a:t>的基本操作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/>
              <a:t>2</a:t>
            </a:r>
            <a:r>
              <a:rPr lang="en-US" altLang="zh-CN" dirty="0" smtClean="0"/>
              <a:t>. Shapely</a:t>
            </a:r>
            <a:r>
              <a:rPr lang="zh-CN" altLang="en-US" dirty="0" smtClean="0"/>
              <a:t>空间分析基本操作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3. Shapely</a:t>
            </a:r>
            <a:r>
              <a:rPr lang="zh-CN" altLang="en-US" dirty="0" smtClean="0"/>
              <a:t>空间分析实例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9007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hapely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6069" y="980548"/>
            <a:ext cx="10888039" cy="535283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sz="2600" dirty="0" smtClean="0">
                <a:hlinkClick r:id="rId3"/>
              </a:rPr>
              <a:t>Python </a:t>
            </a:r>
            <a:r>
              <a:rPr lang="en-US" altLang="zh-CN" sz="2600" dirty="0">
                <a:hlinkClick r:id="rId3"/>
              </a:rPr>
              <a:t>Extension Packages for Windows - Christoph </a:t>
            </a:r>
            <a:r>
              <a:rPr lang="en-US" altLang="zh-CN" sz="2600" dirty="0" err="1">
                <a:hlinkClick r:id="rId3"/>
              </a:rPr>
              <a:t>Gohlke</a:t>
            </a:r>
            <a:r>
              <a:rPr lang="en-US" altLang="zh-CN" sz="2600" dirty="0">
                <a:hlinkClick r:id="rId3"/>
              </a:rPr>
              <a:t> (uci.edu)</a:t>
            </a:r>
            <a:endParaRPr lang="en-US" altLang="zh-CN" sz="2600" dirty="0"/>
          </a:p>
          <a:p>
            <a:pPr>
              <a:lnSpc>
                <a:spcPct val="110000"/>
              </a:lnSpc>
            </a:pPr>
            <a:r>
              <a:rPr lang="en-US" altLang="zh-CN" sz="2600" dirty="0">
                <a:hlinkClick r:id="rId4"/>
              </a:rPr>
              <a:t>https://www.lfd.uci.edu/~gohlke/pythonlibs/#</a:t>
            </a:r>
            <a:r>
              <a:rPr lang="en-US" altLang="zh-CN" sz="2600" dirty="0" smtClean="0">
                <a:hlinkClick r:id="rId4"/>
              </a:rPr>
              <a:t>shapely</a:t>
            </a:r>
            <a:r>
              <a:rPr lang="en-US" altLang="zh-CN" sz="2600" dirty="0" smtClean="0"/>
              <a:t> </a:t>
            </a:r>
          </a:p>
          <a:p>
            <a:pPr>
              <a:lnSpc>
                <a:spcPct val="110000"/>
              </a:lnSpc>
            </a:pPr>
            <a:endParaRPr lang="en-US" altLang="zh-CN" sz="2600" dirty="0" smtClean="0"/>
          </a:p>
          <a:p>
            <a:pPr>
              <a:lnSpc>
                <a:spcPct val="110000"/>
              </a:lnSpc>
            </a:pPr>
            <a:endParaRPr lang="en-US" altLang="zh-CN" sz="2600" dirty="0" smtClean="0"/>
          </a:p>
          <a:p>
            <a:pPr>
              <a:lnSpc>
                <a:spcPct val="110000"/>
              </a:lnSpc>
            </a:pPr>
            <a:endParaRPr lang="en-US" altLang="zh-CN" sz="2600" dirty="0"/>
          </a:p>
          <a:p>
            <a:pPr>
              <a:lnSpc>
                <a:spcPct val="110000"/>
              </a:lnSpc>
            </a:pPr>
            <a:endParaRPr lang="en-US" altLang="zh-CN" sz="2600" dirty="0"/>
          </a:p>
        </p:txBody>
      </p:sp>
      <p:sp>
        <p:nvSpPr>
          <p:cNvPr id="7" name="矩形 6"/>
          <p:cNvSpPr/>
          <p:nvPr/>
        </p:nvSpPr>
        <p:spPr>
          <a:xfrm>
            <a:off x="2123496" y="2260866"/>
            <a:ext cx="666127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sz="1600" dirty="0" smtClean="0">
                <a:solidFill>
                  <a:srgbClr val="8080FF"/>
                </a:solidFill>
                <a:latin typeface="LMSans8-Regular-Identity-H"/>
              </a:rPr>
              <a:t> </a:t>
            </a:r>
            <a:r>
              <a:rPr lang="en-US" altLang="zh-CN" dirty="0" smtClean="0">
                <a:latin typeface="YaHei_Monaco-R"/>
              </a:rPr>
              <a:t>pip install Shapely-1.7.1-cp38-cp38m-win_amd64.whl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642" y="2926305"/>
            <a:ext cx="9217282" cy="316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685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88521" y="936878"/>
            <a:ext cx="10953750" cy="5516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dirty="0" smtClean="0"/>
              <a:t>Shapely</a:t>
            </a:r>
            <a:r>
              <a:rPr lang="zh-CN" altLang="en-US" sz="2400" dirty="0" smtClean="0"/>
              <a:t>主要用于实现</a:t>
            </a:r>
            <a:r>
              <a:rPr lang="en-US" altLang="zh-CN" sz="2400" dirty="0" err="1" smtClean="0"/>
              <a:t>shapefile</a:t>
            </a:r>
            <a:r>
              <a:rPr lang="zh-CN" altLang="en-US" sz="2400" dirty="0" smtClean="0"/>
              <a:t>相关</a:t>
            </a:r>
            <a:r>
              <a:rPr lang="zh-CN" altLang="en-US" sz="2400" dirty="0"/>
              <a:t>数据的几何处理，</a:t>
            </a:r>
            <a:r>
              <a:rPr lang="zh-CN" altLang="en-US" sz="2400" dirty="0" smtClean="0"/>
              <a:t>如几何要素构建，二</a:t>
            </a:r>
            <a:r>
              <a:rPr lang="zh-CN" altLang="en-US" sz="2400" dirty="0"/>
              <a:t>维的拓扑</a:t>
            </a:r>
            <a:r>
              <a:rPr lang="zh-CN" altLang="en-US" sz="2400" dirty="0" smtClean="0"/>
              <a:t>处理等。</a:t>
            </a:r>
            <a:endParaRPr lang="zh-CN" altLang="en-US" sz="2400" dirty="0"/>
          </a:p>
          <a:p>
            <a:pPr>
              <a:lnSpc>
                <a:spcPct val="100000"/>
              </a:lnSpc>
            </a:pPr>
            <a:r>
              <a:rPr lang="en-US" altLang="zh-CN" sz="2400" dirty="0" smtClean="0"/>
              <a:t>Shapely </a:t>
            </a:r>
            <a:r>
              <a:rPr lang="zh-CN" altLang="en-US" sz="2400" dirty="0" smtClean="0"/>
              <a:t>是对</a:t>
            </a:r>
            <a:r>
              <a:rPr lang="en-US" altLang="zh-CN" sz="2400" dirty="0" smtClean="0"/>
              <a:t>GEOS</a:t>
            </a:r>
            <a:r>
              <a:rPr lang="zh-CN" altLang="en-US" sz="2400" dirty="0" smtClean="0"/>
              <a:t>库的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封装。但它不支持坐标系统转换，所有对象的操作都假定特征在同一个直角平面坐标系统中。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>
                <a:hlinkClick r:id="rId3"/>
              </a:rPr>
              <a:t>Shapely</a:t>
            </a:r>
            <a:r>
              <a:rPr lang="zh-CN" altLang="en-US" sz="2400" dirty="0">
                <a:hlinkClick r:id="rId3"/>
              </a:rPr>
              <a:t>用户手册 </a:t>
            </a:r>
            <a:r>
              <a:rPr lang="en-US" altLang="zh-CN" sz="2400" dirty="0">
                <a:hlinkClick r:id="rId3"/>
              </a:rPr>
              <a:t>— Shapely 1.7a2 </a:t>
            </a:r>
            <a:r>
              <a:rPr lang="zh-CN" altLang="en-US" sz="2400" dirty="0">
                <a:hlinkClick r:id="rId3"/>
              </a:rPr>
              <a:t>文档 </a:t>
            </a:r>
            <a:r>
              <a:rPr lang="en-US" altLang="zh-CN" sz="2400" dirty="0">
                <a:hlinkClick r:id="rId3"/>
              </a:rPr>
              <a:t>(osgeo.cn)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endParaRPr lang="en-US" altLang="zh-CN" sz="2400" b="1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endParaRPr lang="en-US" altLang="zh-CN" sz="2400" b="1" dirty="0" smtClean="0">
              <a:solidFill>
                <a:srgbClr val="C00000"/>
              </a:solidFill>
            </a:endParaRPr>
          </a:p>
          <a:p>
            <a:pPr marL="0" indent="0">
              <a:lnSpc>
                <a:spcPct val="100000"/>
              </a:lnSpc>
              <a:buFont typeface="Arial" panose="020B0604020202090204" pitchFamily="34" charset="0"/>
              <a:buNone/>
            </a:pPr>
            <a:endParaRPr lang="en-US" altLang="zh-CN" sz="2400" b="1" dirty="0" smtClean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66874" y="3245142"/>
            <a:ext cx="969645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2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Shapely</a:t>
            </a:r>
            <a:r>
              <a:rPr lang="zh-CN" altLang="en-US" sz="2200" b="1" dirty="0" smtClean="0"/>
              <a:t>主要</a:t>
            </a:r>
            <a:r>
              <a:rPr lang="zh-CN" altLang="en-US" sz="2200" b="1" dirty="0"/>
              <a:t>支持</a:t>
            </a:r>
            <a:r>
              <a:rPr lang="zh-CN" altLang="en-US" sz="2200" b="1" dirty="0" smtClean="0"/>
              <a:t>的空间关系</a:t>
            </a:r>
            <a:endParaRPr lang="en-US" altLang="zh-CN" sz="2200" b="1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相等</a:t>
            </a:r>
            <a:r>
              <a:rPr lang="en-US" altLang="zh-CN" sz="2200" dirty="0" smtClean="0">
                <a:latin typeface="LMSans10-Regular-Identity-H"/>
                <a:ea typeface="华文细黑" panose="02010600040101010101" pitchFamily="2" charset="-122"/>
              </a:rPr>
              <a:t>(Equals) 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几何形状拓扑上相等。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脱节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(Disjoint)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几何形状没有共有的点。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相交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(Intersects)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几何形状至少有一个共有点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区别于脱节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接触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(Touches)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几何形状有至少一个公共的边界点，但是没有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内部点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交叉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(Crosses)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几何形状共享一些但不是所有的内部点。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内含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(Within)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形状 </a:t>
            </a:r>
            <a:r>
              <a:rPr lang="en-US" altLang="zh-CN" sz="2200" dirty="0" smtClean="0">
                <a:latin typeface="LMSans10-Regular-Identity-H"/>
                <a:ea typeface="华文细黑" panose="02010600040101010101" pitchFamily="2" charset="-122"/>
              </a:rPr>
              <a:t>A 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的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线都在几何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形状 </a:t>
            </a:r>
            <a:r>
              <a:rPr lang="en-US" altLang="zh-CN" sz="2200" dirty="0" smtClean="0">
                <a:latin typeface="LMSans10-Regular-Identity-H"/>
                <a:ea typeface="华文细黑" panose="02010600040101010101" pitchFamily="2" charset="-122"/>
              </a:rPr>
              <a:t>B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内部。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包含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(Contains)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形状 </a:t>
            </a:r>
            <a:r>
              <a:rPr lang="en-US" altLang="zh-CN" sz="2200" dirty="0" smtClean="0">
                <a:latin typeface="LMSans10-Regular-Identity-H"/>
                <a:ea typeface="华文细黑" panose="02010600040101010101" pitchFamily="2" charset="-122"/>
              </a:rPr>
              <a:t>B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的线都在几何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形状 </a:t>
            </a:r>
            <a:r>
              <a:rPr lang="en-US" altLang="zh-CN" sz="2200" dirty="0" smtClean="0">
                <a:latin typeface="LMSans10-Regular-Identity-H"/>
                <a:ea typeface="华文细黑" panose="02010600040101010101" pitchFamily="2" charset="-122"/>
              </a:rPr>
              <a:t>A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内部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区别于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内含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重叠</a:t>
            </a:r>
            <a:r>
              <a:rPr lang="en-US" altLang="zh-CN" sz="2200" dirty="0">
                <a:latin typeface="LMSans10-Regular-Identity-H"/>
                <a:ea typeface="华文细黑" panose="02010600040101010101" pitchFamily="2" charset="-122"/>
              </a:rPr>
              <a:t>(Overlaps) 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几何形状共享一部分但不是所有的公共点，而且</a:t>
            </a:r>
            <a:r>
              <a:rPr lang="zh-CN" altLang="en-US" sz="2200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相交</a:t>
            </a:r>
            <a:r>
              <a:rPr lang="zh-CN" altLang="en-US" sz="2200" dirty="0">
                <a:latin typeface="华文细黑" panose="02010600040101010101" pitchFamily="2" charset="-122"/>
                <a:ea typeface="华文细黑" panose="02010600040101010101" pitchFamily="2" charset="-122"/>
              </a:rPr>
              <a:t>处有他们自己相同的区域。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57652272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空间对象的操作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66107" y="1132821"/>
            <a:ext cx="10129157" cy="5451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Shapely</a:t>
            </a:r>
            <a:r>
              <a:rPr lang="zh-CN" altLang="en-US" sz="2400" b="1" dirty="0" smtClean="0"/>
              <a:t>构建新要素的方法</a:t>
            </a:r>
            <a:endParaRPr lang="en-US" altLang="zh-CN" sz="24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缓冲区分析</a:t>
            </a:r>
            <a:r>
              <a:rPr lang="en-US" altLang="zh-CN" sz="2400" dirty="0" smtClean="0"/>
              <a:t>(Buffer)</a:t>
            </a:r>
            <a:r>
              <a:rPr lang="en-US" altLang="zh-CN" sz="2400" dirty="0"/>
              <a:t>:</a:t>
            </a:r>
            <a:r>
              <a:rPr lang="en-US" altLang="zh-CN" sz="2400" dirty="0" smtClean="0"/>
              <a:t> </a:t>
            </a:r>
            <a:r>
              <a:rPr lang="zh-CN" altLang="en-US" sz="2400" dirty="0" smtClean="0"/>
              <a:t>包含所有的点在一个指定距离内的多边形和多个多边形。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凸</a:t>
            </a:r>
            <a:r>
              <a:rPr lang="zh-CN" altLang="en-US" sz="2400" dirty="0"/>
              <a:t>包</a:t>
            </a:r>
            <a:r>
              <a:rPr lang="zh-CN" altLang="en-US" sz="2400" dirty="0" smtClean="0"/>
              <a:t>分析</a:t>
            </a:r>
            <a:r>
              <a:rPr lang="en-US" altLang="zh-CN" sz="2400" dirty="0"/>
              <a:t>(</a:t>
            </a:r>
            <a:r>
              <a:rPr lang="en-US" altLang="zh-CN" sz="2400" dirty="0" err="1"/>
              <a:t>ConvexHull</a:t>
            </a:r>
            <a:r>
              <a:rPr lang="en-US" altLang="zh-CN" sz="2400" dirty="0" smtClean="0"/>
              <a:t>): </a:t>
            </a:r>
            <a:r>
              <a:rPr lang="zh-CN" altLang="en-US" sz="2400" dirty="0"/>
              <a:t>包含几何形体的所有点的</a:t>
            </a:r>
            <a:r>
              <a:rPr lang="zh-CN" altLang="en-US" sz="2400" dirty="0" smtClean="0"/>
              <a:t>最小外包多边形</a:t>
            </a:r>
            <a:endParaRPr lang="en-US" altLang="zh-CN" sz="24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交叉</a:t>
            </a:r>
            <a:r>
              <a:rPr lang="zh-CN" altLang="en-US" sz="2400" dirty="0"/>
              <a:t>分析</a:t>
            </a:r>
            <a:r>
              <a:rPr lang="en-US" altLang="zh-CN" sz="2400" dirty="0"/>
              <a:t>(Intersection</a:t>
            </a:r>
            <a:r>
              <a:rPr lang="en-US" altLang="zh-CN" sz="2400" dirty="0" smtClean="0"/>
              <a:t>): </a:t>
            </a:r>
            <a:r>
              <a:rPr lang="zh-CN" altLang="en-US" sz="2400" dirty="0"/>
              <a:t>交叉操作就是多边形</a:t>
            </a:r>
            <a:r>
              <a:rPr lang="en-US" altLang="zh-CN" sz="2400" dirty="0"/>
              <a:t>AB </a:t>
            </a:r>
            <a:r>
              <a:rPr lang="zh-CN" altLang="en-US" sz="2400" dirty="0"/>
              <a:t>中所有共同点的</a:t>
            </a:r>
            <a:r>
              <a:rPr lang="zh-CN" altLang="en-US" sz="2400" dirty="0" smtClean="0"/>
              <a:t>集合</a:t>
            </a:r>
            <a:r>
              <a:rPr lang="zh-CN" altLang="en-US" sz="2400" dirty="0"/>
              <a:t>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联合</a:t>
            </a:r>
            <a:r>
              <a:rPr lang="zh-CN" altLang="en-US" sz="2400" dirty="0"/>
              <a:t>分析</a:t>
            </a:r>
            <a:r>
              <a:rPr lang="en-US" altLang="zh-CN" sz="2400" dirty="0"/>
              <a:t>(Union</a:t>
            </a:r>
            <a:r>
              <a:rPr lang="en-US" altLang="zh-CN" sz="2400" dirty="0" smtClean="0"/>
              <a:t>): AB </a:t>
            </a:r>
            <a:r>
              <a:rPr lang="zh-CN" altLang="en-US" sz="2400" dirty="0"/>
              <a:t>的联合操作就是</a:t>
            </a:r>
            <a:r>
              <a:rPr lang="en-US" altLang="zh-CN" sz="2400" dirty="0"/>
              <a:t>AB </a:t>
            </a:r>
            <a:r>
              <a:rPr lang="zh-CN" altLang="en-US" sz="2400" dirty="0"/>
              <a:t>所有点的集合。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差异</a:t>
            </a:r>
            <a:r>
              <a:rPr lang="zh-CN" altLang="en-US" sz="2400" dirty="0"/>
              <a:t>分析</a:t>
            </a:r>
            <a:r>
              <a:rPr lang="en-US" altLang="zh-CN" sz="2400" dirty="0"/>
              <a:t>(Difference</a:t>
            </a:r>
            <a:r>
              <a:rPr lang="en-US" altLang="zh-CN" sz="2400" dirty="0" smtClean="0"/>
              <a:t>): AB </a:t>
            </a:r>
            <a:r>
              <a:rPr lang="zh-CN" altLang="en-US" sz="2400" dirty="0"/>
              <a:t>形状的差异分析就是</a:t>
            </a:r>
            <a:r>
              <a:rPr lang="en-US" altLang="zh-CN" sz="2400" dirty="0"/>
              <a:t>A </a:t>
            </a:r>
            <a:r>
              <a:rPr lang="zh-CN" altLang="en-US" sz="2400" dirty="0"/>
              <a:t>里有</a:t>
            </a:r>
            <a:r>
              <a:rPr lang="en-US" altLang="zh-CN" sz="2400" dirty="0"/>
              <a:t>B </a:t>
            </a:r>
            <a:r>
              <a:rPr lang="zh-CN" altLang="en-US" sz="2400" dirty="0"/>
              <a:t>里没有</a:t>
            </a:r>
            <a:r>
              <a:rPr lang="zh-CN" altLang="en-US" sz="2400" dirty="0" smtClean="0"/>
              <a:t>的所</a:t>
            </a:r>
            <a:r>
              <a:rPr lang="zh-CN" altLang="en-US" sz="2400" dirty="0"/>
              <a:t>有点的集合。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zh-CN" altLang="en-US" sz="2400" dirty="0" smtClean="0"/>
              <a:t>对称</a:t>
            </a:r>
            <a:r>
              <a:rPr lang="zh-CN" altLang="en-US" sz="2400" dirty="0"/>
              <a:t>差异分析</a:t>
            </a:r>
            <a:r>
              <a:rPr lang="en-US" altLang="zh-CN" sz="2400" dirty="0"/>
              <a:t>(</a:t>
            </a:r>
            <a:r>
              <a:rPr lang="en-US" altLang="zh-CN" sz="2400" dirty="0" err="1"/>
              <a:t>SymDifference</a:t>
            </a:r>
            <a:r>
              <a:rPr lang="en-US" altLang="zh-CN" sz="2400" dirty="0" smtClean="0"/>
              <a:t>): AB </a:t>
            </a:r>
            <a:r>
              <a:rPr lang="zh-CN" altLang="en-US" sz="2400" dirty="0"/>
              <a:t>形状的对称差异分析就是位于</a:t>
            </a:r>
            <a:r>
              <a:rPr lang="en-US" altLang="zh-CN" sz="2400" dirty="0" smtClean="0"/>
              <a:t>A</a:t>
            </a:r>
            <a:r>
              <a:rPr lang="zh-CN" altLang="en-US" sz="2400" dirty="0" smtClean="0"/>
              <a:t>中</a:t>
            </a:r>
            <a:r>
              <a:rPr lang="zh-CN" altLang="en-US" sz="2400" dirty="0"/>
              <a:t>或者</a:t>
            </a:r>
            <a:r>
              <a:rPr lang="en-US" altLang="zh-CN" sz="2400" dirty="0"/>
              <a:t>B </a:t>
            </a:r>
            <a:r>
              <a:rPr lang="zh-CN" altLang="en-US" sz="2400" dirty="0"/>
              <a:t>中但不同时在</a:t>
            </a:r>
            <a:r>
              <a:rPr lang="en-US" altLang="zh-CN" sz="2400" dirty="0"/>
              <a:t>AB </a:t>
            </a:r>
            <a:r>
              <a:rPr lang="zh-CN" altLang="en-US" sz="2400" dirty="0"/>
              <a:t>中的所有点的</a:t>
            </a:r>
            <a:r>
              <a:rPr lang="zh-CN" altLang="en-US" sz="2400" dirty="0" smtClean="0"/>
              <a:t>集合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0231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的几何对象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9179" y="1037605"/>
            <a:ext cx="10158549" cy="515288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dirty="0" smtClean="0"/>
              <a:t>包含点</a:t>
            </a:r>
            <a:r>
              <a:rPr lang="zh-CN" altLang="en-US" sz="2400" dirty="0"/>
              <a:t>、线</a:t>
            </a:r>
            <a:r>
              <a:rPr lang="zh-CN" altLang="en-US" sz="2400" dirty="0" smtClean="0"/>
              <a:t>、</a:t>
            </a:r>
            <a:r>
              <a:rPr lang="zh-CN" altLang="en-US" sz="2400" dirty="0"/>
              <a:t>面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实例，其最重要的属性是具有一个能够决定其内部</a:t>
            </a:r>
            <a:r>
              <a:rPr lang="zh-CN" altLang="en-US" sz="2400" dirty="0" smtClean="0"/>
              <a:t>、边界</a:t>
            </a:r>
            <a:r>
              <a:rPr lang="zh-CN" altLang="en-US" sz="2400" dirty="0"/>
              <a:t>、和外部点集的有限序列的坐标</a:t>
            </a:r>
            <a:r>
              <a:rPr lang="zh-CN" altLang="en-US" sz="2400" dirty="0" smtClean="0"/>
              <a:t>。线至少</a:t>
            </a:r>
            <a:r>
              <a:rPr lang="zh-CN" altLang="en-US" sz="2400" dirty="0"/>
              <a:t>由两个点组成</a:t>
            </a:r>
            <a:r>
              <a:rPr lang="en-US" altLang="zh-CN" sz="2400" dirty="0"/>
              <a:t>, </a:t>
            </a:r>
            <a:r>
              <a:rPr lang="zh-CN" altLang="en-US" sz="2400" dirty="0" smtClean="0"/>
              <a:t>可以</a:t>
            </a:r>
            <a:r>
              <a:rPr lang="zh-CN" altLang="en-US" sz="2400" dirty="0"/>
              <a:t>包含任意多</a:t>
            </a:r>
            <a:r>
              <a:rPr lang="zh-CN" altLang="en-US" sz="2400" dirty="0" smtClean="0"/>
              <a:t>点。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当</a:t>
            </a:r>
            <a:r>
              <a:rPr lang="zh-CN" altLang="en-US" sz="2400" dirty="0"/>
              <a:t>构建实例时，</a:t>
            </a:r>
            <a:r>
              <a:rPr lang="zh-CN" altLang="en-US" sz="2400" dirty="0">
                <a:solidFill>
                  <a:srgbClr val="FF0000"/>
                </a:solidFill>
              </a:rPr>
              <a:t>第三个</a:t>
            </a:r>
            <a:r>
              <a:rPr lang="en-US" altLang="zh-CN" sz="2400" dirty="0">
                <a:solidFill>
                  <a:srgbClr val="FF0000"/>
                </a:solidFill>
              </a:rPr>
              <a:t>Z </a:t>
            </a:r>
            <a:r>
              <a:rPr lang="zh-CN" altLang="en-US" sz="2400" dirty="0">
                <a:solidFill>
                  <a:srgbClr val="FF0000"/>
                </a:solidFill>
              </a:rPr>
              <a:t>坐标可能被用到，但有几何分析</a:t>
            </a:r>
            <a:r>
              <a:rPr lang="zh-CN" altLang="en-US" sz="2400" dirty="0" smtClean="0">
                <a:solidFill>
                  <a:srgbClr val="FF0000"/>
                </a:solidFill>
              </a:rPr>
              <a:t>上没有</a:t>
            </a:r>
            <a:r>
              <a:rPr lang="zh-CN" altLang="en-US" sz="2400" dirty="0">
                <a:solidFill>
                  <a:srgbClr val="FF0000"/>
                </a:solidFill>
              </a:rPr>
              <a:t>任何影响</a:t>
            </a:r>
            <a:r>
              <a:rPr lang="zh-CN" altLang="en-US" sz="2400" dirty="0"/>
              <a:t>。</a:t>
            </a:r>
            <a:r>
              <a:rPr lang="zh-CN" altLang="en-US" sz="2400" dirty="0">
                <a:solidFill>
                  <a:srgbClr val="FF0000"/>
                </a:solidFill>
              </a:rPr>
              <a:t>所有操作均在二维平面进行</a:t>
            </a:r>
            <a:r>
              <a:rPr lang="zh-CN" altLang="en-US" sz="2400" dirty="0" smtClean="0"/>
              <a:t>。在</a:t>
            </a:r>
            <a:r>
              <a:rPr lang="zh-CN" altLang="en-US" sz="2400" dirty="0"/>
              <a:t>所有的构造函数中，数值转换为</a:t>
            </a:r>
            <a:r>
              <a:rPr lang="en-US" altLang="zh-CN" sz="2400" dirty="0"/>
              <a:t>float </a:t>
            </a:r>
            <a:r>
              <a:rPr lang="zh-CN" altLang="en-US" sz="2400" dirty="0"/>
              <a:t>类型。换句话说，点（</a:t>
            </a:r>
            <a:r>
              <a:rPr lang="en-US" altLang="zh-CN" sz="2400" dirty="0"/>
              <a:t>0,0</a:t>
            </a:r>
            <a:r>
              <a:rPr lang="zh-CN" altLang="en-US" sz="2400" dirty="0" smtClean="0"/>
              <a:t>）和</a:t>
            </a:r>
            <a:r>
              <a:rPr lang="zh-CN" altLang="en-US" sz="2400" dirty="0"/>
              <a:t>点（</a:t>
            </a:r>
            <a:r>
              <a:rPr lang="en-US" altLang="zh-CN" sz="2400" dirty="0"/>
              <a:t>0.0</a:t>
            </a:r>
            <a:r>
              <a:rPr lang="zh-CN" altLang="en-US" sz="2400" dirty="0"/>
              <a:t>，</a:t>
            </a:r>
            <a:r>
              <a:rPr lang="en-US" altLang="zh-CN" sz="2400" dirty="0"/>
              <a:t>0.0</a:t>
            </a:r>
            <a:r>
              <a:rPr lang="zh-CN" altLang="en-US" sz="2400" dirty="0"/>
              <a:t>）产生的同等的几何实例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10000"/>
              </a:lnSpc>
            </a:pPr>
            <a:r>
              <a:rPr lang="zh-CN" altLang="en-US" sz="2400" dirty="0" smtClean="0"/>
              <a:t>当</a:t>
            </a:r>
            <a:r>
              <a:rPr lang="zh-CN" altLang="en-US" sz="2400" dirty="0"/>
              <a:t>构建实例时，</a:t>
            </a:r>
            <a:r>
              <a:rPr lang="en-US" altLang="zh-CN" sz="2400" dirty="0" smtClean="0"/>
              <a:t>Shapely</a:t>
            </a:r>
            <a:r>
              <a:rPr lang="zh-CN" altLang="en-US" sz="2400" dirty="0" smtClean="0">
                <a:solidFill>
                  <a:srgbClr val="FF0000"/>
                </a:solidFill>
              </a:rPr>
              <a:t>不会</a:t>
            </a:r>
            <a:r>
              <a:rPr lang="zh-CN" altLang="en-US" sz="2400" dirty="0" smtClean="0"/>
              <a:t>自动检查</a:t>
            </a:r>
            <a:r>
              <a:rPr lang="zh-CN" altLang="en-US" sz="2400" dirty="0"/>
              <a:t>实例的简单性或者</a:t>
            </a:r>
            <a:r>
              <a:rPr lang="zh-CN" altLang="en-US" sz="2400" dirty="0" smtClean="0"/>
              <a:t>有效性，也不保证结果是否有效。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3411233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属性与方法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2119" y="1249136"/>
            <a:ext cx="10514838" cy="52187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object.area</a:t>
            </a:r>
            <a:r>
              <a:rPr lang="en-US" altLang="zh-CN" dirty="0"/>
              <a:t> </a:t>
            </a:r>
            <a:r>
              <a:rPr lang="zh-CN" altLang="en-US" dirty="0"/>
              <a:t>为返回对象的面积</a:t>
            </a:r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object.bounds</a:t>
            </a:r>
            <a:r>
              <a:rPr lang="en-US" altLang="zh-CN" dirty="0" smtClean="0"/>
              <a:t> </a:t>
            </a:r>
            <a:r>
              <a:rPr lang="zh-CN" altLang="en-US" dirty="0"/>
              <a:t>为返回一个元组</a:t>
            </a:r>
            <a:r>
              <a:rPr lang="en-US" altLang="zh-CN" dirty="0"/>
              <a:t>(</a:t>
            </a:r>
            <a:r>
              <a:rPr lang="en-US" altLang="zh-CN" dirty="0" err="1"/>
              <a:t>minx,miny,maxx,maxy</a:t>
            </a:r>
            <a:r>
              <a:rPr lang="en-US" altLang="zh-CN" dirty="0"/>
              <a:t>)</a:t>
            </a:r>
            <a:r>
              <a:rPr lang="zh-CN" altLang="en-US" dirty="0" smtClean="0"/>
              <a:t>，即</a:t>
            </a:r>
            <a:r>
              <a:rPr lang="zh-CN" altLang="en-US" dirty="0"/>
              <a:t>对象</a:t>
            </a:r>
            <a:r>
              <a:rPr lang="zh-CN" altLang="en-US" dirty="0" smtClean="0"/>
              <a:t>的最小外包矩形。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object.length</a:t>
            </a:r>
            <a:r>
              <a:rPr lang="en-US" altLang="zh-CN" dirty="0" smtClean="0"/>
              <a:t> </a:t>
            </a:r>
            <a:r>
              <a:rPr lang="zh-CN" altLang="en-US" dirty="0"/>
              <a:t>为返回对象的长度。</a:t>
            </a:r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object.geom_type</a:t>
            </a:r>
            <a:r>
              <a:rPr lang="en-US" altLang="zh-CN" dirty="0" smtClean="0"/>
              <a:t> </a:t>
            </a:r>
            <a:r>
              <a:rPr lang="zh-CN" altLang="en-US" dirty="0"/>
              <a:t>为返回一个字符串，指定对象的几何类型</a:t>
            </a:r>
            <a:r>
              <a:rPr lang="zh-CN" altLang="en-US" dirty="0" smtClean="0"/>
              <a:t>，按照</a:t>
            </a:r>
            <a:r>
              <a:rPr lang="en-US" altLang="zh-CN" dirty="0" err="1"/>
              <a:t>OpenGIS</a:t>
            </a:r>
            <a:r>
              <a:rPr lang="en-US" altLang="zh-CN" dirty="0"/>
              <a:t> </a:t>
            </a:r>
            <a:r>
              <a:rPr lang="zh-CN" altLang="en-US" dirty="0"/>
              <a:t>的格式进行。</a:t>
            </a:r>
            <a:r>
              <a:rPr lang="en-US" altLang="zh-CN" sz="2600" dirty="0" smtClean="0"/>
              <a:t>  </a:t>
            </a:r>
            <a:endParaRPr lang="zh-CN" altLang="en-US" sz="2600" dirty="0"/>
          </a:p>
        </p:txBody>
      </p:sp>
      <p:sp>
        <p:nvSpPr>
          <p:cNvPr id="6" name="矩形 5"/>
          <p:cNvSpPr/>
          <p:nvPr/>
        </p:nvSpPr>
        <p:spPr>
          <a:xfrm>
            <a:off x="2460172" y="4698163"/>
            <a:ext cx="6096000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FF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Point(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r>
              <a:rPr lang="en-US" altLang="zh-CN" dirty="0">
                <a:solidFill>
                  <a:srgbClr val="666666"/>
                </a:solidFill>
                <a:latin typeface="YaHei_Monaco-R"/>
              </a:rPr>
              <a:t>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geom_type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BB2121"/>
                </a:solidFill>
                <a:latin typeface="YaHei_Monaco-R"/>
              </a:rPr>
              <a:t>'Point'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95028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属性与方法</a:t>
            </a:r>
            <a:endParaRPr lang="zh-CN" altLang="en-US" sz="40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86612" y="1271016"/>
            <a:ext cx="10408702" cy="48510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object.distance</a:t>
            </a:r>
            <a:r>
              <a:rPr lang="en-US" altLang="zh-CN" dirty="0"/>
              <a:t>(other) </a:t>
            </a:r>
            <a:r>
              <a:rPr lang="zh-CN" altLang="en-US" dirty="0"/>
              <a:t>返回到其他类型几何对象之间的浮点</a:t>
            </a:r>
            <a:r>
              <a:rPr lang="zh-CN" altLang="en-US" dirty="0" smtClean="0"/>
              <a:t>型</a:t>
            </a:r>
            <a:r>
              <a:rPr lang="zh-CN" altLang="en-US" dirty="0" smtClean="0">
                <a:solidFill>
                  <a:srgbClr val="FF0000"/>
                </a:solidFill>
              </a:rPr>
              <a:t>最</a:t>
            </a:r>
            <a:r>
              <a:rPr lang="zh-CN" altLang="en-US" dirty="0">
                <a:solidFill>
                  <a:srgbClr val="FF0000"/>
                </a:solidFill>
              </a:rPr>
              <a:t>短距离</a:t>
            </a:r>
            <a:r>
              <a:rPr lang="zh-CN" altLang="en-US" dirty="0"/>
              <a:t>。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object.representative_point</a:t>
            </a:r>
            <a:r>
              <a:rPr lang="en-US" altLang="zh-CN" dirty="0"/>
              <a:t>() </a:t>
            </a:r>
            <a:r>
              <a:rPr lang="zh-CN" altLang="en-US" dirty="0"/>
              <a:t>返回一个在几何对象内</a:t>
            </a:r>
            <a:r>
              <a:rPr lang="zh-CN" altLang="en-US" dirty="0" smtClean="0"/>
              <a:t>的点。注意：这个</a:t>
            </a:r>
            <a:r>
              <a:rPr lang="zh-CN" altLang="en-US" dirty="0"/>
              <a:t>点得到的是依照所需计算量最小而定的，</a:t>
            </a:r>
            <a:r>
              <a:rPr lang="zh-CN" altLang="en-US" dirty="0" smtClean="0"/>
              <a:t>只要在</a:t>
            </a:r>
            <a:r>
              <a:rPr lang="zh-CN" altLang="en-US" dirty="0"/>
              <a:t>几何对象内部即</a:t>
            </a:r>
            <a:r>
              <a:rPr lang="zh-CN" altLang="en-US" dirty="0" smtClean="0"/>
              <a:t>可，不代表几何对象的质心。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1872343" y="2322064"/>
            <a:ext cx="892900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Point(0,0).distance(Point(1,1))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1.4142135623730951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872343" y="4764067"/>
            <a:ext cx="8929006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donut = Point(0, 0).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(2.0).difference(Point(0, 0).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(1.0))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donut.centroid.wkt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'POINT (-2.26143213395106e-17 -3.945215842382012e-17)'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872343" y="5985124"/>
            <a:ext cx="8929006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donut.representative_point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wkt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'POINT (-1.5 4.119267568565299e-15)'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322808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40130"/>
            <a:ext cx="10515599" cy="4851083"/>
          </a:xfrm>
        </p:spPr>
        <p:txBody>
          <a:bodyPr>
            <a:normAutofit/>
          </a:bodyPr>
          <a:lstStyle/>
          <a:p>
            <a:r>
              <a:rPr lang="en-US" altLang="zh-CN" dirty="0"/>
              <a:t>Point</a:t>
            </a:r>
            <a:r>
              <a:rPr lang="zh-CN" altLang="en-US" dirty="0" smtClean="0"/>
              <a:t>的</a:t>
            </a:r>
            <a:r>
              <a:rPr lang="zh-CN" altLang="en-US" dirty="0"/>
              <a:t>构造函数采用坐标位置值或点元组参数。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一</a:t>
            </a:r>
            <a:r>
              <a:rPr lang="zh-CN" altLang="en-US" dirty="0"/>
              <a:t>个点的面积为</a:t>
            </a:r>
            <a:r>
              <a:rPr lang="en-US" altLang="zh-CN" dirty="0"/>
              <a:t>0</a:t>
            </a:r>
            <a:r>
              <a:rPr lang="zh-CN" altLang="en-US" dirty="0"/>
              <a:t>，长度为</a:t>
            </a:r>
            <a:r>
              <a:rPr lang="en-US" altLang="zh-CN" dirty="0"/>
              <a:t>0</a:t>
            </a:r>
            <a:r>
              <a:rPr lang="zh-CN" altLang="en-US" dirty="0"/>
              <a:t>。它</a:t>
            </a:r>
            <a:r>
              <a:rPr lang="zh-CN" altLang="en-US" dirty="0" smtClean="0"/>
              <a:t>的最小外包矩形是</a:t>
            </a:r>
            <a:r>
              <a:rPr lang="zh-CN" altLang="en-US" dirty="0"/>
              <a:t>一个</a:t>
            </a:r>
            <a:r>
              <a:rPr lang="zh-CN" altLang="en-US" dirty="0" smtClean="0"/>
              <a:t>元组</a:t>
            </a:r>
            <a:r>
              <a:rPr lang="en-US" altLang="zh-CN" dirty="0"/>
              <a:t>(</a:t>
            </a:r>
            <a:r>
              <a:rPr lang="en-US" altLang="zh-CN" dirty="0" err="1"/>
              <a:t>minx,miny,maxx,maxy</a:t>
            </a:r>
            <a:r>
              <a:rPr lang="en-US" altLang="zh-CN" dirty="0"/>
              <a:t>)</a:t>
            </a:r>
            <a:r>
              <a:rPr lang="zh-CN" altLang="en-US" dirty="0" smtClean="0"/>
              <a:t>。坐标</a:t>
            </a:r>
            <a:r>
              <a:rPr lang="zh-CN" altLang="en-US" dirty="0"/>
              <a:t>值通过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  <a:r>
              <a:rPr lang="en-US" altLang="zh-CN" dirty="0"/>
              <a:t>z </a:t>
            </a:r>
            <a:r>
              <a:rPr lang="zh-CN" altLang="en-US" dirty="0"/>
              <a:t>属性获得。</a:t>
            </a:r>
            <a:endParaRPr lang="en-US" altLang="zh-CN" dirty="0"/>
          </a:p>
          <a:p>
            <a:r>
              <a:rPr lang="en-US" altLang="zh-CN" b="1" dirty="0">
                <a:solidFill>
                  <a:schemeClr val="bg1"/>
                </a:solidFill>
              </a:rPr>
              <a:t>3</a:t>
            </a:r>
            <a:r>
              <a:rPr lang="en-US" altLang="zh-CN" b="1" dirty="0" smtClean="0">
                <a:solidFill>
                  <a:schemeClr val="bg1"/>
                </a:solidFill>
              </a:rPr>
              <a:t>. Python</a:t>
            </a:r>
            <a:r>
              <a:rPr lang="zh-CN" altLang="en-US" b="1" dirty="0" smtClean="0">
                <a:solidFill>
                  <a:schemeClr val="bg1"/>
                </a:solidFill>
              </a:rPr>
              <a:t>语言的基本用法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1496785" y="1646188"/>
            <a:ext cx="6096000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 = Point(0.0, 0.0)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point.area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0.0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point.length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0.0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point.bounds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(0.0, 0.0, 0.0, 0.0)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96785" y="5019943"/>
            <a:ext cx="6096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[(0.0, 0.0)]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point.x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0.0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point.y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9004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4252" y="2245178"/>
            <a:ext cx="10077341" cy="351540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i="1" dirty="0"/>
              <a:t> </a:t>
            </a:r>
            <a:r>
              <a:rPr lang="en-US" altLang="zh-CN" dirty="0" err="1"/>
              <a:t>LineString</a:t>
            </a:r>
            <a:r>
              <a:rPr lang="en-US" altLang="zh-CN" dirty="0"/>
              <a:t> </a:t>
            </a:r>
            <a:r>
              <a:rPr lang="zh-CN" altLang="en-US" dirty="0"/>
              <a:t>的构造采用线性序列，一般采用</a:t>
            </a:r>
            <a:r>
              <a:rPr lang="en-US" altLang="zh-CN" dirty="0"/>
              <a:t>2 </a:t>
            </a:r>
            <a:r>
              <a:rPr lang="zh-CN" altLang="en-US" dirty="0"/>
              <a:t>个或者</a:t>
            </a:r>
            <a:r>
              <a:rPr lang="zh-CN" altLang="en-US" dirty="0" smtClean="0"/>
              <a:t>多个</a:t>
            </a:r>
            <a:r>
              <a:rPr lang="en-US" altLang="zh-CN" dirty="0"/>
              <a:t>(x</a:t>
            </a:r>
            <a:r>
              <a:rPr lang="en-US" altLang="zh-CN" dirty="0" smtClean="0"/>
              <a:t>, y [,</a:t>
            </a:r>
            <a:r>
              <a:rPr lang="en-US" altLang="zh-CN" dirty="0"/>
              <a:t>z]) </a:t>
            </a:r>
            <a:r>
              <a:rPr lang="zh-CN" altLang="en-US" dirty="0"/>
              <a:t>点元组。构造的</a:t>
            </a:r>
            <a:r>
              <a:rPr lang="en-US" altLang="zh-CN" dirty="0" err="1"/>
              <a:t>LineString</a:t>
            </a:r>
            <a:r>
              <a:rPr lang="en-US" altLang="zh-CN" dirty="0"/>
              <a:t> </a:t>
            </a:r>
            <a:r>
              <a:rPr lang="zh-CN" altLang="en-US" dirty="0"/>
              <a:t>对象代表点与点之间的</a:t>
            </a:r>
            <a:r>
              <a:rPr lang="zh-CN" altLang="en-US" dirty="0" smtClean="0"/>
              <a:t>一个</a:t>
            </a:r>
            <a:r>
              <a:rPr lang="zh-CN" altLang="en-US" dirty="0"/>
              <a:t>或多个直线样条。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261" y="3829890"/>
            <a:ext cx="6089963" cy="257823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13857" y="1540489"/>
            <a:ext cx="6554536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class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(coordinates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45339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线实例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36171" y="5212663"/>
            <a:ext cx="10061121" cy="133554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 smtClean="0"/>
              <a:t>线的坐标</a:t>
            </a:r>
            <a:r>
              <a:rPr lang="zh-CN" altLang="en-US" sz="2400" dirty="0"/>
              <a:t>属性</a:t>
            </a:r>
            <a:r>
              <a:rPr lang="zh-CN" altLang="en-US" sz="2400" dirty="0" smtClean="0"/>
              <a:t>值通过</a:t>
            </a:r>
            <a:r>
              <a:rPr lang="en-US" altLang="zh-CN" sz="2400" dirty="0" err="1" smtClean="0"/>
              <a:t>coords</a:t>
            </a:r>
            <a:r>
              <a:rPr lang="zh-CN" altLang="en-US" sz="2400" dirty="0" smtClean="0"/>
              <a:t>属性实现，可以通过</a:t>
            </a:r>
            <a:r>
              <a:rPr lang="en-US" altLang="zh-CN" sz="2400" dirty="0" smtClean="0"/>
              <a:t>list()</a:t>
            </a:r>
            <a:r>
              <a:rPr lang="zh-CN" altLang="en-US" sz="2400" dirty="0" smtClean="0"/>
              <a:t>转换为列表，也支持切片操作。线</a:t>
            </a:r>
            <a:r>
              <a:rPr lang="zh-CN" altLang="en-US" sz="2400" dirty="0"/>
              <a:t>的构造同样接受另一个线的实例，从而使用另一个副本。 </a:t>
            </a:r>
            <a:endParaRPr lang="en-US" altLang="zh-CN" sz="2400" dirty="0" smtClean="0"/>
          </a:p>
        </p:txBody>
      </p:sp>
      <p:sp>
        <p:nvSpPr>
          <p:cNvPr id="4" name="矩形 3"/>
          <p:cNvSpPr/>
          <p:nvPr/>
        </p:nvSpPr>
        <p:spPr>
          <a:xfrm>
            <a:off x="1668236" y="1052780"/>
            <a:ext cx="8202386" cy="39703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line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([(0, 0), (1, 1)])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line.area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0.0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line.length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1.4142135623730951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print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line.bounds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#(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minx,miny,maxx,maxy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(0.0, 0.0, 1.0, 1.0)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line.coords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   # coordinates values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10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2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[(0.0, 0.0), (1.0, 1.0)]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(line)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shapely.geometry.linestring.LineString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0x7f47cadac128&gt;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502024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722" y="1005840"/>
            <a:ext cx="5241374" cy="5705856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/>
              <a:t>多边形构造需要</a:t>
            </a:r>
            <a:r>
              <a:rPr lang="en-US" altLang="zh-CN" sz="2400" dirty="0"/>
              <a:t>2 </a:t>
            </a:r>
            <a:r>
              <a:rPr lang="zh-CN" altLang="en-US" sz="2400" dirty="0"/>
              <a:t>个位置参数。</a:t>
            </a:r>
            <a:r>
              <a:rPr lang="zh-CN" altLang="en-US" sz="2400" dirty="0">
                <a:solidFill>
                  <a:srgbClr val="FF0000"/>
                </a:solidFill>
              </a:rPr>
              <a:t>第一个位置参数是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x,y</a:t>
            </a:r>
            <a:r>
              <a:rPr lang="en-US" altLang="zh-CN" sz="2400" dirty="0">
                <a:solidFill>
                  <a:srgbClr val="FF0000"/>
                </a:solidFill>
              </a:rPr>
              <a:t>[,z]) </a:t>
            </a:r>
            <a:r>
              <a:rPr lang="zh-CN" altLang="en-US" sz="2400" dirty="0">
                <a:solidFill>
                  <a:srgbClr val="FF0000"/>
                </a:solidFill>
              </a:rPr>
              <a:t>点</a:t>
            </a:r>
            <a:r>
              <a:rPr lang="zh-CN" altLang="en-US" sz="2400" dirty="0" smtClean="0">
                <a:solidFill>
                  <a:srgbClr val="FF0000"/>
                </a:solidFill>
              </a:rPr>
              <a:t>元组的</a:t>
            </a:r>
            <a:r>
              <a:rPr lang="zh-CN" altLang="en-US" sz="2400" dirty="0">
                <a:solidFill>
                  <a:srgbClr val="FF0000"/>
                </a:solidFill>
              </a:rPr>
              <a:t>有序序列</a:t>
            </a:r>
            <a:r>
              <a:rPr lang="zh-CN" altLang="en-US" sz="2400" dirty="0"/>
              <a:t>，并且在</a:t>
            </a:r>
            <a:r>
              <a:rPr lang="en-US" altLang="zh-CN" sz="2400" dirty="0" err="1"/>
              <a:t>LinearRing</a:t>
            </a:r>
            <a:r>
              <a:rPr lang="en-US" altLang="zh-CN" sz="2400" dirty="0"/>
              <a:t> </a:t>
            </a:r>
            <a:r>
              <a:rPr lang="zh-CN" altLang="en-US" sz="2400" dirty="0"/>
              <a:t>中被认为是准确的。第二个</a:t>
            </a:r>
            <a:r>
              <a:rPr lang="zh-CN" altLang="en-US" sz="2400" dirty="0" smtClean="0"/>
              <a:t>位置参数是</a:t>
            </a:r>
            <a:r>
              <a:rPr lang="zh-CN" altLang="en-US" sz="2400" dirty="0"/>
              <a:t>一个可选的、像</a:t>
            </a:r>
            <a:r>
              <a:rPr lang="en-US" altLang="zh-CN" sz="2400" dirty="0"/>
              <a:t>ring </a:t>
            </a:r>
            <a:r>
              <a:rPr lang="zh-CN" altLang="en-US" sz="2400" dirty="0" smtClean="0"/>
              <a:t>的无序</a:t>
            </a:r>
            <a:r>
              <a:rPr lang="zh-CN" altLang="en-US" sz="2400" dirty="0"/>
              <a:t>序列，且位于要素内部，</a:t>
            </a:r>
            <a:r>
              <a:rPr lang="zh-CN" altLang="en-US" sz="2400" dirty="0">
                <a:solidFill>
                  <a:srgbClr val="FF0000"/>
                </a:solidFill>
              </a:rPr>
              <a:t>指定边界或</a:t>
            </a:r>
            <a:r>
              <a:rPr lang="zh-CN" altLang="en-US" sz="2400" dirty="0" smtClean="0">
                <a:solidFill>
                  <a:srgbClr val="FF0000"/>
                </a:solidFill>
              </a:rPr>
              <a:t>洞的</a:t>
            </a:r>
            <a:r>
              <a:rPr lang="zh-CN" altLang="en-US" sz="2400" dirty="0">
                <a:solidFill>
                  <a:srgbClr val="FF0000"/>
                </a:solidFill>
              </a:rPr>
              <a:t>环状序列</a:t>
            </a:r>
            <a:r>
              <a:rPr lang="zh-CN" altLang="en-US" sz="2400" dirty="0" smtClean="0">
                <a:solidFill>
                  <a:srgbClr val="FF0000"/>
                </a:solidFill>
              </a:rPr>
              <a:t>。</a:t>
            </a:r>
            <a:endParaRPr lang="en-US" altLang="zh-CN" sz="2400" dirty="0" smtClean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lang="zh-CN" altLang="en-US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一个有效的多边形的环不能相互交叉，但可以在一个单点接触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zh-CN" altLang="en-US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同样，</a:t>
            </a:r>
            <a:r>
              <a:rPr lang="en-US" altLang="zh-CN" sz="2400" dirty="0"/>
              <a:t>Shapely </a:t>
            </a:r>
            <a:r>
              <a:rPr lang="zh-CN" altLang="en-US" sz="2400" dirty="0"/>
              <a:t>不会阻止无效要素的创建，但是当他们运行时，可能</a:t>
            </a:r>
            <a:r>
              <a:rPr lang="zh-CN" altLang="en-US" sz="2400" dirty="0" smtClean="0"/>
              <a:t>会有</a:t>
            </a:r>
            <a:r>
              <a:rPr lang="zh-CN" altLang="en-US" sz="2400" dirty="0"/>
              <a:t>异常。</a:t>
            </a:r>
            <a:endParaRPr lang="en-US" altLang="zh-CN" sz="2400" dirty="0" smtClean="0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535386" y="4960056"/>
            <a:ext cx="6414810" cy="1751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sz="1800" dirty="0" smtClean="0"/>
              <a:t>a)</a:t>
            </a:r>
            <a:r>
              <a:rPr lang="zh-CN" altLang="en-US" sz="1800" dirty="0" smtClean="0"/>
              <a:t>是有效的多边形，因为内部</a:t>
            </a:r>
            <a:r>
              <a:rPr lang="zh-CN" altLang="en-US" sz="1800" dirty="0"/>
              <a:t>环和一个外部环接触于一点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>
              <a:lnSpc>
                <a:spcPct val="100000"/>
              </a:lnSpc>
            </a:pPr>
            <a:r>
              <a:rPr lang="en-US" altLang="zh-CN" sz="1800" dirty="0" smtClean="0"/>
              <a:t>b)</a:t>
            </a:r>
            <a:r>
              <a:rPr lang="zh-CN" altLang="en-US" sz="1800" dirty="0" smtClean="0"/>
              <a:t>是</a:t>
            </a:r>
            <a:r>
              <a:rPr lang="zh-CN" altLang="en-US" sz="1800" dirty="0"/>
              <a:t>无效的多边形</a:t>
            </a:r>
            <a:r>
              <a:rPr lang="zh-CN" altLang="en-US" sz="1800" dirty="0" smtClean="0"/>
              <a:t>，因为</a:t>
            </a:r>
            <a:r>
              <a:rPr lang="zh-CN" altLang="en-US" sz="1800" dirty="0"/>
              <a:t>它的内部环与外部环在多于一个</a:t>
            </a:r>
            <a:r>
              <a:rPr lang="zh-CN" altLang="en-US" sz="1800" dirty="0" smtClean="0"/>
              <a:t>点接触</a:t>
            </a:r>
            <a:r>
              <a:rPr lang="en-US" altLang="zh-CN" sz="1800" dirty="0" smtClean="0"/>
              <a:t>;</a:t>
            </a:r>
          </a:p>
          <a:p>
            <a:pPr>
              <a:lnSpc>
                <a:spcPct val="100000"/>
              </a:lnSpc>
            </a:pPr>
            <a:r>
              <a:rPr lang="en-US" altLang="zh-CN" sz="1800" dirty="0" smtClean="0"/>
              <a:t>c)</a:t>
            </a:r>
            <a:r>
              <a:rPr lang="zh-CN" altLang="en-US" sz="1800" dirty="0" smtClean="0"/>
              <a:t>是无效多边形，因为</a:t>
            </a:r>
            <a:r>
              <a:rPr lang="zh-CN" altLang="en-US" sz="1800" dirty="0"/>
              <a:t>它的外部环和内部环相触于一条线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>
              <a:lnSpc>
                <a:spcPct val="100000"/>
              </a:lnSpc>
            </a:pPr>
            <a:r>
              <a:rPr lang="en-US" altLang="zh-CN" sz="1800" dirty="0" smtClean="0"/>
              <a:t>d)</a:t>
            </a:r>
            <a:r>
              <a:rPr lang="zh-CN" altLang="en-US" sz="1800" dirty="0" smtClean="0"/>
              <a:t>是</a:t>
            </a:r>
            <a:r>
              <a:rPr lang="zh-CN" altLang="en-US" sz="1800" dirty="0"/>
              <a:t>无效的多边形，</a:t>
            </a:r>
            <a:r>
              <a:rPr lang="zh-CN" altLang="en-US" sz="1800" dirty="0" smtClean="0"/>
              <a:t>因为它</a:t>
            </a:r>
            <a:r>
              <a:rPr lang="zh-CN" altLang="en-US" sz="1800" dirty="0"/>
              <a:t>的内部环相触于一条线。</a:t>
            </a:r>
            <a:endParaRPr lang="en-US" altLang="zh-CN" sz="18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334" y="65315"/>
            <a:ext cx="4890407" cy="48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9374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面实例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7492" y="1216416"/>
            <a:ext cx="9650185" cy="507831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Polygon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LinearRing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sv-SE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sv-SE" altLang="zh-CN" dirty="0">
                <a:solidFill>
                  <a:srgbClr val="000000"/>
                </a:solidFill>
                <a:latin typeface="YaHei_Monaco-R"/>
              </a:rPr>
              <a:t>&gt;&gt;&gt; polygon = Polygon([(0, 0), (1, 1), (1, 0)])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polygon.area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0.5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polygon.length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3.414213562373095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polygon.bounds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(0.0, 0.0, 1.0, 1.0)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10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polygon.exterior.coords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[(0.0, 0.0), (1.0, 1.0), (1.0, 0.0), (0.0, 0.0)]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list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polygon.interiors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[(0, 0), (1, 1), (1, 0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)] 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15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r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LinearRing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采用线环的方式构造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多边形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s = Polygon(r)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s.area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0.5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227914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</a:t>
            </a:r>
            <a:r>
              <a:rPr lang="en-US" altLang="zh-CN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(Collections)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24083" y="4818370"/>
            <a:ext cx="10186089" cy="14859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 smtClean="0"/>
              <a:t>Collections</a:t>
            </a:r>
            <a:r>
              <a:rPr lang="zh-CN" altLang="en-US" dirty="0" smtClean="0"/>
              <a:t>是几何对象的集合，多通过</a:t>
            </a:r>
            <a:r>
              <a:rPr lang="en-US" altLang="zh-CN" dirty="0" smtClean="0"/>
              <a:t>shapely</a:t>
            </a:r>
            <a:r>
              <a:rPr lang="zh-CN" altLang="en-US" dirty="0" smtClean="0"/>
              <a:t>的几何操作产生</a:t>
            </a:r>
            <a:endParaRPr lang="en-US" altLang="zh-CN" dirty="0" smtClean="0"/>
          </a:p>
          <a:p>
            <a:pPr>
              <a:lnSpc>
                <a:spcPct val="120000"/>
              </a:lnSpc>
            </a:pPr>
            <a:r>
              <a:rPr lang="en-US" altLang="zh-CN" dirty="0" smtClean="0"/>
              <a:t>a </a:t>
            </a:r>
            <a:r>
              <a:rPr lang="zh-CN" altLang="en-US" dirty="0"/>
              <a:t>是指一条绿色和黄色的线沿着一条线和一个点相交；</a:t>
            </a:r>
          </a:p>
          <a:p>
            <a:pPr>
              <a:lnSpc>
                <a:spcPct val="120000"/>
              </a:lnSpc>
            </a:pPr>
            <a:r>
              <a:rPr lang="en-US" altLang="zh-CN" dirty="0" smtClean="0"/>
              <a:t>b </a:t>
            </a:r>
            <a:r>
              <a:rPr lang="zh-CN" altLang="en-US" dirty="0" smtClean="0"/>
              <a:t>是</a:t>
            </a:r>
            <a:r>
              <a:rPr lang="en-US" altLang="zh-CN" dirty="0" smtClean="0"/>
              <a:t>a</a:t>
            </a:r>
            <a:r>
              <a:rPr lang="zh-CN" altLang="en-US" dirty="0" smtClean="0"/>
              <a:t>进行</a:t>
            </a:r>
            <a:r>
              <a:rPr lang="en-US" altLang="zh-CN" dirty="0" smtClean="0"/>
              <a:t>intersection</a:t>
            </a:r>
            <a:r>
              <a:rPr lang="zh-CN" altLang="en-US" dirty="0" smtClean="0"/>
              <a:t>操作得到的交点</a:t>
            </a:r>
            <a:r>
              <a:rPr lang="zh-CN" altLang="en-US" dirty="0"/>
              <a:t>（</a:t>
            </a:r>
            <a:r>
              <a:rPr lang="zh-CN" altLang="en-US" dirty="0" smtClean="0"/>
              <a:t>蓝色），包含</a:t>
            </a:r>
            <a:r>
              <a:rPr lang="zh-CN" altLang="en-US" dirty="0"/>
              <a:t>一条线和一个点的集合。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637" y="1169681"/>
            <a:ext cx="6670376" cy="334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93069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中的谓词与关系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817" y="1130264"/>
            <a:ext cx="10512662" cy="546647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Shapely</a:t>
            </a:r>
            <a:r>
              <a:rPr lang="zh-CN" altLang="en-US" sz="2400" dirty="0"/>
              <a:t>的几何对象提供了标准的谓词，包括一元谓词（属性）与二元谓词（方法），都返回</a:t>
            </a:r>
            <a:r>
              <a:rPr lang="en-US" altLang="zh-CN" sz="2400" dirty="0"/>
              <a:t>True</a:t>
            </a:r>
            <a:r>
              <a:rPr lang="zh-CN" altLang="en-US" sz="2400" dirty="0"/>
              <a:t>或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一元谓词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object.has_z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object.is_ccw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object.is_empty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object.is_ring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object.is_valid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object.is_simple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二元谓词</a:t>
            </a:r>
            <a:r>
              <a:rPr lang="zh-CN" altLang="en-US" sz="2400" dirty="0"/>
              <a:t>：</a:t>
            </a:r>
            <a:r>
              <a:rPr lang="en-US" altLang="zh-CN" sz="2400" dirty="0"/>
              <a:t>contains(); crosses(); disjoint(); touches(); within(); intersects(); overlaps</a:t>
            </a:r>
            <a:r>
              <a:rPr lang="en-US" altLang="zh-CN" sz="2400" dirty="0" smtClean="0"/>
              <a:t>()</a:t>
            </a:r>
          </a:p>
          <a:p>
            <a:pPr>
              <a:lnSpc>
                <a:spcPct val="100000"/>
              </a:lnSpc>
            </a:pP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en-US" altLang="zh-CN" sz="2400" dirty="0" err="1" smtClean="0"/>
              <a:t>object.has_z</a:t>
            </a:r>
            <a:r>
              <a:rPr lang="en-US" altLang="zh-CN" sz="2400" dirty="0"/>
              <a:t>: </a:t>
            </a:r>
            <a:r>
              <a:rPr lang="zh-CN" altLang="en-US" sz="2400" dirty="0"/>
              <a:t>如果要素不仅有</a:t>
            </a:r>
            <a:r>
              <a:rPr lang="en-US" altLang="zh-CN" sz="2400" dirty="0"/>
              <a:t>x </a:t>
            </a:r>
            <a:r>
              <a:rPr lang="zh-CN" altLang="en-US" sz="2400" dirty="0"/>
              <a:t>和</a:t>
            </a:r>
            <a:r>
              <a:rPr lang="en-US" altLang="zh-CN" sz="2400" dirty="0"/>
              <a:t>y</a:t>
            </a:r>
            <a:r>
              <a:rPr lang="zh-CN" altLang="en-US" sz="2400" dirty="0"/>
              <a:t>，还有</a:t>
            </a:r>
            <a:r>
              <a:rPr lang="en-US" altLang="zh-CN" sz="2400" dirty="0"/>
              <a:t>z</a:t>
            </a:r>
            <a:r>
              <a:rPr lang="zh-CN" altLang="en-US" sz="2400" dirty="0"/>
              <a:t>，则返回为‘</a:t>
            </a:r>
            <a:r>
              <a:rPr lang="en-US" altLang="zh-CN" sz="2400" dirty="0"/>
              <a:t>True’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/>
          </a:p>
          <a:p>
            <a:pPr>
              <a:lnSpc>
                <a:spcPct val="100000"/>
              </a:lnSpc>
            </a:pPr>
            <a:endParaRPr lang="en-US" altLang="zh-CN" sz="2400" dirty="0" smtClean="0"/>
          </a:p>
        </p:txBody>
      </p:sp>
      <p:sp>
        <p:nvSpPr>
          <p:cNvPr id="5" name="矩形 4"/>
          <p:cNvSpPr/>
          <p:nvPr/>
        </p:nvSpPr>
        <p:spPr>
          <a:xfrm>
            <a:off x="2623457" y="4794232"/>
            <a:ext cx="60960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has_z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False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0, 0).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has_z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True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3515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中的谓词与关系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9995" y="1048620"/>
            <a:ext cx="10006475" cy="4851083"/>
          </a:xfrm>
        </p:spPr>
        <p:txBody>
          <a:bodyPr>
            <a:normAutofit/>
          </a:bodyPr>
          <a:lstStyle/>
          <a:p>
            <a:r>
              <a:rPr lang="en-US" altLang="zh-CN" sz="2400" dirty="0" err="1"/>
              <a:t>object.is_ccw</a:t>
            </a:r>
            <a:r>
              <a:rPr lang="en-US" altLang="zh-CN" sz="2400" dirty="0"/>
              <a:t> : </a:t>
            </a:r>
            <a:r>
              <a:rPr lang="zh-CN" altLang="en-US" sz="2400" dirty="0"/>
              <a:t>如果坐标是逆时针的，返回为真（用正面标记的</a:t>
            </a:r>
            <a:r>
              <a:rPr lang="zh-CN" altLang="en-US" sz="2400" dirty="0" smtClean="0"/>
              <a:t>面积</a:t>
            </a:r>
            <a:r>
              <a:rPr lang="zh-CN" altLang="en-US" sz="2400" dirty="0"/>
              <a:t>来框定区域）。这种方法仅适用于线性对象。</a:t>
            </a: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 err="1" smtClean="0"/>
              <a:t>object.is_empty</a:t>
            </a:r>
            <a:r>
              <a:rPr lang="zh-CN" altLang="en-US" sz="2400" dirty="0"/>
              <a:t>：如果要素的内部与边界（在点集方面）和空集</a:t>
            </a:r>
            <a:r>
              <a:rPr lang="zh-CN" altLang="en-US" sz="2400" dirty="0" smtClean="0"/>
              <a:t>相配合</a:t>
            </a:r>
            <a:r>
              <a:rPr lang="zh-CN" altLang="en-US" sz="2400" dirty="0"/>
              <a:t>，则返回为真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 err="1"/>
              <a:t>o</a:t>
            </a:r>
            <a:r>
              <a:rPr lang="en-US" altLang="zh-CN" sz="2400" dirty="0" err="1" smtClean="0"/>
              <a:t>bject.is_ring</a:t>
            </a:r>
            <a:r>
              <a:rPr lang="zh-CN" altLang="en-US" sz="2400" dirty="0" smtClean="0"/>
              <a:t>：如果要素是闭合的，则返回为真。仅适用于</a:t>
            </a:r>
            <a:r>
              <a:rPr lang="en-US" altLang="zh-CN" sz="2400" dirty="0" err="1" smtClean="0"/>
              <a:t>LineString</a:t>
            </a:r>
            <a:r>
              <a:rPr lang="zh-CN" altLang="en-US" sz="2400" dirty="0" smtClean="0"/>
              <a:t>和</a:t>
            </a:r>
            <a:r>
              <a:rPr lang="en-US" altLang="zh-CN" sz="2400" dirty="0" err="1" smtClean="0"/>
              <a:t>LinearRing</a:t>
            </a:r>
            <a:r>
              <a:rPr lang="zh-CN" altLang="en-US" sz="2400" dirty="0" smtClean="0"/>
              <a:t>实例。</a:t>
            </a:r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1962150" y="1877615"/>
            <a:ext cx="6952002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LinearRing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([(1,0), (1,1), (0,0)]).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is_ccw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962150" y="3075942"/>
            <a:ext cx="695200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is_empty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True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is_empty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62150" y="5161039"/>
            <a:ext cx="6952002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LinearRing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([(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0, 0), (1, 1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), (1,-1)]).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is_ring</a:t>
            </a:r>
            <a:endParaRPr lang="en-US" altLang="zh-CN" dirty="0" smtClean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False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([(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0, 0), (1, 1), (1,-1)]).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is_ring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True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084126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中的谓词与关系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3474" y="884649"/>
            <a:ext cx="10006475" cy="5213387"/>
          </a:xfrm>
        </p:spPr>
        <p:txBody>
          <a:bodyPr>
            <a:normAutofit/>
          </a:bodyPr>
          <a:lstStyle/>
          <a:p>
            <a:r>
              <a:rPr lang="en-US" altLang="zh-CN" sz="2400" dirty="0" smtClean="0"/>
              <a:t>contains(): </a:t>
            </a:r>
            <a:r>
              <a:rPr lang="zh-CN" altLang="en-US" sz="2400" dirty="0" smtClean="0"/>
              <a:t>如果对象的内部包含另一个对象的边界和内部，并且两个对象的边界不接触，则返回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/>
              <a:t>c</a:t>
            </a:r>
            <a:r>
              <a:rPr lang="en-US" altLang="zh-CN" sz="2400" dirty="0" smtClean="0"/>
              <a:t>rosses()</a:t>
            </a:r>
            <a:r>
              <a:rPr lang="zh-CN" altLang="en-US" sz="2400" dirty="0" smtClean="0"/>
              <a:t>：如果对象内部与另一对象内部相交但不包含，则返回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en-US" altLang="zh-CN" sz="2400" dirty="0"/>
              <a:t>d</a:t>
            </a:r>
            <a:r>
              <a:rPr lang="en-US" altLang="zh-CN" sz="2400" dirty="0" smtClean="0"/>
              <a:t>isjoint()</a:t>
            </a:r>
            <a:r>
              <a:rPr lang="zh-CN" altLang="en-US" sz="2400" dirty="0" smtClean="0"/>
              <a:t>：如果对象的边界和内部与其他对象都不相交，则返回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。与</a:t>
            </a:r>
            <a:r>
              <a:rPr lang="en-US" altLang="zh-CN" sz="2400" dirty="0" smtClean="0"/>
              <a:t>intersects()</a:t>
            </a:r>
            <a:r>
              <a:rPr lang="zh-CN" altLang="en-US" sz="2400" dirty="0" smtClean="0"/>
              <a:t>相逆。</a:t>
            </a:r>
            <a:endParaRPr lang="en-US" altLang="zh-CN" sz="2400" dirty="0" smtClean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r>
              <a:rPr lang="en-US" altLang="zh-CN" sz="2400" dirty="0" smtClean="0"/>
              <a:t>touches()</a:t>
            </a:r>
            <a:r>
              <a:rPr lang="zh-CN" altLang="en-US" sz="2400" dirty="0" smtClean="0"/>
              <a:t>：如果对象的边界仅与另一对象的边界相交，并且不与其他部分相交，则返回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。注意，如果两个对象重合，返回</a:t>
            </a:r>
            <a:r>
              <a:rPr lang="en-US" altLang="zh-CN" sz="2400" dirty="0" smtClean="0"/>
              <a:t>False</a:t>
            </a:r>
            <a:r>
              <a:rPr lang="zh-CN" altLang="en-US" sz="2400" dirty="0" smtClean="0"/>
              <a:t>。</a:t>
            </a:r>
            <a:endParaRPr lang="en-US" altLang="zh-CN" sz="2400" dirty="0"/>
          </a:p>
        </p:txBody>
      </p:sp>
      <p:sp>
        <p:nvSpPr>
          <p:cNvPr id="6" name="矩形 5"/>
          <p:cNvSpPr/>
          <p:nvPr/>
        </p:nvSpPr>
        <p:spPr>
          <a:xfrm>
            <a:off x="2035630" y="1674596"/>
            <a:ext cx="6952002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Point,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[(0, 0), (1, 1)]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).contains(Point(0.5, 0.5))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True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035630" y="4265539"/>
            <a:ext cx="695200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mtClean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smtClean="0">
                <a:solidFill>
                  <a:srgbClr val="000000"/>
                </a:solidFill>
                <a:latin typeface="YaHei_Monaco-R"/>
              </a:rPr>
              <a:t>&gt;&gt;&gt; Point(0,0).disjoint(Point(1,1))</a:t>
            </a:r>
          </a:p>
          <a:p>
            <a:r>
              <a:rPr lang="en-US" altLang="zh-CN" smtClean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smtClean="0">
                <a:solidFill>
                  <a:srgbClr val="000000"/>
                </a:solidFill>
                <a:latin typeface="YaHei_Monaco-R"/>
              </a:rPr>
              <a:t>&gt;&gt;&gt; True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035630" y="5893929"/>
            <a:ext cx="6952002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a=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([(0,0),(1,1)])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b=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([(1,1),(2,2)])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a.touches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(b)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55642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九交模型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37051" y="1017866"/>
            <a:ext cx="10437878" cy="5840134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九</a:t>
            </a:r>
            <a:r>
              <a:rPr lang="zh-CN" altLang="en-US" sz="2400" dirty="0"/>
              <a:t>交空间关系运算是用于</a:t>
            </a:r>
            <a:r>
              <a:rPr lang="zh-CN" altLang="en-US" sz="2400" dirty="0">
                <a:solidFill>
                  <a:srgbClr val="FF0000"/>
                </a:solidFill>
              </a:rPr>
              <a:t>检验</a:t>
            </a:r>
            <a:r>
              <a:rPr lang="en-US" altLang="zh-CN" sz="2400" dirty="0">
                <a:solidFill>
                  <a:srgbClr val="FF0000"/>
                </a:solidFill>
              </a:rPr>
              <a:t>2 </a:t>
            </a:r>
            <a:r>
              <a:rPr lang="zh-CN" altLang="en-US" sz="2400" dirty="0">
                <a:solidFill>
                  <a:srgbClr val="FF0000"/>
                </a:solidFill>
              </a:rPr>
              <a:t>个几何</a:t>
            </a:r>
            <a:r>
              <a:rPr lang="zh-CN" altLang="en-US" sz="2400" dirty="0" smtClean="0">
                <a:solidFill>
                  <a:srgbClr val="FF0000"/>
                </a:solidFill>
              </a:rPr>
              <a:t>对象的</a:t>
            </a:r>
            <a:r>
              <a:rPr lang="zh-CN" altLang="en-US" sz="2400" dirty="0">
                <a:solidFill>
                  <a:srgbClr val="FF0000"/>
                </a:solidFill>
              </a:rPr>
              <a:t>拓扑空间</a:t>
            </a:r>
            <a:r>
              <a:rPr lang="zh-CN" altLang="en-US" sz="2400" dirty="0" smtClean="0">
                <a:solidFill>
                  <a:srgbClr val="FF0000"/>
                </a:solidFill>
              </a:rPr>
              <a:t>关系的</a:t>
            </a:r>
            <a:r>
              <a:rPr lang="zh-CN" altLang="en-US" sz="2400" dirty="0">
                <a:solidFill>
                  <a:srgbClr val="FF0000"/>
                </a:solidFill>
              </a:rPr>
              <a:t>逻辑方法</a:t>
            </a:r>
            <a:r>
              <a:rPr lang="zh-CN" altLang="en-US" sz="2400" dirty="0"/>
              <a:t>。</a:t>
            </a:r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有</a:t>
            </a:r>
            <a:r>
              <a:rPr lang="zh-CN" altLang="en-US" sz="2400" dirty="0"/>
              <a:t>两个简单实体</a:t>
            </a:r>
            <a:r>
              <a:rPr lang="en-US" altLang="zh-CN" sz="2400" i="1" dirty="0"/>
              <a:t>A </a:t>
            </a:r>
            <a:r>
              <a:rPr lang="zh-CN" altLang="en-US" sz="2400" dirty="0"/>
              <a:t>与</a:t>
            </a:r>
            <a:r>
              <a:rPr lang="en-US" altLang="zh-CN" sz="2400" i="1" dirty="0"/>
              <a:t>B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/>
              <a:t>B</a:t>
            </a:r>
            <a:r>
              <a:rPr lang="en-US" altLang="zh-CN" sz="2400" dirty="0" smtClean="0"/>
              <a:t>(</a:t>
            </a:r>
            <a:r>
              <a:rPr lang="en-US" altLang="zh-CN" sz="2400" i="1" dirty="0" smtClean="0"/>
              <a:t>A</a:t>
            </a:r>
            <a:r>
              <a:rPr lang="en-US" altLang="zh-CN" sz="2400" dirty="0"/>
              <a:t>)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B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/>
              <a:t>表示</a:t>
            </a:r>
            <a:r>
              <a:rPr lang="en-US" altLang="zh-CN" sz="2400" i="1" dirty="0"/>
              <a:t>A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B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边界</a:t>
            </a:r>
            <a:r>
              <a:rPr lang="en-US" altLang="zh-CN" sz="2400" dirty="0" smtClean="0"/>
              <a:t>(border)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 </a:t>
            </a:r>
            <a:r>
              <a:rPr lang="en-US" altLang="zh-CN" sz="2400" i="1" dirty="0" smtClean="0"/>
              <a:t>I</a:t>
            </a:r>
            <a:r>
              <a:rPr lang="en-US" altLang="zh-CN" sz="2400" dirty="0" smtClean="0"/>
              <a:t>(</a:t>
            </a:r>
            <a:r>
              <a:rPr lang="en-US" altLang="zh-CN" sz="2400" i="1" dirty="0" smtClean="0"/>
              <a:t>A</a:t>
            </a:r>
            <a:r>
              <a:rPr lang="en-US" altLang="zh-CN" sz="2400" dirty="0"/>
              <a:t>)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I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/>
              <a:t>表示</a:t>
            </a:r>
            <a:r>
              <a:rPr lang="en-US" altLang="zh-CN" sz="2400" i="1" dirty="0"/>
              <a:t>A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B </a:t>
            </a:r>
            <a:r>
              <a:rPr lang="zh-CN" altLang="en-US" sz="2400" dirty="0"/>
              <a:t>的</a:t>
            </a:r>
            <a:r>
              <a:rPr lang="zh-CN" altLang="en-US" sz="2400" dirty="0" smtClean="0"/>
              <a:t>内部</a:t>
            </a:r>
            <a:r>
              <a:rPr lang="en-US" altLang="zh-CN" sz="2400" dirty="0" smtClean="0"/>
              <a:t>(inside)</a:t>
            </a:r>
            <a:r>
              <a:rPr lang="zh-CN" altLang="en-US" sz="2400" dirty="0" smtClean="0"/>
              <a:t>，</a:t>
            </a:r>
            <a:r>
              <a:rPr lang="en-US" altLang="zh-CN" sz="2400" i="1" dirty="0" smtClean="0"/>
              <a:t>E</a:t>
            </a:r>
            <a:r>
              <a:rPr lang="en-US" altLang="zh-CN" sz="2400" dirty="0" smtClean="0"/>
              <a:t>(</a:t>
            </a:r>
            <a:r>
              <a:rPr lang="en-US" altLang="zh-CN" sz="2400" i="1" dirty="0" smtClean="0"/>
              <a:t>A</a:t>
            </a:r>
            <a:r>
              <a:rPr lang="en-US" altLang="zh-CN" sz="2400" dirty="0"/>
              <a:t>) </a:t>
            </a:r>
            <a:r>
              <a:rPr lang="zh-CN" altLang="en-US" sz="2400" dirty="0"/>
              <a:t>和</a:t>
            </a:r>
            <a:r>
              <a:rPr lang="en-US" altLang="zh-CN" sz="2400" i="1" dirty="0"/>
              <a:t>E</a:t>
            </a:r>
            <a:r>
              <a:rPr lang="en-US" altLang="zh-CN" sz="2400" dirty="0"/>
              <a:t>(</a:t>
            </a:r>
            <a:r>
              <a:rPr lang="en-US" altLang="zh-CN" sz="2400" i="1" dirty="0"/>
              <a:t>B</a:t>
            </a:r>
            <a:r>
              <a:rPr lang="en-US" altLang="zh-CN" sz="2400" dirty="0"/>
              <a:t>) </a:t>
            </a:r>
            <a:r>
              <a:rPr lang="zh-CN" altLang="en-US" sz="2400" dirty="0"/>
              <a:t>表示</a:t>
            </a:r>
            <a:r>
              <a:rPr lang="en-US" altLang="zh-CN" sz="2400" dirty="0"/>
              <a:t>A </a:t>
            </a:r>
            <a:r>
              <a:rPr lang="zh-CN" altLang="en-US" sz="2400" dirty="0"/>
              <a:t>和</a:t>
            </a:r>
            <a:r>
              <a:rPr lang="en-US" altLang="zh-CN" sz="2400" dirty="0"/>
              <a:t>B </a:t>
            </a:r>
            <a:r>
              <a:rPr lang="zh-CN" altLang="en-US" sz="2400" dirty="0" smtClean="0"/>
              <a:t>的外部</a:t>
            </a:r>
            <a:r>
              <a:rPr lang="zh-CN" altLang="en-US" sz="2400" dirty="0"/>
              <a:t>。从数学上来讲，该模型可以</a:t>
            </a:r>
            <a:r>
              <a:rPr lang="zh-CN" altLang="en-US" sz="2400" dirty="0" smtClean="0"/>
              <a:t>表示</a:t>
            </a:r>
            <a:r>
              <a:rPr lang="en-US" altLang="zh-CN" sz="2400" dirty="0" smtClean="0"/>
              <a:t>2</a:t>
            </a:r>
            <a:r>
              <a:rPr lang="en-US" altLang="zh-CN" sz="2400" baseline="30000" dirty="0" smtClean="0"/>
              <a:t>9</a:t>
            </a:r>
            <a:r>
              <a:rPr lang="en-US" altLang="zh-CN" sz="2400" dirty="0"/>
              <a:t>=</a:t>
            </a:r>
            <a:r>
              <a:rPr lang="en-US" altLang="zh-CN" sz="2400" dirty="0" smtClean="0"/>
              <a:t>512 </a:t>
            </a:r>
            <a:r>
              <a:rPr lang="zh-CN" altLang="en-US" sz="2400" dirty="0"/>
              <a:t>种可能的关系，但</a:t>
            </a:r>
            <a:r>
              <a:rPr lang="zh-CN" altLang="en-US" sz="2400" dirty="0" smtClean="0"/>
              <a:t>实际上</a:t>
            </a:r>
            <a:r>
              <a:rPr lang="zh-CN" altLang="en-US" sz="2400" dirty="0"/>
              <a:t>有些关系是不存在的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r>
              <a:rPr lang="zh-CN" altLang="en-US" sz="2400" dirty="0"/>
              <a:t>左边</a:t>
            </a:r>
            <a:r>
              <a:rPr lang="zh-CN" altLang="en-US" sz="2400" dirty="0" smtClean="0"/>
              <a:t>的</a:t>
            </a:r>
            <a:r>
              <a:rPr lang="en-US" altLang="zh-CN" sz="2400" dirty="0"/>
              <a:t>9 </a:t>
            </a:r>
            <a:r>
              <a:rPr lang="zh-CN" altLang="en-US" sz="2400" dirty="0"/>
              <a:t>交模型是通过空和非空来区分</a:t>
            </a:r>
            <a:r>
              <a:rPr lang="en-US" altLang="zh-CN" sz="2400" dirty="0"/>
              <a:t>2 </a:t>
            </a:r>
            <a:r>
              <a:rPr lang="zh-CN" altLang="en-US" sz="2400" dirty="0"/>
              <a:t>个目标边界的内部和外部</a:t>
            </a:r>
            <a:r>
              <a:rPr lang="zh-CN" altLang="en-US" sz="2400" dirty="0" smtClean="0"/>
              <a:t>。该</a:t>
            </a:r>
            <a:r>
              <a:rPr lang="zh-CN" altLang="en-US" sz="2400" dirty="0"/>
              <a:t>方法是有局限性，需要运用维数扩展法进行</a:t>
            </a:r>
            <a:r>
              <a:rPr lang="zh-CN" altLang="en-US" sz="2400" dirty="0" smtClean="0"/>
              <a:t>扩展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其中</a:t>
            </a:r>
            <a:r>
              <a:rPr lang="en-US" altLang="zh-CN" sz="2400" dirty="0"/>
              <a:t>dim </a:t>
            </a:r>
            <a:r>
              <a:rPr lang="zh-CN" altLang="en-US" sz="2400" dirty="0"/>
              <a:t>表示取维数符号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r>
              <a:rPr lang="en-US" altLang="zh-CN" sz="2400" dirty="0" smtClean="0"/>
              <a:t>Shapely</a:t>
            </a:r>
            <a:r>
              <a:rPr lang="zh-CN" altLang="en-US" sz="2400" dirty="0" smtClean="0"/>
              <a:t>中使用</a:t>
            </a:r>
            <a:r>
              <a:rPr lang="en-US" altLang="zh-CN" sz="2400" dirty="0" smtClean="0"/>
              <a:t>9</a:t>
            </a:r>
            <a:r>
              <a:rPr lang="zh-CN" altLang="en-US" sz="2400" dirty="0" smtClean="0"/>
              <a:t>位字符串对应九交模型</a:t>
            </a:r>
            <a:r>
              <a:rPr lang="en-US" altLang="zh-CN" sz="2400" dirty="0" smtClean="0"/>
              <a:t>3×3</a:t>
            </a:r>
            <a:r>
              <a:rPr lang="zh-CN" altLang="en-US" sz="2400" dirty="0" smtClean="0"/>
              <a:t>的矩阵，</a:t>
            </a:r>
            <a:r>
              <a:rPr lang="en-US" altLang="zh-CN" sz="2400" dirty="0" smtClean="0"/>
              <a:t>T</a:t>
            </a:r>
            <a:r>
              <a:rPr lang="zh-CN" altLang="en-US" sz="2400" dirty="0" smtClean="0"/>
              <a:t>代表</a:t>
            </a:r>
            <a:r>
              <a:rPr lang="en-US" altLang="zh-CN" sz="2400" dirty="0" smtClean="0"/>
              <a:t>True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F</a:t>
            </a:r>
            <a:r>
              <a:rPr lang="zh-CN" altLang="en-US" sz="2400" dirty="0" smtClean="0"/>
              <a:t>代表</a:t>
            </a:r>
            <a:r>
              <a:rPr lang="en-US" altLang="zh-CN" sz="2400" dirty="0" smtClean="0"/>
              <a:t>False, *</a:t>
            </a:r>
            <a:r>
              <a:rPr lang="zh-CN" altLang="en-US" sz="2400" dirty="0" smtClean="0"/>
              <a:t>表示无关紧要，</a:t>
            </a:r>
            <a:r>
              <a:rPr lang="en-US" altLang="zh-CN" sz="2400" dirty="0" smtClean="0"/>
              <a:t>0/1/2</a:t>
            </a:r>
            <a:r>
              <a:rPr lang="zh-CN" altLang="en-US" sz="2400" dirty="0" smtClean="0"/>
              <a:t>表示交点必须存在，且必须具有相应维度。</a:t>
            </a:r>
            <a:endParaRPr lang="zh-CN" altLang="en-US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66" y="3419396"/>
            <a:ext cx="4839463" cy="1122930"/>
          </a:xfrm>
          <a:prstGeom prst="rect">
            <a:avLst/>
          </a:prstGeom>
          <a:ln>
            <a:solidFill>
              <a:srgbClr val="00B0F0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548" y="3444181"/>
            <a:ext cx="6300609" cy="109814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" name="下弧形箭头 4"/>
          <p:cNvSpPr/>
          <p:nvPr/>
        </p:nvSpPr>
        <p:spPr>
          <a:xfrm>
            <a:off x="4563836" y="4604657"/>
            <a:ext cx="1926771" cy="32657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55663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九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交模型表示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空间关系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57901" y="1024128"/>
            <a:ext cx="6041570" cy="542239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两个几何对象完全相同，则表示为</a:t>
            </a:r>
            <a:r>
              <a:rPr lang="en-US" altLang="zh-CN" dirty="0"/>
              <a:t>DE-9IM </a:t>
            </a:r>
            <a:r>
              <a:rPr lang="zh-CN" altLang="en-US" dirty="0"/>
              <a:t>即</a:t>
            </a:r>
            <a:r>
              <a:rPr lang="en-US" altLang="zh-CN" dirty="0"/>
              <a:t>TFFFTFFFT</a:t>
            </a:r>
            <a:r>
              <a:rPr lang="zh-CN" altLang="en-US" dirty="0"/>
              <a:t>；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两</a:t>
            </a:r>
            <a:r>
              <a:rPr lang="zh-CN" altLang="en-US" dirty="0"/>
              <a:t>个对象的边界和内部都没有任何公共部分，则表示为</a:t>
            </a:r>
            <a:r>
              <a:rPr lang="en-US" altLang="zh-CN" dirty="0"/>
              <a:t>DE-9IM </a:t>
            </a:r>
            <a:r>
              <a:rPr lang="zh-CN" altLang="en-US" dirty="0" smtClean="0"/>
              <a:t>即</a:t>
            </a:r>
            <a:r>
              <a:rPr lang="en-US" altLang="zh-CN" dirty="0" smtClean="0"/>
              <a:t>FF*FF</a:t>
            </a:r>
            <a:r>
              <a:rPr lang="en-US" altLang="zh-CN" dirty="0"/>
              <a:t>****</a:t>
            </a:r>
            <a:r>
              <a:rPr lang="zh-CN" altLang="en-US" dirty="0"/>
              <a:t>；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/>
              <a:t>Disjoint </a:t>
            </a:r>
            <a:r>
              <a:rPr lang="zh-CN" altLang="en-US" dirty="0"/>
              <a:t>取反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简单</a:t>
            </a:r>
            <a:r>
              <a:rPr lang="zh-CN" altLang="en-US" dirty="0"/>
              <a:t>地说</a:t>
            </a:r>
            <a:r>
              <a:rPr lang="en-US" altLang="zh-CN" dirty="0"/>
              <a:t>Touches </a:t>
            </a:r>
            <a:r>
              <a:rPr lang="zh-CN" altLang="en-US" dirty="0"/>
              <a:t>表示两个对象的边缘相接触，这个关系是以下</a:t>
            </a:r>
            <a:r>
              <a:rPr lang="zh-CN" altLang="en-US" dirty="0" smtClean="0"/>
              <a:t>几类</a:t>
            </a:r>
            <a:r>
              <a:rPr lang="zh-CN" altLang="en-US" dirty="0"/>
              <a:t>几何对象间特有的：</a:t>
            </a:r>
            <a:r>
              <a:rPr lang="en-US" altLang="zh-CN" dirty="0"/>
              <a:t>A/A, L/L, L/A, P/A ,P/L</a:t>
            </a:r>
            <a:r>
              <a:rPr lang="zh-CN" altLang="en-US" dirty="0"/>
              <a:t>。用</a:t>
            </a:r>
            <a:r>
              <a:rPr lang="en-US" altLang="zh-CN" dirty="0"/>
              <a:t>DE-9IM </a:t>
            </a:r>
            <a:r>
              <a:rPr lang="zh-CN" altLang="en-US" dirty="0" smtClean="0"/>
              <a:t>表示为</a:t>
            </a:r>
            <a:r>
              <a:rPr lang="en-US" altLang="zh-CN" dirty="0"/>
              <a:t>FT*******, F**T***** </a:t>
            </a:r>
            <a:r>
              <a:rPr lang="zh-CN" altLang="en-US" dirty="0"/>
              <a:t>或</a:t>
            </a:r>
            <a:r>
              <a:rPr lang="en-US" altLang="zh-CN" dirty="0"/>
              <a:t>F***T****</a:t>
            </a:r>
            <a:r>
              <a:rPr lang="zh-CN" altLang="en-US" dirty="0"/>
              <a:t>；</a:t>
            </a:r>
          </a:p>
          <a:p>
            <a:pPr>
              <a:lnSpc>
                <a:spcPct val="110000"/>
              </a:lnSpc>
            </a:pPr>
            <a:r>
              <a:rPr lang="en-US" altLang="zh-CN" dirty="0" smtClean="0"/>
              <a:t>Crosses </a:t>
            </a:r>
            <a:r>
              <a:rPr lang="zh-CN" altLang="en-US" dirty="0"/>
              <a:t>表示一个对象穿过另一个对象，它应用于</a:t>
            </a:r>
            <a:r>
              <a:rPr lang="en-US" altLang="zh-CN" dirty="0"/>
              <a:t>P/L, P/A, L/L </a:t>
            </a:r>
            <a:r>
              <a:rPr lang="zh-CN" altLang="en-US" dirty="0" smtClean="0"/>
              <a:t>和</a:t>
            </a:r>
            <a:r>
              <a:rPr lang="en-US" altLang="zh-CN" dirty="0" smtClean="0"/>
              <a:t>L/A </a:t>
            </a:r>
            <a:r>
              <a:rPr lang="zh-CN" altLang="en-US" dirty="0"/>
              <a:t>之间。用</a:t>
            </a:r>
            <a:r>
              <a:rPr lang="en-US" altLang="zh-CN" dirty="0"/>
              <a:t>DE-9IM </a:t>
            </a:r>
            <a:r>
              <a:rPr lang="zh-CN" altLang="en-US" dirty="0"/>
              <a:t>表示为：“</a:t>
            </a:r>
            <a:r>
              <a:rPr lang="en-US" altLang="zh-CN" dirty="0"/>
              <a:t>T*T******”</a:t>
            </a:r>
            <a:r>
              <a:rPr lang="zh-CN" altLang="en-US" dirty="0"/>
              <a:t>（</a:t>
            </a:r>
            <a:r>
              <a:rPr lang="en-US" altLang="zh-CN" dirty="0"/>
              <a:t>P/L, P/A,L/A</a:t>
            </a:r>
            <a:r>
              <a:rPr lang="zh-CN" altLang="en-US" dirty="0" smtClean="0"/>
              <a:t>），</a:t>
            </a:r>
            <a:r>
              <a:rPr lang="en-US" altLang="zh-CN" dirty="0" smtClean="0"/>
              <a:t>“</a:t>
            </a:r>
            <a:r>
              <a:rPr lang="en-US" altLang="zh-CN" dirty="0"/>
              <a:t>0********”</a:t>
            </a:r>
            <a:r>
              <a:rPr lang="zh-CN" altLang="en-US" dirty="0"/>
              <a:t>（</a:t>
            </a:r>
            <a:r>
              <a:rPr lang="en-US" altLang="zh-CN" dirty="0"/>
              <a:t>L/L</a:t>
            </a:r>
            <a:r>
              <a:rPr lang="zh-CN" altLang="en-US" dirty="0"/>
              <a:t>）</a:t>
            </a:r>
          </a:p>
          <a:p>
            <a:pPr>
              <a:lnSpc>
                <a:spcPct val="110000"/>
              </a:lnSpc>
            </a:pPr>
            <a:r>
              <a:rPr lang="zh-CN" altLang="en-US" i="1" dirty="0"/>
              <a:t> </a:t>
            </a:r>
            <a:r>
              <a:rPr lang="zh-CN" altLang="en-US" dirty="0"/>
              <a:t>包含于。用</a:t>
            </a:r>
            <a:r>
              <a:rPr lang="en-US" altLang="zh-CN" dirty="0"/>
              <a:t>DE-9IM </a:t>
            </a:r>
            <a:r>
              <a:rPr lang="zh-CN" altLang="en-US" dirty="0"/>
              <a:t>表示为：</a:t>
            </a:r>
            <a:r>
              <a:rPr lang="en-US" altLang="zh-CN" dirty="0"/>
              <a:t>T*F**F***</a:t>
            </a:r>
            <a:r>
              <a:rPr lang="zh-CN" altLang="en-US" dirty="0"/>
              <a:t>；</a:t>
            </a:r>
          </a:p>
          <a:p>
            <a:pPr>
              <a:lnSpc>
                <a:spcPct val="110000"/>
              </a:lnSpc>
            </a:pPr>
            <a:r>
              <a:rPr lang="zh-CN" altLang="en-US" i="1" dirty="0"/>
              <a:t> </a:t>
            </a:r>
            <a:r>
              <a:rPr lang="zh-CN" altLang="en-US" dirty="0"/>
              <a:t>重叠，应用于</a:t>
            </a:r>
            <a:r>
              <a:rPr lang="en-US" altLang="zh-CN" dirty="0"/>
              <a:t>A/A, L/L </a:t>
            </a:r>
            <a:r>
              <a:rPr lang="zh-CN" altLang="en-US" dirty="0"/>
              <a:t>和</a:t>
            </a:r>
            <a:r>
              <a:rPr lang="en-US" altLang="zh-CN" dirty="0"/>
              <a:t>P/P </a:t>
            </a:r>
            <a:r>
              <a:rPr lang="zh-CN" altLang="en-US" dirty="0"/>
              <a:t>之间。用</a:t>
            </a:r>
            <a:r>
              <a:rPr lang="en-US" altLang="zh-CN" dirty="0"/>
              <a:t>DE-9IM </a:t>
            </a:r>
            <a:r>
              <a:rPr lang="zh-CN" altLang="en-US" dirty="0"/>
              <a:t>表示为</a:t>
            </a:r>
            <a:r>
              <a:rPr lang="zh-CN" altLang="en-US" dirty="0" smtClean="0"/>
              <a:t>：</a:t>
            </a:r>
            <a:r>
              <a:rPr lang="fr-FR" altLang="zh-CN" dirty="0" smtClean="0"/>
              <a:t>T*T</a:t>
            </a:r>
            <a:r>
              <a:rPr lang="fr-FR" altLang="zh-CN" dirty="0"/>
              <a:t>***T**</a:t>
            </a:r>
            <a:r>
              <a:rPr lang="zh-CN" altLang="fr-FR" dirty="0"/>
              <a:t>（</a:t>
            </a:r>
            <a:r>
              <a:rPr lang="fr-FR" altLang="zh-CN" dirty="0"/>
              <a:t>A/A, P/P</a:t>
            </a:r>
            <a:r>
              <a:rPr lang="zh-CN" altLang="fr-FR" dirty="0"/>
              <a:t>），</a:t>
            </a:r>
            <a:r>
              <a:rPr lang="fr-FR" altLang="zh-CN" dirty="0"/>
              <a:t>1*T***T**</a:t>
            </a:r>
            <a:r>
              <a:rPr lang="zh-CN" altLang="fr-FR" dirty="0"/>
              <a:t>（</a:t>
            </a:r>
            <a:r>
              <a:rPr lang="fr-FR" altLang="zh-CN" dirty="0"/>
              <a:t>L/L</a:t>
            </a:r>
            <a:r>
              <a:rPr lang="zh-CN" altLang="fr-FR" dirty="0"/>
              <a:t>）</a:t>
            </a:r>
            <a:r>
              <a:rPr lang="fr-FR" altLang="zh-CN" dirty="0"/>
              <a:t>;</a:t>
            </a:r>
          </a:p>
          <a:p>
            <a:pPr>
              <a:lnSpc>
                <a:spcPct val="110000"/>
              </a:lnSpc>
            </a:pPr>
            <a:r>
              <a:rPr lang="zh-CN" altLang="en-US" i="1" dirty="0"/>
              <a:t> </a:t>
            </a:r>
            <a:r>
              <a:rPr lang="zh-CN" altLang="en-US" dirty="0"/>
              <a:t>包含，对立于</a:t>
            </a:r>
            <a:r>
              <a:rPr lang="en-US" altLang="zh-CN" dirty="0"/>
              <a:t>Within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80" y="1252728"/>
            <a:ext cx="5804198" cy="45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826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elate()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5607" y="1252728"/>
            <a:ext cx="10564585" cy="542239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 smtClean="0"/>
              <a:t>Geometry </a:t>
            </a:r>
            <a:r>
              <a:rPr lang="zh-CN" altLang="en-US" dirty="0"/>
              <a:t>类</a:t>
            </a:r>
            <a:r>
              <a:rPr lang="zh-CN" altLang="en-US" dirty="0" smtClean="0"/>
              <a:t>实现的方法不能</a:t>
            </a:r>
            <a:r>
              <a:rPr lang="zh-CN" altLang="en-US" dirty="0"/>
              <a:t>表示</a:t>
            </a:r>
            <a:r>
              <a:rPr lang="zh-CN" altLang="en-US" dirty="0" smtClean="0"/>
              <a:t>全部</a:t>
            </a:r>
            <a:r>
              <a:rPr lang="zh-CN" altLang="en-US" dirty="0"/>
              <a:t>的空间位置关系，因此</a:t>
            </a:r>
            <a:r>
              <a:rPr lang="en-US" altLang="zh-CN" dirty="0"/>
              <a:t>OGC </a:t>
            </a:r>
            <a:r>
              <a:rPr lang="zh-CN" altLang="en-US" dirty="0"/>
              <a:t>的</a:t>
            </a:r>
            <a:r>
              <a:rPr lang="en-US" altLang="zh-CN" dirty="0"/>
              <a:t>Simple Feature Specification </a:t>
            </a:r>
            <a:r>
              <a:rPr lang="zh-CN" altLang="en-US" dirty="0"/>
              <a:t>和</a:t>
            </a:r>
            <a:r>
              <a:rPr lang="en-US" altLang="zh-CN" dirty="0" smtClean="0"/>
              <a:t>JTS</a:t>
            </a:r>
            <a:r>
              <a:rPr lang="zh-CN" altLang="en-US" dirty="0" smtClean="0"/>
              <a:t>库都</a:t>
            </a:r>
            <a:r>
              <a:rPr lang="zh-CN" altLang="en-US" dirty="0"/>
              <a:t>提供了一个</a:t>
            </a:r>
            <a:r>
              <a:rPr lang="en-US" altLang="zh-CN" dirty="0">
                <a:solidFill>
                  <a:srgbClr val="FF0000"/>
                </a:solidFill>
              </a:rPr>
              <a:t>relate </a:t>
            </a:r>
            <a:r>
              <a:rPr lang="zh-CN" altLang="en-US" dirty="0">
                <a:solidFill>
                  <a:srgbClr val="FF0000"/>
                </a:solidFill>
              </a:rPr>
              <a:t>方法，用来测试指定的</a:t>
            </a:r>
            <a:r>
              <a:rPr lang="en-US" altLang="zh-CN" dirty="0">
                <a:solidFill>
                  <a:srgbClr val="FF0000"/>
                </a:solidFill>
              </a:rPr>
              <a:t>DE-9IM </a:t>
            </a:r>
            <a:r>
              <a:rPr lang="zh-CN" altLang="en-US" dirty="0">
                <a:solidFill>
                  <a:srgbClr val="FF0000"/>
                </a:solidFill>
              </a:rPr>
              <a:t>关系</a:t>
            </a:r>
            <a:r>
              <a:rPr lang="zh-CN" altLang="en-US" dirty="0"/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两个不同的点在它们的矩阵中主要有假值（</a:t>
            </a:r>
            <a:r>
              <a:rPr lang="en-US" altLang="zh-CN" dirty="0"/>
              <a:t>F</a:t>
            </a:r>
            <a:r>
              <a:rPr lang="zh-CN" altLang="en-US" dirty="0"/>
              <a:t>，</a:t>
            </a:r>
            <a:r>
              <a:rPr lang="en-US" altLang="zh-CN" dirty="0"/>
              <a:t>False</a:t>
            </a:r>
            <a:r>
              <a:rPr lang="zh-CN" altLang="en-US" dirty="0"/>
              <a:t>）属性；它们的</a:t>
            </a:r>
            <a:r>
              <a:rPr lang="zh-CN" altLang="en-US" dirty="0" smtClean="0"/>
              <a:t>外部</a:t>
            </a:r>
            <a:r>
              <a:rPr lang="zh-CN" altLang="en-US" dirty="0"/>
              <a:t>交集（第九个元素）是一个</a:t>
            </a:r>
            <a:r>
              <a:rPr lang="en-US" altLang="zh-CN" dirty="0"/>
              <a:t>2 </a:t>
            </a:r>
            <a:r>
              <a:rPr lang="zh-CN" altLang="en-US" dirty="0"/>
              <a:t>维对象平面的其余部分。一个对象的</a:t>
            </a:r>
            <a:r>
              <a:rPr lang="zh-CN" altLang="en-US" dirty="0" smtClean="0"/>
              <a:t>内部</a:t>
            </a:r>
            <a:r>
              <a:rPr lang="zh-CN" altLang="en-US" dirty="0"/>
              <a:t>和另一个外部的交集是</a:t>
            </a:r>
            <a:r>
              <a:rPr lang="en-US" altLang="zh-CN" dirty="0"/>
              <a:t>0 </a:t>
            </a:r>
            <a:r>
              <a:rPr lang="zh-CN" altLang="en-US" dirty="0"/>
              <a:t>维对象（矩阵中的第</a:t>
            </a:r>
            <a:r>
              <a:rPr lang="en-US" altLang="zh-CN" dirty="0"/>
              <a:t>3 </a:t>
            </a:r>
            <a:r>
              <a:rPr lang="zh-CN" altLang="en-US" dirty="0"/>
              <a:t>与第</a:t>
            </a:r>
            <a:r>
              <a:rPr lang="en-US" altLang="zh-CN" dirty="0"/>
              <a:t>7 </a:t>
            </a:r>
            <a:r>
              <a:rPr lang="zh-CN" altLang="en-US" dirty="0"/>
              <a:t>个元素）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 smtClean="0"/>
          </a:p>
          <a:p>
            <a:pPr>
              <a:lnSpc>
                <a:spcPct val="110000"/>
              </a:lnSpc>
            </a:pPr>
            <a:r>
              <a:rPr lang="zh-CN" altLang="en-US" dirty="0"/>
              <a:t>一条线和线上点的矩阵有更多真元素，而不是假元素。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2264230" y="3850252"/>
            <a:ext cx="6920592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0).relate(Point(1, 1))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'FF0FFF0F2'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0).relate(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([(0, 0), (1, 1)]))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'F0FFFF102'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68326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Shapely</a:t>
            </a:r>
            <a:r>
              <a:rPr lang="zh-CN" altLang="en-US" sz="4000" b="1" noProof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集合运算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7057" y="968325"/>
            <a:ext cx="10458450" cy="4489704"/>
          </a:xfrm>
        </p:spPr>
        <p:txBody>
          <a:bodyPr>
            <a:normAutofit lnSpcReduction="10000"/>
          </a:bodyPr>
          <a:lstStyle/>
          <a:p>
            <a:r>
              <a:rPr lang="zh-CN" altLang="en-US" sz="2400" dirty="0" smtClean="0"/>
              <a:t>边界与中心</a:t>
            </a:r>
            <a:endParaRPr lang="en-US" altLang="zh-CN" sz="2400" dirty="0" smtClean="0"/>
          </a:p>
          <a:p>
            <a:r>
              <a:rPr lang="zh-CN" altLang="en-US" sz="2400" dirty="0" smtClean="0"/>
              <a:t>一</a:t>
            </a:r>
            <a:r>
              <a:rPr lang="zh-CN" altLang="en-US" sz="2400" dirty="0"/>
              <a:t>个多边形的边界是一条线，线的边界是一系列的点。一个点的边界</a:t>
            </a:r>
            <a:r>
              <a:rPr lang="zh-CN" altLang="en-US" sz="2400" dirty="0" smtClean="0"/>
              <a:t>是一</a:t>
            </a:r>
            <a:r>
              <a:rPr lang="zh-CN" altLang="en-US" sz="2400" dirty="0"/>
              <a:t>个空集合</a:t>
            </a:r>
            <a:r>
              <a:rPr lang="zh-CN" altLang="en-US" sz="2400" dirty="0" smtClean="0"/>
              <a:t>。</a:t>
            </a:r>
            <a:r>
              <a:rPr lang="en-US" altLang="zh-CN" sz="2400" dirty="0" smtClean="0"/>
              <a:t>Boundary</a:t>
            </a:r>
            <a:r>
              <a:rPr lang="zh-CN" altLang="en-US" sz="2400" dirty="0" smtClean="0"/>
              <a:t>返回一个比对象边界更低一维的几何对象。</a:t>
            </a:r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endParaRPr lang="en-US" altLang="zh-CN" sz="2400" dirty="0" smtClean="0"/>
          </a:p>
          <a:p>
            <a:r>
              <a:rPr lang="en-US" altLang="zh-CN" sz="2400" dirty="0" err="1"/>
              <a:t>object.centroid</a:t>
            </a:r>
            <a:r>
              <a:rPr lang="en-US" altLang="zh-CN" sz="2400" dirty="0"/>
              <a:t> </a:t>
            </a:r>
            <a:r>
              <a:rPr lang="zh-CN" altLang="en-US" sz="2400" dirty="0"/>
              <a:t>返回几何对象的质心的代表。</a:t>
            </a: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577067" y="2180209"/>
            <a:ext cx="9198429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MultiLineString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Point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[((0, 0), (1, 1)), ((-1, 0), (1, 0))]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lines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MultiLineString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lines.boundary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shapely.geometry.multipoint.MultiPoint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0x7f47e33257f0&gt;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lines.boundary.boundary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shapely.geometry.collection.GeometryCollection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0x7f47c96a9f28&gt;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lines.boundary.boundary.is_empty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10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True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577067" y="5458029"/>
            <a:ext cx="919842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([(0, 0), (1, 1)]).centroid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shapely.geometry.point.Point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0x7f47c96b6438&gt;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([(0, 0), (1, 1)]).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centroid.wkt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970000"/>
                </a:solidFill>
                <a:latin typeface="YaHei_Monaco-R"/>
              </a:rPr>
              <a:t>'POINT (0.5 0.5)'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409005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相减操作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992085"/>
            <a:ext cx="10994136" cy="3544261"/>
          </a:xfrm>
        </p:spPr>
        <p:txBody>
          <a:bodyPr>
            <a:normAutofit/>
          </a:bodyPr>
          <a:lstStyle/>
          <a:p>
            <a:r>
              <a:rPr lang="en-US" altLang="zh-CN" dirty="0" err="1"/>
              <a:t>object.difference</a:t>
            </a:r>
            <a:r>
              <a:rPr lang="en-US" altLang="zh-CN" dirty="0"/>
              <a:t>(other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返回组成这个几何对象的点</a:t>
            </a:r>
            <a:r>
              <a:rPr lang="zh-CN" altLang="en-US" dirty="0" smtClean="0"/>
              <a:t>的集合，</a:t>
            </a:r>
            <a:r>
              <a:rPr lang="zh-CN" altLang="en-US" dirty="0"/>
              <a:t>且这些</a:t>
            </a:r>
            <a:r>
              <a:rPr lang="zh-CN" altLang="en-US" dirty="0" smtClean="0"/>
              <a:t>点不在另一个对象中。</a:t>
            </a:r>
            <a:endParaRPr lang="en-US" altLang="zh-CN" dirty="0" smtClean="0"/>
          </a:p>
          <a:p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1660069" y="3041401"/>
            <a:ext cx="828402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a = Point(1,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b = Point(2,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a.difference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(b)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shapely.geometry.polygon.Polygon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0x7f47c96a9cf8&gt;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678404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相交</a:t>
            </a: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和对称差操作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693" y="1183821"/>
            <a:ext cx="6441621" cy="47914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object.intersection</a:t>
            </a:r>
            <a:r>
              <a:rPr lang="en-US" altLang="zh-CN" dirty="0"/>
              <a:t>(other) </a:t>
            </a:r>
            <a:r>
              <a:rPr lang="zh-CN" altLang="en-US" dirty="0"/>
              <a:t>，返回一个对象与另一</a:t>
            </a:r>
            <a:r>
              <a:rPr lang="zh-CN" altLang="en-US" dirty="0" smtClean="0"/>
              <a:t>个对象交集</a:t>
            </a:r>
            <a:r>
              <a:rPr lang="zh-CN" altLang="en-US" dirty="0"/>
              <a:t>的代表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 err="1" smtClean="0"/>
              <a:t>object.symmetric_difference</a:t>
            </a:r>
            <a:r>
              <a:rPr lang="en-US" altLang="zh-CN" dirty="0" smtClean="0"/>
              <a:t>(other</a:t>
            </a:r>
            <a:r>
              <a:rPr lang="en-US" altLang="zh-CN" dirty="0"/>
              <a:t>) </a:t>
            </a:r>
            <a:r>
              <a:rPr lang="zh-CN" altLang="en-US" dirty="0" smtClean="0"/>
              <a:t>返回在一个对象但不在</a:t>
            </a:r>
            <a:r>
              <a:rPr lang="zh-CN" altLang="en-US" dirty="0"/>
              <a:t>另一</a:t>
            </a:r>
            <a:r>
              <a:rPr lang="zh-CN" altLang="en-US" dirty="0" smtClean="0"/>
              <a:t>个对象</a:t>
            </a:r>
            <a:r>
              <a:rPr lang="zh-CN" altLang="en-US" dirty="0"/>
              <a:t>的点</a:t>
            </a:r>
            <a:r>
              <a:rPr lang="zh-CN" altLang="en-US" dirty="0" smtClean="0"/>
              <a:t>的集合。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713012" y="2194545"/>
            <a:ext cx="615315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a = Point(1,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b = Point(2,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a.intersection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(b)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13012" y="4874512"/>
            <a:ext cx="615315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a = Point(1,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b = Point(2,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a.symmetric_difference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(b)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5206" b="13981"/>
          <a:stretch/>
        </p:blipFill>
        <p:spPr>
          <a:xfrm>
            <a:off x="6926161" y="1804307"/>
            <a:ext cx="5160301" cy="2359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18940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</a:t>
            </a: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Union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5555"/>
            <a:ext cx="10719816" cy="4489704"/>
          </a:xfrm>
        </p:spPr>
        <p:txBody>
          <a:bodyPr>
            <a:normAutofit/>
          </a:bodyPr>
          <a:lstStyle/>
          <a:p>
            <a:r>
              <a:rPr lang="zh-CN" altLang="en-US" dirty="0"/>
              <a:t>返回这个对象和其它几何对象间的点的集合</a:t>
            </a:r>
            <a:r>
              <a:rPr lang="zh-CN" altLang="en-US" dirty="0" smtClean="0"/>
              <a:t>的</a:t>
            </a:r>
            <a:r>
              <a:rPr lang="zh-CN" altLang="en-US" dirty="0"/>
              <a:t>合集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返回</a:t>
            </a:r>
            <a:r>
              <a:rPr lang="zh-CN" altLang="en-US" dirty="0"/>
              <a:t>对象的类型取决于运算对象之间的关系。例如多边形的合并，</a:t>
            </a:r>
            <a:r>
              <a:rPr lang="zh-CN" altLang="en-US" dirty="0" smtClean="0"/>
              <a:t>取决于</a:t>
            </a:r>
            <a:r>
              <a:rPr lang="zh-CN" altLang="en-US" dirty="0"/>
              <a:t>它们是否相交，结果则是一个多边形或者是一</a:t>
            </a:r>
            <a:r>
              <a:rPr lang="zh-CN" altLang="en-US" dirty="0" smtClean="0"/>
              <a:t>个复合多边形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080407" y="3632436"/>
            <a:ext cx="7941128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a = Point(1,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b = Point(2, 1).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a.union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(b)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&lt;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shapely.geometry.polygon.Polygon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b="1" dirty="0">
                <a:solidFill>
                  <a:srgbClr val="006400"/>
                </a:solidFill>
                <a:latin typeface="LMSans10-Bold-Identity-H"/>
              </a:rPr>
              <a:t>object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at 0x7f47c96a9cf8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a.union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(b).boundary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a.boundary.union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b.boundary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097" y="5644220"/>
            <a:ext cx="1193861" cy="8763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02" y="5651386"/>
            <a:ext cx="1193861" cy="8763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972" y="5651386"/>
            <a:ext cx="1193861" cy="87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2221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缓冲区方法</a:t>
            </a:r>
            <a:r>
              <a:rPr lang="en-US" altLang="zh-CN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945" y="971549"/>
            <a:ext cx="10243348" cy="42434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 smtClean="0"/>
              <a:t>object.buffer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distance,resolution</a:t>
            </a:r>
            <a:r>
              <a:rPr lang="en-US" altLang="zh-CN" dirty="0" smtClean="0"/>
              <a:t>) </a:t>
            </a:r>
            <a:r>
              <a:rPr lang="zh-CN" altLang="en-US" dirty="0"/>
              <a:t>返回一个几何</a:t>
            </a:r>
            <a:r>
              <a:rPr lang="zh-CN" altLang="en-US" dirty="0" smtClean="0"/>
              <a:t>对象指定</a:t>
            </a:r>
            <a:r>
              <a:rPr lang="zh-CN" altLang="en-US" dirty="0"/>
              <a:t>距离内所有点的近似代表</a:t>
            </a:r>
            <a:r>
              <a:rPr lang="zh-CN" altLang="en-US" dirty="0" smtClean="0"/>
              <a:t>。</a:t>
            </a:r>
            <a:r>
              <a:rPr lang="zh-CN" altLang="en-US" dirty="0"/>
              <a:t>长度</a:t>
            </a:r>
            <a:r>
              <a:rPr lang="zh-CN" altLang="en-US" dirty="0" smtClean="0"/>
              <a:t>值可为正数或负数，正数为膨胀效果，负数则为腐蚀效果。</a:t>
            </a:r>
            <a:r>
              <a:rPr lang="en-US" altLang="zh-CN" dirty="0" smtClean="0"/>
              <a:t>Resolution</a:t>
            </a:r>
            <a:r>
              <a:rPr lang="zh-CN" altLang="en-US" dirty="0" smtClean="0"/>
              <a:t>用于修正</a:t>
            </a:r>
            <a:r>
              <a:rPr lang="en-US" altLang="zh-CN" dirty="0" smtClean="0"/>
              <a:t>shapely</a:t>
            </a:r>
            <a:r>
              <a:rPr lang="zh-CN" altLang="en-US" dirty="0" smtClean="0"/>
              <a:t>产生的缓冲区中对圆的逼近程度。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endParaRPr lang="en-US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1451936" y="2836009"/>
            <a:ext cx="8847365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line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LineString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([(0, 0), (1, 1), (0, 2), (2, 2), (3, 1), (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1,0)]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）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dilated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line.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(0.5)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eroded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dilated.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(-0.3)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5988" y="4176293"/>
            <a:ext cx="5999991" cy="258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152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最小凸包方法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4836" y="955203"/>
            <a:ext cx="9865396" cy="44897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object.convex_hull</a:t>
            </a:r>
            <a:r>
              <a:rPr lang="en-US" altLang="zh-CN" dirty="0"/>
              <a:t>() </a:t>
            </a:r>
            <a:r>
              <a:rPr lang="zh-CN" altLang="en-US" dirty="0"/>
              <a:t>返回一个包含对象中所有点</a:t>
            </a:r>
            <a:r>
              <a:rPr lang="zh-CN" altLang="en-US" dirty="0" smtClean="0"/>
              <a:t>的最小凸多边形</a:t>
            </a:r>
            <a:r>
              <a:rPr lang="zh-CN" altLang="en-US" dirty="0"/>
              <a:t>，除非对象中点的数量少于三个。对于</a:t>
            </a:r>
            <a:r>
              <a:rPr lang="en-US" altLang="zh-CN" dirty="0"/>
              <a:t>2 </a:t>
            </a:r>
            <a:r>
              <a:rPr lang="zh-CN" altLang="en-US" dirty="0"/>
              <a:t>个点，凸包折叠为</a:t>
            </a:r>
            <a:r>
              <a:rPr lang="zh-CN" altLang="en-US" dirty="0" smtClean="0"/>
              <a:t>一条</a:t>
            </a:r>
            <a:r>
              <a:rPr lang="zh-CN" altLang="en-US" dirty="0"/>
              <a:t>线；一个点则折叠为一点。</a:t>
            </a:r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左边</a:t>
            </a:r>
            <a:r>
              <a:rPr lang="en-US" altLang="zh-CN" dirty="0"/>
              <a:t>2 </a:t>
            </a:r>
            <a:r>
              <a:rPr lang="zh-CN" altLang="en-US" dirty="0"/>
              <a:t>个点的凸包（蓝），右边</a:t>
            </a:r>
            <a:r>
              <a:rPr lang="en-US" altLang="zh-CN" dirty="0"/>
              <a:t>6 </a:t>
            </a:r>
            <a:r>
              <a:rPr lang="zh-CN" altLang="en-US" dirty="0"/>
              <a:t>个点的凸包。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2011136" y="2461444"/>
            <a:ext cx="7247164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convex_hull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MultiPoint([(0, 0), (1, 1)]).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convex_hull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MultiPoint([(0, 0), (1, 1), (1, -1)]).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convex_hull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472" y="4150754"/>
            <a:ext cx="5664491" cy="232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9375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最小外包矩形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7616" y="1481327"/>
            <a:ext cx="10014748" cy="41556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object.envelope</a:t>
            </a:r>
            <a:r>
              <a:rPr lang="en-US" altLang="zh-CN" dirty="0"/>
              <a:t> </a:t>
            </a:r>
            <a:r>
              <a:rPr lang="zh-CN" altLang="en-US" dirty="0" smtClean="0"/>
              <a:t>返回包含点</a:t>
            </a:r>
            <a:r>
              <a:rPr lang="zh-CN" altLang="en-US" dirty="0"/>
              <a:t>或</a:t>
            </a:r>
            <a:r>
              <a:rPr lang="zh-CN" altLang="en-US" dirty="0" smtClean="0"/>
              <a:t>包含对象</a:t>
            </a:r>
            <a:r>
              <a:rPr lang="zh-CN" altLang="en-US" dirty="0"/>
              <a:t>的</a:t>
            </a:r>
            <a:r>
              <a:rPr lang="zh-CN" altLang="en-US" dirty="0" smtClean="0"/>
              <a:t>最小外包矩形</a:t>
            </a:r>
            <a:r>
              <a:rPr lang="en-US" altLang="zh-CN" dirty="0" smtClean="0"/>
              <a:t>MBR</a:t>
            </a:r>
            <a:r>
              <a:rPr lang="zh-CN" altLang="en-US" dirty="0" smtClean="0"/>
              <a:t>（边平行</a:t>
            </a:r>
            <a:r>
              <a:rPr lang="zh-CN" altLang="en-US" dirty="0"/>
              <a:t>于坐标轴</a:t>
            </a:r>
            <a:r>
              <a:rPr lang="zh-CN" altLang="en-US" dirty="0" smtClean="0"/>
              <a:t>）。</a:t>
            </a:r>
            <a:r>
              <a:rPr lang="zh-CN" altLang="en-US" dirty="0"/>
              <a:t>单个</a:t>
            </a:r>
            <a:r>
              <a:rPr lang="zh-CN" altLang="en-US" dirty="0" smtClean="0"/>
              <a:t>点的</a:t>
            </a:r>
            <a:r>
              <a:rPr lang="en-US" altLang="zh-CN" dirty="0" smtClean="0"/>
              <a:t>MBR</a:t>
            </a:r>
            <a:r>
              <a:rPr lang="zh-CN" altLang="en-US" dirty="0" smtClean="0"/>
              <a:t>退化为点。</a:t>
            </a:r>
            <a:endParaRPr lang="en-US" altLang="zh-CN" sz="2400" dirty="0"/>
          </a:p>
        </p:txBody>
      </p:sp>
      <p:sp>
        <p:nvSpPr>
          <p:cNvPr id="2" name="矩形 1"/>
          <p:cNvSpPr/>
          <p:nvPr/>
        </p:nvSpPr>
        <p:spPr>
          <a:xfrm>
            <a:off x="2313212" y="2746606"/>
            <a:ext cx="714102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Point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Point(0, 0).envelope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13212" y="4089714"/>
            <a:ext cx="7141029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MultiPoint</a:t>
            </a:r>
          </a:p>
          <a:p>
            <a:r>
              <a:rPr lang="fr-FR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fr-FR" altLang="zh-CN" dirty="0">
                <a:solidFill>
                  <a:srgbClr val="000000"/>
                </a:solidFill>
                <a:latin typeface="YaHei_Monaco-R"/>
              </a:rPr>
              <a:t>&gt;&gt;&gt; MultiPoint([(0, 0), (1, 1)]).envelope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832215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简化集合对象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286" y="999634"/>
            <a:ext cx="10643398" cy="41556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返回一个几何对象的</a:t>
            </a:r>
            <a:r>
              <a:rPr lang="zh-CN" altLang="en-US" dirty="0" smtClean="0"/>
              <a:t>简化或概化形式，使用的是</a:t>
            </a:r>
            <a:r>
              <a:rPr lang="en-US" altLang="zh-CN" dirty="0" smtClean="0"/>
              <a:t>Douglas </a:t>
            </a:r>
            <a:r>
              <a:rPr lang="en-US" altLang="zh-CN" dirty="0" err="1" smtClean="0"/>
              <a:t>Peuker</a:t>
            </a:r>
            <a:r>
              <a:rPr lang="zh-CN" altLang="en-US" dirty="0" smtClean="0"/>
              <a:t>算法。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简化</a:t>
            </a:r>
            <a:r>
              <a:rPr lang="zh-CN" altLang="en-US" dirty="0"/>
              <a:t>对象中的所有点将会在原始几何距离的容差内。默认情况下，较</a:t>
            </a:r>
            <a:r>
              <a:rPr lang="zh-CN" altLang="en-US" dirty="0" smtClean="0"/>
              <a:t>慢的</a:t>
            </a:r>
            <a:r>
              <a:rPr lang="zh-CN" altLang="en-US" dirty="0"/>
              <a:t>算法被用于保留拓扑结构。如果保留拓扑结构设置为假，会采用更</a:t>
            </a:r>
            <a:r>
              <a:rPr lang="zh-CN" altLang="en-US" dirty="0" smtClean="0"/>
              <a:t>快的</a:t>
            </a:r>
            <a:r>
              <a:rPr lang="zh-CN" altLang="en-US" dirty="0"/>
              <a:t>算法。</a:t>
            </a:r>
            <a:endParaRPr lang="en-US" altLang="zh-CN" sz="2400" dirty="0"/>
          </a:p>
        </p:txBody>
      </p:sp>
      <p:sp>
        <p:nvSpPr>
          <p:cNvPr id="5" name="矩形 4"/>
          <p:cNvSpPr/>
          <p:nvPr/>
        </p:nvSpPr>
        <p:spPr>
          <a:xfrm>
            <a:off x="1935950" y="3476881"/>
            <a:ext cx="7639849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p = Point(0.0, 0.0)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x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p.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buffer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(1.0)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x.area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3.1365484905459384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x.exterior.coords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6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65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7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s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x.simplify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(0.05,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preserve_topology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=False)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s.area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3.0614674589207187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10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b="1" dirty="0" err="1">
                <a:solidFill>
                  <a:srgbClr val="006400"/>
                </a:solidFill>
                <a:latin typeface="LMSans10-Bold-Identity-H"/>
              </a:rPr>
              <a:t>len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s.exterior.coords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78475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/>
          </p:cNvSpPr>
          <p:nvPr/>
        </p:nvSpPr>
        <p:spPr>
          <a:xfrm>
            <a:off x="838200" y="148859"/>
            <a:ext cx="11353800" cy="7143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r>
              <a:rPr lang="zh-CN" altLang="en-US" sz="4000" b="1" noProof="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1286" y="999634"/>
            <a:ext cx="10643398" cy="50256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 smtClean="0"/>
              <a:t>填充函数内容用于计算任意两个多边形的相交面积。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 smtClean="0"/>
              <a:t>测试：调用该函数，使用以下数据，可得到结果</a:t>
            </a:r>
            <a:endParaRPr lang="en-US" altLang="zh-CN" dirty="0" smtClean="0"/>
          </a:p>
          <a:p>
            <a:pPr>
              <a:lnSpc>
                <a:spcPct val="100000"/>
              </a:lnSpc>
            </a:pPr>
            <a:endParaRPr lang="en-US" altLang="zh-CN" dirty="0" smtClean="0"/>
          </a:p>
        </p:txBody>
      </p:sp>
      <p:sp>
        <p:nvSpPr>
          <p:cNvPr id="5" name="矩形 4"/>
          <p:cNvSpPr/>
          <p:nvPr/>
        </p:nvSpPr>
        <p:spPr>
          <a:xfrm>
            <a:off x="1609379" y="1718522"/>
            <a:ext cx="5795628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from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shapely.geometry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import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Polygon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err="1" smtClean="0">
                <a:solidFill>
                  <a:srgbClr val="000000"/>
                </a:solidFill>
                <a:latin typeface="YaHei_Monaco-R"/>
              </a:rPr>
              <a:t>def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Cal_area_2poly(data1,data2):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YaHei_Monaco-R"/>
              </a:rPr>
              <a:t>"""</a:t>
            </a:r>
          </a:p>
          <a:p>
            <a:r>
              <a:rPr lang="en-US" altLang="zh-CN" dirty="0">
                <a:solidFill>
                  <a:srgbClr val="FF0000"/>
                </a:solidFill>
                <a:latin typeface="YaHei_Monaco-R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任意两</a:t>
            </a:r>
            <a:r>
              <a:rPr lang="zh-CN" altLang="en-US" dirty="0" smtClean="0">
                <a:solidFill>
                  <a:srgbClr val="FF0000"/>
                </a:solidFill>
                <a:latin typeface="YaHei_Monaco-R"/>
              </a:rPr>
              <a:t>个</a:t>
            </a:r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多边形</a:t>
            </a:r>
            <a:r>
              <a:rPr lang="zh-CN" altLang="en-US" dirty="0" smtClean="0">
                <a:solidFill>
                  <a:srgbClr val="FF0000"/>
                </a:solidFill>
                <a:latin typeface="YaHei_Monaco-R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相交面积的计算</a:t>
            </a:r>
          </a:p>
          <a:p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    </a:t>
            </a:r>
            <a:r>
              <a:rPr lang="en-US" altLang="zh-CN" dirty="0" smtClean="0">
                <a:solidFill>
                  <a:srgbClr val="FF0000"/>
                </a:solidFill>
                <a:latin typeface="YaHei_Monaco-R"/>
              </a:rPr>
              <a:t>:data1</a:t>
            </a:r>
            <a:r>
              <a:rPr lang="en-US" altLang="zh-CN" dirty="0">
                <a:solidFill>
                  <a:srgbClr val="FF0000"/>
                </a:solidFill>
                <a:latin typeface="YaHei_Monaco-R"/>
              </a:rPr>
              <a:t>: </a:t>
            </a:r>
            <a:r>
              <a:rPr lang="zh-CN" altLang="en-US" dirty="0" smtClean="0">
                <a:solidFill>
                  <a:srgbClr val="FF0000"/>
                </a:solidFill>
                <a:latin typeface="YaHei_Monaco-R"/>
              </a:rPr>
              <a:t>当前多边形的坐标列表</a:t>
            </a:r>
            <a:endParaRPr lang="zh-CN" altLang="en-US" dirty="0">
              <a:solidFill>
                <a:srgbClr val="FF0000"/>
              </a:solidFill>
              <a:latin typeface="YaHei_Monaco-R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    </a:t>
            </a:r>
            <a:r>
              <a:rPr lang="en-US" altLang="zh-CN" dirty="0" smtClean="0">
                <a:solidFill>
                  <a:srgbClr val="FF0000"/>
                </a:solidFill>
                <a:latin typeface="YaHei_Monaco-R"/>
              </a:rPr>
              <a:t>:data2</a:t>
            </a:r>
            <a:r>
              <a:rPr lang="en-US" altLang="zh-CN" dirty="0">
                <a:solidFill>
                  <a:srgbClr val="FF0000"/>
                </a:solidFill>
                <a:latin typeface="YaHei_Monaco-R"/>
              </a:rPr>
              <a:t>: </a:t>
            </a:r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待比较</a:t>
            </a:r>
            <a:r>
              <a:rPr lang="zh-CN" altLang="en-US" dirty="0" smtClean="0">
                <a:solidFill>
                  <a:srgbClr val="FF0000"/>
                </a:solidFill>
                <a:latin typeface="YaHei_Monaco-R"/>
              </a:rPr>
              <a:t>的多边形的坐标列表</a:t>
            </a:r>
            <a:endParaRPr lang="zh-CN" altLang="en-US" dirty="0">
              <a:solidFill>
                <a:srgbClr val="FF0000"/>
              </a:solidFill>
              <a:latin typeface="YaHei_Monaco-R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YaHei_Monaco-R"/>
              </a:rPr>
              <a:t>:return: </a:t>
            </a:r>
            <a:r>
              <a:rPr lang="zh-CN" altLang="en-US" dirty="0" smtClean="0">
                <a:solidFill>
                  <a:srgbClr val="FF0000"/>
                </a:solidFill>
                <a:latin typeface="YaHei_Monaco-R"/>
              </a:rPr>
              <a:t>返回两个多边形的</a:t>
            </a:r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面积交集</a:t>
            </a:r>
          </a:p>
          <a:p>
            <a:r>
              <a:rPr lang="zh-CN" altLang="en-US" dirty="0">
                <a:solidFill>
                  <a:srgbClr val="FF0000"/>
                </a:solidFill>
                <a:latin typeface="YaHei_Monaco-R"/>
              </a:rPr>
              <a:t>    </a:t>
            </a:r>
            <a:r>
              <a:rPr lang="en-US" altLang="zh-CN" dirty="0" smtClean="0">
                <a:solidFill>
                  <a:srgbClr val="FF0000"/>
                </a:solidFill>
                <a:latin typeface="YaHei_Monaco-R"/>
              </a:rPr>
              <a:t>"""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	return </a:t>
            </a:r>
            <a:r>
              <a:rPr lang="zh-CN" altLang="en-US" dirty="0" smtClean="0">
                <a:solidFill>
                  <a:srgbClr val="000000"/>
                </a:solidFill>
                <a:latin typeface="YaHei_Monaco-R"/>
              </a:rPr>
              <a:t>*****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485900" y="4990484"/>
            <a:ext cx="10058400" cy="14773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50C1C1"/>
                </a:solidFill>
                <a:latin typeface="LMSans9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>
                <a:latin typeface="YaHei_Monaco-R"/>
              </a:rPr>
              <a:t>data1 = [(100, 100), (100,200), (200,200),(200,100)] 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# </a:t>
            </a:r>
            <a:r>
              <a:rPr lang="zh-CN" altLang="en-US" dirty="0" smtClean="0">
                <a:solidFill>
                  <a:srgbClr val="0000FF"/>
                </a:solidFill>
                <a:latin typeface="YaHei_Monaco-R"/>
              </a:rPr>
              <a:t>第一个</a:t>
            </a:r>
            <a:r>
              <a:rPr lang="zh-CN" altLang="en-US" dirty="0">
                <a:solidFill>
                  <a:srgbClr val="0000FF"/>
                </a:solidFill>
                <a:latin typeface="YaHei_Monaco-R"/>
              </a:rPr>
              <a:t>多边形</a:t>
            </a:r>
            <a:r>
              <a:rPr lang="zh-CN" altLang="en-US" dirty="0" smtClean="0">
                <a:solidFill>
                  <a:srgbClr val="0000FF"/>
                </a:solidFill>
                <a:latin typeface="YaHei_Monaco-R"/>
              </a:rPr>
              <a:t>的坐标</a:t>
            </a:r>
            <a:endParaRPr lang="zh-CN" altLang="en-US" dirty="0">
              <a:solidFill>
                <a:srgbClr val="0000FF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data2 </a:t>
            </a:r>
            <a:r>
              <a:rPr lang="en-US" altLang="zh-CN" dirty="0">
                <a:latin typeface="YaHei_Monaco-R"/>
              </a:rPr>
              <a:t>= [(50, 50), (50,150), (150,150),(150,50)]   </a:t>
            </a:r>
            <a:r>
              <a:rPr lang="en-US" altLang="zh-CN" dirty="0">
                <a:solidFill>
                  <a:srgbClr val="0000FF"/>
                </a:solidFill>
                <a:latin typeface="YaHei_Monaco-R"/>
              </a:rPr>
              <a:t>#</a:t>
            </a:r>
            <a:r>
              <a:rPr lang="zh-CN" altLang="en-US" dirty="0">
                <a:solidFill>
                  <a:srgbClr val="0000FF"/>
                </a:solidFill>
                <a:latin typeface="YaHei_Monaco-R"/>
              </a:rPr>
              <a:t>待比较的第二</a:t>
            </a:r>
            <a:r>
              <a:rPr lang="zh-CN" altLang="en-US" dirty="0" smtClean="0">
                <a:solidFill>
                  <a:srgbClr val="0000FF"/>
                </a:solidFill>
                <a:latin typeface="YaHei_Monaco-R"/>
              </a:rPr>
              <a:t>个多边形的坐标</a:t>
            </a:r>
            <a:endParaRPr lang="zh-CN" altLang="en-US" dirty="0">
              <a:solidFill>
                <a:srgbClr val="0000FF"/>
              </a:solidFill>
              <a:latin typeface="YaHei_Monaco-R"/>
            </a:endParaRP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&gt;&gt;&gt; </a:t>
            </a:r>
            <a:r>
              <a:rPr lang="en-US" altLang="zh-CN" dirty="0" smtClean="0">
                <a:latin typeface="YaHei_Monaco-R"/>
              </a:rPr>
              <a:t>area </a:t>
            </a:r>
            <a:r>
              <a:rPr lang="en-US" altLang="zh-CN" dirty="0">
                <a:latin typeface="YaHei_Monaco-R"/>
              </a:rPr>
              <a:t>= Cal_area_2poly(data1,data2</a:t>
            </a:r>
            <a:r>
              <a:rPr lang="en-US" altLang="zh-CN" dirty="0" smtClean="0">
                <a:latin typeface="YaHei_Monaco-R"/>
              </a:rPr>
              <a:t>)</a:t>
            </a:r>
          </a:p>
          <a:p>
            <a:r>
              <a:rPr lang="en-US" altLang="zh-CN" dirty="0" smtClean="0">
                <a:solidFill>
                  <a:srgbClr val="50C1C1"/>
                </a:solidFill>
                <a:latin typeface="LMSans9-Regular-Identity-H"/>
              </a:rPr>
              <a:t>4 </a:t>
            </a:r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&gt;&gt;&gt; print(area)</a:t>
            </a:r>
          </a:p>
          <a:p>
            <a:r>
              <a:rPr lang="en-US" altLang="zh-CN" dirty="0" smtClean="0">
                <a:solidFill>
                  <a:srgbClr val="000000"/>
                </a:solidFill>
                <a:latin typeface="YaHei_Monaco-R"/>
              </a:rPr>
              <a:t>2500.0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6164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72561" y="2436983"/>
            <a:ext cx="26468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谢  谢！</a:t>
            </a:r>
            <a:endParaRPr lang="en-US" altLang="zh-CN" sz="5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30024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76AA"/>
      </a:accent1>
      <a:accent2>
        <a:srgbClr val="178AA1"/>
      </a:accent2>
      <a:accent3>
        <a:srgbClr val="40A693"/>
      </a:accent3>
      <a:accent4>
        <a:srgbClr val="5268A5"/>
      </a:accent4>
      <a:accent5>
        <a:srgbClr val="5E5CA2"/>
      </a:accent5>
      <a:accent6>
        <a:srgbClr val="778495"/>
      </a:accent6>
      <a:hlink>
        <a:srgbClr val="4276AA"/>
      </a:hlink>
      <a:folHlink>
        <a:srgbClr val="BFBFBF"/>
      </a:folHlink>
    </a:clrScheme>
    <a:fontScheme name="umv3b5mn">
      <a:majorFont>
        <a:latin typeface="Arial"/>
        <a:ea typeface="等线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50000"/>
          </a:lnSpc>
          <a:defRPr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15111</TotalTime>
  <Words>5741</Words>
  <Application>Microsoft Office PowerPoint</Application>
  <PresentationFormat>宽屏</PresentationFormat>
  <Paragraphs>638</Paragraphs>
  <Slides>46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1" baseType="lpstr">
      <vt:lpstr>LMSans10-Bold-Identity-H</vt:lpstr>
      <vt:lpstr>LMSans10-Regular-Identity-H</vt:lpstr>
      <vt:lpstr>LMSans8-Regular-Identity-H</vt:lpstr>
      <vt:lpstr>LMSans9-Regular-Identity-H</vt:lpstr>
      <vt:lpstr>YaHei_Monaco-R</vt:lpstr>
      <vt:lpstr>等线</vt:lpstr>
      <vt:lpstr>仿宋</vt:lpstr>
      <vt:lpstr>华文细黑</vt:lpstr>
      <vt:lpstr>宋体</vt:lpstr>
      <vt:lpstr>Microsoft YaHei</vt:lpstr>
      <vt:lpstr>Microsoft YaHei</vt:lpstr>
      <vt:lpstr>Arial</vt:lpstr>
      <vt:lpstr>Wingdings</vt:lpstr>
      <vt:lpstr>默认设计模板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董娜</dc:creator>
  <cp:lastModifiedBy>董娜</cp:lastModifiedBy>
  <cp:revision>328</cp:revision>
  <dcterms:created xsi:type="dcterms:W3CDTF">2021-07-19T14:43:53Z</dcterms:created>
  <dcterms:modified xsi:type="dcterms:W3CDTF">2025-10-14T04:30:30Z</dcterms:modified>
</cp:coreProperties>
</file>