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39"/>
  </p:notesMasterIdLst>
  <p:sldIdLst>
    <p:sldId id="271" r:id="rId3"/>
    <p:sldId id="274" r:id="rId4"/>
    <p:sldId id="314" r:id="rId5"/>
    <p:sldId id="316" r:id="rId6"/>
    <p:sldId id="318" r:id="rId7"/>
    <p:sldId id="350" r:id="rId8"/>
    <p:sldId id="351" r:id="rId9"/>
    <p:sldId id="352" r:id="rId10"/>
    <p:sldId id="319" r:id="rId11"/>
    <p:sldId id="343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46" r:id="rId28"/>
    <p:sldId id="347" r:id="rId29"/>
    <p:sldId id="335" r:id="rId30"/>
    <p:sldId id="341" r:id="rId31"/>
    <p:sldId id="337" r:id="rId32"/>
    <p:sldId id="353" r:id="rId33"/>
    <p:sldId id="338" r:id="rId34"/>
    <p:sldId id="339" r:id="rId35"/>
    <p:sldId id="340" r:id="rId36"/>
    <p:sldId id="349" r:id="rId37"/>
    <p:sldId id="309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89098" autoAdjust="0"/>
  </p:normalViewPr>
  <p:slideViewPr>
    <p:cSldViewPr snapToGrid="0">
      <p:cViewPr varScale="1">
        <p:scale>
          <a:sx n="78" d="100"/>
          <a:sy n="78" d="100"/>
        </p:scale>
        <p:origin x="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CC430-894F-42D3-8C16-073B9F8886A9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C33C5-0F3E-445E-A9B0-160F9160C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184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添加</a:t>
            </a:r>
            <a:r>
              <a:rPr kumimoji="1" lang="en-US" altLang="zh-CN" dirty="0" err="1" smtClean="0"/>
              <a:t>hdf</a:t>
            </a:r>
            <a:r>
              <a:rPr kumimoji="1" lang="zh-CN" altLang="en-US" smtClean="0"/>
              <a:t>文件对偏移量查看和计算</a:t>
            </a:r>
            <a:endParaRPr kumimoji="1"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58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694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.tab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mapinfo</a:t>
            </a:r>
            <a:r>
              <a:rPr lang="zh-CN" altLang="en-US" baseline="0" dirty="0" smtClean="0"/>
              <a:t>软件的矢量数据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36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.tab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mapinfo</a:t>
            </a:r>
            <a:r>
              <a:rPr lang="zh-CN" altLang="en-US" baseline="0" dirty="0" smtClean="0"/>
              <a:t>软件的矢量数据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74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其中包含</a:t>
            </a:r>
            <a:r>
              <a:rPr lang="en-US" altLang="zh-CN" dirty="0" smtClean="0"/>
              <a:t>field</a:t>
            </a:r>
            <a:r>
              <a:rPr lang="zh-CN" altLang="en-US" dirty="0" smtClean="0"/>
              <a:t>的是与属性相关的操作，包含</a:t>
            </a:r>
            <a:r>
              <a:rPr lang="en-US" altLang="zh-CN" dirty="0" smtClean="0"/>
              <a:t>Geometry</a:t>
            </a:r>
            <a:r>
              <a:rPr lang="zh-CN" altLang="en-US" dirty="0" smtClean="0"/>
              <a:t>的是与形状相关的操作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554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73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693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3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1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5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3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81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1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29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7" y="1778439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891" indent="0">
              <a:buNone/>
              <a:defRPr sz="1800"/>
            </a:lvl2pPr>
            <a:lvl3pPr marL="685783" indent="0">
              <a:buNone/>
              <a:defRPr sz="1500"/>
            </a:lvl3pPr>
            <a:lvl4pPr marL="1028674" indent="0">
              <a:buNone/>
              <a:defRPr sz="1353"/>
            </a:lvl4pPr>
            <a:lvl5pPr marL="1371566" indent="0">
              <a:buNone/>
              <a:defRPr sz="1353"/>
            </a:lvl5pPr>
            <a:lvl6pPr marL="1714457" indent="0">
              <a:buNone/>
              <a:defRPr sz="1353"/>
            </a:lvl6pPr>
            <a:lvl7pPr marL="2057349" indent="0">
              <a:buNone/>
              <a:defRPr sz="1353"/>
            </a:lvl7pPr>
            <a:lvl8pPr marL="2400240" indent="0">
              <a:buNone/>
              <a:defRPr sz="1353"/>
            </a:lvl8pPr>
            <a:lvl9pPr marL="2743131" indent="0">
              <a:buNone/>
              <a:defRPr sz="13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7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891" indent="0">
              <a:buNone/>
              <a:defRPr sz="1800"/>
            </a:lvl2pPr>
            <a:lvl3pPr marL="685783" indent="0">
              <a:buNone/>
              <a:defRPr sz="1500"/>
            </a:lvl3pPr>
            <a:lvl4pPr marL="1028674" indent="0">
              <a:buNone/>
              <a:defRPr sz="1353"/>
            </a:lvl4pPr>
            <a:lvl5pPr marL="1371566" indent="0">
              <a:buNone/>
              <a:defRPr sz="1353"/>
            </a:lvl5pPr>
            <a:lvl6pPr marL="1714457" indent="0">
              <a:buNone/>
              <a:defRPr sz="1353"/>
            </a:lvl6pPr>
            <a:lvl7pPr marL="2057349" indent="0">
              <a:buNone/>
              <a:defRPr sz="1353"/>
            </a:lvl7pPr>
            <a:lvl8pPr marL="2400240" indent="0">
              <a:buNone/>
              <a:defRPr sz="1353"/>
            </a:lvl8pPr>
            <a:lvl9pPr marL="2743131" indent="0">
              <a:buNone/>
              <a:defRPr sz="13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65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2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66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3"/>
            </a:lvl2pPr>
            <a:lvl3pPr marL="685783" indent="0">
              <a:buNone/>
              <a:defRPr sz="900"/>
            </a:lvl3pPr>
            <a:lvl4pPr marL="1028674" indent="0">
              <a:buNone/>
              <a:defRPr sz="753"/>
            </a:lvl4pPr>
            <a:lvl5pPr marL="1371566" indent="0">
              <a:buNone/>
              <a:defRPr sz="753"/>
            </a:lvl5pPr>
            <a:lvl6pPr marL="1714457" indent="0">
              <a:buNone/>
              <a:defRPr sz="753"/>
            </a:lvl6pPr>
            <a:lvl7pPr marL="2057349" indent="0">
              <a:buNone/>
              <a:defRPr sz="753"/>
            </a:lvl7pPr>
            <a:lvl8pPr marL="2400240" indent="0">
              <a:buNone/>
              <a:defRPr sz="753"/>
            </a:lvl8pPr>
            <a:lvl9pPr marL="2743131" indent="0">
              <a:buNone/>
              <a:defRPr sz="7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78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891" indent="0">
              <a:buNone/>
              <a:defRPr sz="1353"/>
            </a:lvl2pPr>
            <a:lvl3pPr marL="685783" indent="0">
              <a:buNone/>
              <a:defRPr sz="1200"/>
            </a:lvl3pPr>
            <a:lvl4pPr marL="1028674" indent="0">
              <a:buNone/>
              <a:defRPr sz="1053"/>
            </a:lvl4pPr>
            <a:lvl5pPr marL="1371566" indent="0">
              <a:buNone/>
              <a:defRPr sz="1053"/>
            </a:lvl5pPr>
            <a:lvl6pPr marL="1714457" indent="0">
              <a:buNone/>
              <a:defRPr sz="1053"/>
            </a:lvl6pPr>
            <a:lvl7pPr marL="2057349" indent="0">
              <a:buNone/>
              <a:defRPr sz="1053"/>
            </a:lvl7pPr>
            <a:lvl8pPr marL="2400240" indent="0">
              <a:buNone/>
              <a:defRPr sz="1053"/>
            </a:lvl8pPr>
            <a:lvl9pPr marL="2743131" indent="0">
              <a:buNone/>
              <a:defRPr sz="10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99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40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183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01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FA0558-CA62-4D91-8F6C-F489DB76540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860912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17694C-3D4D-4953-9445-362C8CEA373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4948" y="-7982"/>
            <a:ext cx="12192000" cy="863689"/>
          </a:xfrm>
          <a:prstGeom prst="rect">
            <a:avLst/>
          </a:prstGeom>
          <a:solidFill>
            <a:srgbClr val="005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2701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9D961-437F-401F-B16E-BDE8894DB2E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626351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C75184-7F82-46C7-8239-96CEF9BBA8E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3292847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09D0AF-35F2-48A3-A662-D2FC8BD1C4F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11" name="矩形 10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7543921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D7F696-4055-43A7-BE65-94FC5C35372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7" name="矩形 6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8418456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A19FCB-2E0D-4422-B8FA-F92E299B686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6" name="矩形 5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116033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6E0852-CA4C-4F15-90AC-8A82F656E17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6373054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B2B1AD-C4DA-46F7-83EF-6591A3CFF03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7929315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6873A-4751-4F25-81CF-773CD233D7D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965981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C80336-C3CE-4067-A076-C598A13B532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09253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74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marL="0" lvl="0" indent="0" algn="ctr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891" lvl="0" indent="-342891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3355" lvl="1" indent="-286166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2971" lvl="2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160" lvl="3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349" lvl="4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lvl="5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726" lvl="6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8914" lvl="7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103" lvl="8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lvl="1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2pPr>
      <a:lvl3pPr marL="914377" lvl="2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3pPr>
      <a:lvl4pPr marL="1371566" lvl="3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4pPr>
      <a:lvl5pPr marL="1828754" lvl="4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5pPr>
      <a:lvl6pPr marL="2285943" lvl="5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6pPr>
      <a:lvl7pPr marL="2743131" lvl="6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7pPr>
      <a:lvl8pPr marL="3200320" lvl="7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8pPr>
      <a:lvl9pPr marL="3657509" lvl="8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011B6F-EF2D-465A-830E-49C93EBC700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94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 spd="slow"/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dal.org/org/" TargetMode="External"/><Relationship Id="rId2" Type="http://schemas.openxmlformats.org/officeDocument/2006/relationships/hyperlink" Target="http://www.gdal.org/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lfd.uci.edu/~gohlke/pythonlibs/#gdal" TargetMode="Externa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lfd.uci.edu/~gohlke/pythonlibs/#gdal" TargetMode="Externa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772156"/>
            <a:ext cx="12187054" cy="1794243"/>
          </a:xfrm>
          <a:prstGeom prst="rect">
            <a:avLst/>
          </a:prstGeom>
          <a:solidFill>
            <a:srgbClr val="005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B24D44-5A02-4BF7-9F07-D6538C4E4CFB}"/>
              </a:ext>
            </a:extLst>
          </p:cNvPr>
          <p:cNvSpPr txBox="1"/>
          <p:nvPr/>
        </p:nvSpPr>
        <p:spPr>
          <a:xfrm>
            <a:off x="927961" y="1938312"/>
            <a:ext cx="10375821" cy="119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5400" b="1" kern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OGR</a:t>
            </a:r>
            <a:r>
              <a:rPr lang="zh-CN" altLang="en-US" sz="5400" b="1" kern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操作矢量数据</a:t>
            </a:r>
            <a:endParaRPr lang="en-US" altLang="zh-CN" sz="54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EF9987-8C74-42DD-8457-C4BEA5DE63AA}"/>
              </a:ext>
            </a:extLst>
          </p:cNvPr>
          <p:cNvSpPr txBox="1"/>
          <p:nvPr/>
        </p:nvSpPr>
        <p:spPr>
          <a:xfrm>
            <a:off x="5112328" y="5266754"/>
            <a:ext cx="1962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5E18C867-1F19-1E4D-8B9B-98AA283D003A}" type="datetime1">
              <a:rPr lang="zh-CN" altLang="en-US" sz="28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2024/9/13</a:t>
            </a:fld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F5D7F1A-5516-49A8-AE3B-936956FF79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750" y="6024709"/>
            <a:ext cx="4487659" cy="7057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649118" y="3854884"/>
            <a:ext cx="88888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kern="1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董娜   助理教授 </a:t>
            </a:r>
            <a:endParaRPr lang="en-US" altLang="zh-CN" sz="2800" kern="1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u="sng" kern="1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dongn6@mail.sysu.edu.cn</a:t>
            </a:r>
            <a:endParaRPr lang="zh-CN" altLang="en-US" sz="28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184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7470" y="1347317"/>
            <a:ext cx="10515600" cy="47381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1. </a:t>
            </a:r>
            <a:r>
              <a:rPr lang="en-US" altLang="zh-CN" dirty="0"/>
              <a:t>OGR</a:t>
            </a:r>
            <a:r>
              <a:rPr lang="zh-CN" altLang="en-US" dirty="0" smtClean="0"/>
              <a:t>介绍</a:t>
            </a:r>
            <a:endParaRPr lang="en-US" altLang="zh-CN" dirty="0" smtClean="0"/>
          </a:p>
          <a:p>
            <a:pPr lvl="1">
              <a:lnSpc>
                <a:spcPct val="100000"/>
              </a:lnSpc>
            </a:pPr>
            <a:endParaRPr lang="en-US" altLang="zh-CN" sz="2800" dirty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2. OGR</a:t>
            </a:r>
            <a:r>
              <a:rPr lang="zh-CN" altLang="en-US" dirty="0" smtClean="0"/>
              <a:t>基本操作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sz="2800" dirty="0" smtClean="0"/>
              <a:t>3. OGR</a:t>
            </a:r>
            <a:r>
              <a:rPr lang="zh-CN" altLang="en-US" sz="2800" dirty="0" smtClean="0"/>
              <a:t>操作图层</a:t>
            </a:r>
            <a:endParaRPr lang="en-US" altLang="zh-CN" sz="2800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sz="2800" dirty="0" smtClean="0"/>
              <a:t>4. OGR</a:t>
            </a:r>
            <a:r>
              <a:rPr lang="zh-CN" altLang="en-US" sz="2800" dirty="0" smtClean="0"/>
              <a:t>操作图层中的要素</a:t>
            </a:r>
            <a:endParaRPr lang="en-US" altLang="zh-CN" sz="2800" dirty="0" smtClean="0"/>
          </a:p>
          <a:p>
            <a:pPr lvl="1">
              <a:lnSpc>
                <a:spcPct val="100000"/>
              </a:lnSpc>
            </a:pP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42072552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OGR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4047" y="1079304"/>
            <a:ext cx="10564745" cy="54051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OGR </a:t>
            </a:r>
            <a:r>
              <a:rPr lang="zh-CN" altLang="en-US" dirty="0" smtClean="0"/>
              <a:t>矢量库</a:t>
            </a:r>
            <a:endParaRPr lang="en-US" altLang="zh-CN" dirty="0" smtClean="0"/>
          </a:p>
          <a:p>
            <a:pPr lvl="1">
              <a:lnSpc>
                <a:spcPct val="100000"/>
              </a:lnSpc>
            </a:pPr>
            <a:r>
              <a:rPr lang="zh-CN" altLang="en-US" sz="2800" dirty="0" smtClean="0"/>
              <a:t>简单的矢量数据读写</a:t>
            </a:r>
            <a:endParaRPr lang="en-US" altLang="zh-CN" sz="2800" dirty="0" smtClean="0"/>
          </a:p>
          <a:p>
            <a:pPr lvl="1">
              <a:lnSpc>
                <a:spcPct val="100000"/>
              </a:lnSpc>
            </a:pPr>
            <a:r>
              <a:rPr lang="zh-CN" altLang="en-US" sz="2800" dirty="0" smtClean="0"/>
              <a:t>是</a:t>
            </a:r>
            <a:r>
              <a:rPr lang="en-US" altLang="zh-CN" sz="2800" dirty="0" smtClean="0"/>
              <a:t>GDAL</a:t>
            </a:r>
            <a:r>
              <a:rPr lang="zh-CN" altLang="en-US" sz="2800" dirty="0" smtClean="0"/>
              <a:t>（</a:t>
            </a:r>
            <a:r>
              <a:rPr lang="zh-CN" altLang="en-US" sz="2800" dirty="0"/>
              <a:t>地理空间数据抽象</a:t>
            </a:r>
            <a:r>
              <a:rPr lang="zh-CN" altLang="en-US" sz="2800" dirty="0" smtClean="0"/>
              <a:t>库，</a:t>
            </a:r>
            <a:r>
              <a:rPr lang="en-US" altLang="zh-CN" sz="2800" dirty="0" smtClean="0"/>
              <a:t>Geospatial Data Abstraction Library</a:t>
            </a:r>
            <a:r>
              <a:rPr lang="zh-CN" altLang="en-US" sz="2800" dirty="0" smtClean="0"/>
              <a:t>）的一部分</a:t>
            </a:r>
            <a:endParaRPr lang="en-US" altLang="zh-CN" sz="2800" dirty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GDAL</a:t>
            </a:r>
            <a:r>
              <a:rPr lang="zh-CN" altLang="en-US" dirty="0" smtClean="0"/>
              <a:t>起源于</a:t>
            </a:r>
            <a:r>
              <a:rPr lang="en-US" altLang="zh-CN" dirty="0"/>
              <a:t>1998 </a:t>
            </a:r>
            <a:r>
              <a:rPr lang="zh-CN" altLang="en-US" dirty="0"/>
              <a:t>年，已经大幅进化。在</a:t>
            </a:r>
            <a:r>
              <a:rPr lang="en-US" altLang="zh-CN" dirty="0"/>
              <a:t>GDAL 1.9.0 </a:t>
            </a:r>
            <a:r>
              <a:rPr lang="zh-CN" altLang="en-US" dirty="0"/>
              <a:t>中，</a:t>
            </a:r>
            <a:r>
              <a:rPr lang="en-US" altLang="zh-CN" dirty="0"/>
              <a:t>GDAL </a:t>
            </a:r>
            <a:r>
              <a:rPr lang="zh-CN" altLang="en-US" dirty="0"/>
              <a:t>支持超过</a:t>
            </a:r>
            <a:r>
              <a:rPr lang="en-US" altLang="zh-CN" dirty="0"/>
              <a:t>120 </a:t>
            </a:r>
            <a:r>
              <a:rPr lang="zh-CN" altLang="en-US" dirty="0"/>
              <a:t>种栅格数据格式，从</a:t>
            </a:r>
            <a:r>
              <a:rPr lang="en-US" altLang="zh-CN" dirty="0"/>
              <a:t>GDAL2.0</a:t>
            </a:r>
            <a:r>
              <a:rPr lang="zh-CN" altLang="en-US" dirty="0"/>
              <a:t>开始也集成了另一个用于矢量数据操作的库（</a:t>
            </a:r>
            <a:r>
              <a:rPr lang="en-US" altLang="zh-CN" dirty="0"/>
              <a:t>OGR</a:t>
            </a:r>
            <a:r>
              <a:rPr lang="zh-CN" altLang="en-US" dirty="0"/>
              <a:t>），因此，这个库同时具备了操作栅格和矢量数据的能力。</a:t>
            </a:r>
          </a:p>
          <a:p>
            <a:pPr>
              <a:lnSpc>
                <a:spcPct val="100000"/>
              </a:lnSpc>
            </a:pPr>
            <a:r>
              <a:rPr lang="zh-CN" altLang="en-US" dirty="0" smtClean="0"/>
              <a:t>文档</a:t>
            </a:r>
            <a:r>
              <a:rPr lang="zh-CN" altLang="en-US" dirty="0"/>
              <a:t>资源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GDAL: </a:t>
            </a:r>
            <a:r>
              <a:rPr lang="en-US" altLang="zh-CN" sz="2800" dirty="0">
                <a:hlinkClick r:id="rId2"/>
              </a:rPr>
              <a:t>http://www.gdal.org/</a:t>
            </a:r>
            <a:r>
              <a:rPr lang="en-US" altLang="zh-CN" sz="2800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OGR: </a:t>
            </a:r>
            <a:r>
              <a:rPr lang="en-US" altLang="zh-CN" sz="2800" dirty="0">
                <a:hlinkClick r:id="rId3"/>
              </a:rPr>
              <a:t>http://www.gdal.org/org/</a:t>
            </a:r>
            <a:r>
              <a:rPr lang="en-US" altLang="zh-CN" sz="2800" dirty="0"/>
              <a:t> </a:t>
            </a:r>
          </a:p>
          <a:p>
            <a:pPr lvl="1">
              <a:lnSpc>
                <a:spcPct val="10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6609829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OGR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支持的数据格式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3738" y="1081514"/>
            <a:ext cx="10515600" cy="54051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OGR</a:t>
            </a:r>
            <a:r>
              <a:rPr lang="zh-CN" altLang="en-US" dirty="0" smtClean="0"/>
              <a:t>支持的常见文件格式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34" y="1809953"/>
            <a:ext cx="7753427" cy="437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646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OGR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的基本类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319" y="1001561"/>
            <a:ext cx="11391111" cy="54051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2400" dirty="0"/>
              <a:t>Geometry</a:t>
            </a:r>
            <a:r>
              <a:rPr lang="zh-CN" altLang="en-US" sz="2400" dirty="0"/>
              <a:t>：封装了</a:t>
            </a:r>
            <a:r>
              <a:rPr lang="en-US" altLang="zh-CN" sz="2400" dirty="0" err="1"/>
              <a:t>OpenGIS</a:t>
            </a:r>
            <a:r>
              <a:rPr lang="en-US" altLang="zh-CN" sz="2400" dirty="0"/>
              <a:t> </a:t>
            </a:r>
            <a:r>
              <a:rPr lang="zh-CN" altLang="en-US" sz="2400" dirty="0"/>
              <a:t>的矢量数据模型，并提供了一些几何</a:t>
            </a:r>
            <a:r>
              <a:rPr lang="zh-CN" altLang="en-US" sz="2400" dirty="0" smtClean="0"/>
              <a:t>操作</a:t>
            </a:r>
            <a:r>
              <a:rPr lang="zh-CN" altLang="en-US" sz="2400" dirty="0"/>
              <a:t>，如</a:t>
            </a:r>
            <a:r>
              <a:rPr lang="en-US" altLang="zh-CN" sz="2400" dirty="0"/>
              <a:t>WKB(Well Know Binary) </a:t>
            </a:r>
            <a:r>
              <a:rPr lang="zh-CN" altLang="en-US" sz="2400" dirty="0"/>
              <a:t>和</a:t>
            </a:r>
            <a:r>
              <a:rPr lang="en-US" altLang="zh-CN" sz="2400" dirty="0"/>
              <a:t>WKT(Well Known Text) </a:t>
            </a:r>
            <a:r>
              <a:rPr lang="zh-CN" altLang="en-US" sz="2400" dirty="0"/>
              <a:t>格式</a:t>
            </a:r>
            <a:r>
              <a:rPr lang="zh-CN" altLang="en-US" sz="2400" dirty="0" smtClean="0"/>
              <a:t>之间</a:t>
            </a:r>
            <a:r>
              <a:rPr lang="zh-CN" altLang="en-US" sz="2400" dirty="0"/>
              <a:t>的相互转换，以及空间参考系统</a:t>
            </a:r>
            <a:r>
              <a:rPr lang="en-US" altLang="zh-CN" sz="2400" dirty="0"/>
              <a:t>(</a:t>
            </a:r>
            <a:r>
              <a:rPr lang="zh-CN" altLang="en-US" sz="2400" dirty="0"/>
              <a:t>投影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dirty="0" smtClean="0"/>
              <a:t>Spatial </a:t>
            </a:r>
            <a:r>
              <a:rPr lang="en-US" altLang="zh-CN" sz="2400" dirty="0"/>
              <a:t>Reference</a:t>
            </a:r>
            <a:r>
              <a:rPr lang="zh-CN" altLang="en-US" sz="2400" dirty="0"/>
              <a:t>：封装了投影和基准面的定义。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dirty="0" smtClean="0"/>
              <a:t>Feature</a:t>
            </a:r>
            <a:r>
              <a:rPr lang="zh-CN" altLang="en-US" sz="2400" dirty="0"/>
              <a:t>：封装了一个完整</a:t>
            </a:r>
            <a:r>
              <a:rPr lang="en-US" altLang="zh-CN" sz="2400" dirty="0"/>
              <a:t>feature </a:t>
            </a:r>
            <a:r>
              <a:rPr lang="zh-CN" altLang="en-US" sz="2400" dirty="0"/>
              <a:t>的定义，一个完整的</a:t>
            </a:r>
            <a:r>
              <a:rPr lang="en-US" altLang="zh-CN" sz="2400" dirty="0"/>
              <a:t>feature </a:t>
            </a:r>
            <a:r>
              <a:rPr lang="zh-CN" altLang="en-US" sz="2400" dirty="0" smtClean="0"/>
              <a:t>包括一</a:t>
            </a:r>
            <a:r>
              <a:rPr lang="zh-CN" altLang="en-US" sz="2400" dirty="0"/>
              <a:t>个</a:t>
            </a:r>
            <a:r>
              <a:rPr lang="en-US" altLang="zh-CN" sz="2400" dirty="0"/>
              <a:t>geometry </a:t>
            </a:r>
            <a:r>
              <a:rPr lang="zh-CN" altLang="en-US" sz="2400" dirty="0"/>
              <a:t>和</a:t>
            </a:r>
            <a:r>
              <a:rPr lang="en-US" altLang="zh-CN" sz="2400" dirty="0"/>
              <a:t>geometry </a:t>
            </a:r>
            <a:r>
              <a:rPr lang="zh-CN" altLang="en-US" sz="2400" dirty="0"/>
              <a:t>的一系列属性。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dirty="0" smtClean="0"/>
              <a:t>Feature </a:t>
            </a:r>
            <a:r>
              <a:rPr lang="en-US" altLang="zh-CN" sz="2400" dirty="0"/>
              <a:t>Definition</a:t>
            </a:r>
            <a:r>
              <a:rPr lang="zh-CN" altLang="en-US" sz="2400" dirty="0"/>
              <a:t>：里面封装了</a:t>
            </a:r>
            <a:r>
              <a:rPr lang="en-US" altLang="zh-CN" sz="2400" dirty="0"/>
              <a:t>feature </a:t>
            </a:r>
            <a:r>
              <a:rPr lang="zh-CN" altLang="en-US" sz="2400" dirty="0"/>
              <a:t>的属性，类型、名称及其</a:t>
            </a:r>
            <a:r>
              <a:rPr lang="zh-CN" altLang="en-US" sz="2400" dirty="0" smtClean="0"/>
              <a:t>默认</a:t>
            </a:r>
            <a:r>
              <a:rPr lang="zh-CN" altLang="en-US" sz="2400" dirty="0"/>
              <a:t>的空间参考系统等。</a:t>
            </a:r>
            <a:r>
              <a:rPr lang="zh-CN" altLang="en-US" sz="2400" dirty="0">
                <a:solidFill>
                  <a:srgbClr val="FF0000"/>
                </a:solidFill>
              </a:rPr>
              <a:t>一个</a:t>
            </a:r>
            <a:r>
              <a:rPr lang="en-US" altLang="zh-CN" sz="2400" dirty="0" err="1">
                <a:solidFill>
                  <a:srgbClr val="FF0000"/>
                </a:solidFill>
              </a:rPr>
              <a:t>OGRFeatureDefn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对象通常与一</a:t>
            </a:r>
            <a:r>
              <a:rPr lang="zh-CN" altLang="en-US" sz="2400" dirty="0" smtClean="0">
                <a:solidFill>
                  <a:srgbClr val="FF0000"/>
                </a:solidFill>
              </a:rPr>
              <a:t>个层</a:t>
            </a:r>
            <a:r>
              <a:rPr lang="en-US" altLang="zh-CN" sz="2400" dirty="0" smtClean="0">
                <a:solidFill>
                  <a:srgbClr val="FF0000"/>
                </a:solidFill>
              </a:rPr>
              <a:t>(layer) </a:t>
            </a:r>
            <a:r>
              <a:rPr lang="zh-CN" altLang="en-US" sz="2400" dirty="0" smtClean="0">
                <a:solidFill>
                  <a:srgbClr val="FF0000"/>
                </a:solidFill>
              </a:rPr>
              <a:t>对应</a:t>
            </a:r>
            <a:r>
              <a:rPr lang="zh-CN" altLang="en-US" sz="2400" dirty="0"/>
              <a:t>。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dirty="0" smtClean="0"/>
              <a:t>Layer</a:t>
            </a:r>
            <a:r>
              <a:rPr lang="zh-CN" altLang="en-US" sz="2400" dirty="0"/>
              <a:t>：是一个抽象基类，表示数据源</a:t>
            </a:r>
            <a:r>
              <a:rPr lang="zh-CN" altLang="en-US" sz="2400" dirty="0" smtClean="0"/>
              <a:t>类里面的一</a:t>
            </a:r>
            <a:r>
              <a:rPr lang="zh-CN" altLang="en-US" sz="2400" dirty="0"/>
              <a:t>层要素</a:t>
            </a:r>
            <a:r>
              <a:rPr lang="en-US" altLang="zh-CN" sz="2400" dirty="0"/>
              <a:t>(feature)</a:t>
            </a:r>
            <a:r>
              <a:rPr lang="zh-CN" altLang="en-US" sz="2400" dirty="0"/>
              <a:t>。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dirty="0" smtClean="0"/>
              <a:t>Data </a:t>
            </a:r>
            <a:r>
              <a:rPr lang="en-US" altLang="zh-CN" sz="2400" dirty="0"/>
              <a:t>Source</a:t>
            </a:r>
            <a:r>
              <a:rPr lang="zh-CN" altLang="en-US" sz="2400" dirty="0"/>
              <a:t>：是一个抽象基类，表示含有</a:t>
            </a:r>
            <a:r>
              <a:rPr lang="en-US" altLang="zh-CN" sz="2400" dirty="0" err="1"/>
              <a:t>OGRLayer</a:t>
            </a:r>
            <a:r>
              <a:rPr lang="en-US" altLang="zh-CN" sz="2400" dirty="0"/>
              <a:t> </a:t>
            </a:r>
            <a:r>
              <a:rPr lang="zh-CN" altLang="en-US" sz="2400" dirty="0"/>
              <a:t>对象的一个</a:t>
            </a:r>
            <a:r>
              <a:rPr lang="zh-CN" altLang="en-US" sz="2400" dirty="0" smtClean="0"/>
              <a:t>文件</a:t>
            </a:r>
            <a:r>
              <a:rPr lang="zh-CN" altLang="en-US" sz="2400" dirty="0"/>
              <a:t>或一个数据库。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dirty="0" smtClean="0"/>
              <a:t>Drivers</a:t>
            </a:r>
            <a:r>
              <a:rPr lang="zh-CN" altLang="en-US" sz="2400" dirty="0"/>
              <a:t>：对应于每一个矢量文件格式。类</a:t>
            </a:r>
            <a:r>
              <a:rPr lang="en-US" altLang="zh-CN" sz="2400" dirty="0" err="1" smtClean="0"/>
              <a:t>OGRSFDriver</a:t>
            </a:r>
            <a:r>
              <a:rPr lang="zh-CN" altLang="en-US" sz="2400" dirty="0" smtClean="0"/>
              <a:t>由类</a:t>
            </a:r>
            <a:r>
              <a:rPr lang="en-US" altLang="zh-CN" sz="2400" dirty="0" err="1" smtClean="0"/>
              <a:t>OGRSFDriver</a:t>
            </a:r>
            <a:r>
              <a:rPr lang="en-US" altLang="zh-CN" sz="2400" dirty="0" smtClean="0"/>
              <a:t> Registrar </a:t>
            </a:r>
            <a:r>
              <a:rPr lang="zh-CN" altLang="en-US" sz="2400" dirty="0" smtClean="0"/>
              <a:t>注册与管理。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127590376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GDAL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3738" y="1081514"/>
            <a:ext cx="10515600" cy="54051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hlinkClick r:id="rId2"/>
              </a:rPr>
              <a:t>Python Extension Packages for Windows - Christoph </a:t>
            </a:r>
            <a:r>
              <a:rPr lang="en-US" altLang="zh-CN" sz="2400" dirty="0" err="1">
                <a:hlinkClick r:id="rId2"/>
              </a:rPr>
              <a:t>Gohlke</a:t>
            </a:r>
            <a:r>
              <a:rPr lang="en-US" altLang="zh-CN" sz="2400" dirty="0">
                <a:hlinkClick r:id="rId2"/>
              </a:rPr>
              <a:t> (uci.edu</a:t>
            </a:r>
            <a:r>
              <a:rPr lang="en-US" altLang="zh-CN" sz="2400" dirty="0" smtClean="0">
                <a:hlinkClick r:id="rId2"/>
              </a:rPr>
              <a:t>)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>
                <a:hlinkClick r:id="rId2"/>
              </a:rPr>
              <a:t>https://www.lfd.uci.edu/~gohlke/pythonlibs/#</a:t>
            </a:r>
            <a:r>
              <a:rPr lang="en-US" altLang="zh-CN" sz="2400" dirty="0" smtClean="0">
                <a:hlinkClick r:id="rId2"/>
              </a:rPr>
              <a:t>gdal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zh-CN" altLang="en-US" sz="2400" dirty="0" smtClean="0"/>
              <a:t>找到与自己机器对应的</a:t>
            </a:r>
            <a:r>
              <a:rPr lang="en-US" altLang="zh-CN" sz="2400" dirty="0" smtClean="0"/>
              <a:t>GDAL</a:t>
            </a:r>
            <a:r>
              <a:rPr lang="zh-CN" altLang="en-US" sz="2400" dirty="0" smtClean="0"/>
              <a:t>版本，下载</a:t>
            </a:r>
            <a:r>
              <a:rPr lang="en-US" altLang="zh-CN" sz="2400" dirty="0" err="1" smtClean="0"/>
              <a:t>whl</a:t>
            </a:r>
            <a:r>
              <a:rPr lang="zh-CN" altLang="en-US" sz="2400" dirty="0" smtClean="0"/>
              <a:t>文件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zh-CN" altLang="en-US" sz="2400" dirty="0" smtClean="0"/>
              <a:t>打开</a:t>
            </a:r>
            <a:r>
              <a:rPr lang="en-US" altLang="zh-CN" sz="2400" dirty="0" smtClean="0"/>
              <a:t>Anaconda Prompt</a:t>
            </a:r>
          </a:p>
          <a:p>
            <a:pPr>
              <a:lnSpc>
                <a:spcPct val="100000"/>
              </a:lnSpc>
            </a:pPr>
            <a:r>
              <a:rPr lang="zh-CN" altLang="en-US" sz="2400" dirty="0" smtClean="0"/>
              <a:t>将</a:t>
            </a:r>
            <a:r>
              <a:rPr lang="en-US" altLang="zh-CN" sz="2400" dirty="0" err="1" smtClean="0"/>
              <a:t>whl</a:t>
            </a:r>
            <a:r>
              <a:rPr lang="zh-CN" altLang="en-US" sz="2400" dirty="0" smtClean="0"/>
              <a:t>文件拷贝到对应的路径下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zh-CN" altLang="en-US" sz="2400" dirty="0" smtClean="0"/>
              <a:t>用</a:t>
            </a:r>
            <a:r>
              <a:rPr lang="en-US" altLang="zh-CN" sz="2400" dirty="0" smtClean="0"/>
              <a:t>pip install </a:t>
            </a:r>
            <a:r>
              <a:rPr lang="zh-CN" altLang="en-US" sz="2400" dirty="0" smtClean="0"/>
              <a:t>命令安装</a:t>
            </a:r>
            <a:r>
              <a:rPr lang="en-US" altLang="zh-CN" sz="2400" dirty="0" smtClean="0"/>
              <a:t>GDAL</a:t>
            </a:r>
          </a:p>
        </p:txBody>
      </p:sp>
      <p:sp>
        <p:nvSpPr>
          <p:cNvPr id="5" name="矩形 4"/>
          <p:cNvSpPr/>
          <p:nvPr/>
        </p:nvSpPr>
        <p:spPr>
          <a:xfrm>
            <a:off x="1356052" y="4724365"/>
            <a:ext cx="623157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 </a:t>
            </a:r>
            <a:r>
              <a:rPr lang="en-US" altLang="zh-CN" dirty="0" smtClean="0">
                <a:latin typeface="YaHei_Monaco-R"/>
              </a:rPr>
              <a:t>pip install GDAL-3.2.3-cp37-cp37m-win_amd64.whl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052" y="5416893"/>
            <a:ext cx="7954469" cy="115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855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GDAL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3738" y="1081514"/>
            <a:ext cx="10515600" cy="54051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hlinkClick r:id="rId2"/>
              </a:rPr>
              <a:t>Python Extension Packages for Windows - Christoph </a:t>
            </a:r>
            <a:r>
              <a:rPr lang="en-US" altLang="zh-CN" sz="2400" dirty="0" err="1">
                <a:hlinkClick r:id="rId2"/>
              </a:rPr>
              <a:t>Gohlke</a:t>
            </a:r>
            <a:r>
              <a:rPr lang="en-US" altLang="zh-CN" sz="2400" dirty="0">
                <a:hlinkClick r:id="rId2"/>
              </a:rPr>
              <a:t> (uci.edu</a:t>
            </a:r>
            <a:r>
              <a:rPr lang="en-US" altLang="zh-CN" sz="2400" dirty="0" smtClean="0">
                <a:hlinkClick r:id="rId2"/>
              </a:rPr>
              <a:t>)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>
                <a:hlinkClick r:id="rId2"/>
              </a:rPr>
              <a:t>https://www.lfd.uci.edu/~gohlke/pythonlibs/#</a:t>
            </a:r>
            <a:r>
              <a:rPr lang="en-US" altLang="zh-CN" sz="2400" dirty="0" smtClean="0">
                <a:hlinkClick r:id="rId2"/>
              </a:rPr>
              <a:t>gdal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986" y="2264430"/>
            <a:ext cx="8971368" cy="422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2286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GDAL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9368" y="1257773"/>
            <a:ext cx="10052303" cy="48510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Python </a:t>
            </a:r>
            <a:r>
              <a:rPr lang="zh-CN" altLang="en-US" dirty="0"/>
              <a:t>中使用</a:t>
            </a:r>
            <a:r>
              <a:rPr lang="en-US" altLang="zh-CN" dirty="0"/>
              <a:t>GDAL</a:t>
            </a:r>
            <a:r>
              <a:rPr lang="zh-CN" altLang="en-US" dirty="0"/>
              <a:t>，只需要导入</a:t>
            </a:r>
            <a:r>
              <a:rPr lang="en-US" altLang="zh-CN" dirty="0" err="1"/>
              <a:t>gdal</a:t>
            </a:r>
            <a:r>
              <a:rPr lang="en-US" altLang="zh-CN" dirty="0"/>
              <a:t> </a:t>
            </a:r>
            <a:r>
              <a:rPr lang="zh-CN" altLang="en-US" dirty="0"/>
              <a:t>模块。在早期的版本（</a:t>
            </a:r>
            <a:r>
              <a:rPr lang="en-US" altLang="zh-CN" dirty="0" smtClean="0"/>
              <a:t>1.5</a:t>
            </a:r>
            <a:r>
              <a:rPr lang="zh-CN" altLang="en-US" dirty="0" smtClean="0"/>
              <a:t>以前</a:t>
            </a:r>
            <a:r>
              <a:rPr lang="zh-CN" altLang="en-US" dirty="0"/>
              <a:t>）中，</a:t>
            </a:r>
            <a:r>
              <a:rPr lang="en-US" altLang="zh-CN" dirty="0"/>
              <a:t>GDAL </a:t>
            </a:r>
            <a:r>
              <a:rPr lang="zh-CN" altLang="en-US" dirty="0"/>
              <a:t>是使用下面的语句导入的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zh-CN" altLang="en-US" dirty="0"/>
              <a:t>但是后来</a:t>
            </a:r>
            <a:r>
              <a:rPr lang="en-US" altLang="zh-CN" dirty="0"/>
              <a:t>GDAL </a:t>
            </a:r>
            <a:r>
              <a:rPr lang="zh-CN" altLang="en-US" dirty="0"/>
              <a:t>成为</a:t>
            </a:r>
            <a:r>
              <a:rPr lang="en-US" altLang="zh-CN" dirty="0"/>
              <a:t>OSGEO </a:t>
            </a:r>
            <a:r>
              <a:rPr lang="zh-CN" altLang="en-US" dirty="0"/>
              <a:t>的子项目后，对代码进行了重新组织。</a:t>
            </a:r>
            <a:r>
              <a:rPr lang="zh-CN" altLang="en-US" dirty="0" smtClean="0"/>
              <a:t>在</a:t>
            </a:r>
            <a:r>
              <a:rPr lang="en-US" altLang="zh-CN" dirty="0" smtClean="0"/>
              <a:t>GDAL </a:t>
            </a:r>
            <a:r>
              <a:rPr lang="en-US" altLang="zh-CN" dirty="0"/>
              <a:t>RFC17 </a:t>
            </a:r>
            <a:r>
              <a:rPr lang="zh-CN" altLang="en-US" dirty="0"/>
              <a:t>号文件中，实现了</a:t>
            </a:r>
            <a:r>
              <a:rPr lang="en-US" altLang="zh-CN" dirty="0"/>
              <a:t>Python </a:t>
            </a:r>
            <a:r>
              <a:rPr lang="zh-CN" altLang="en-US" dirty="0"/>
              <a:t>的新的名称空间</a:t>
            </a:r>
            <a:r>
              <a:rPr lang="en-US" altLang="zh-CN" dirty="0" err="1"/>
              <a:t>osgeo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zh-CN" altLang="en-US" dirty="0" smtClean="0"/>
              <a:t>并将</a:t>
            </a:r>
            <a:r>
              <a:rPr lang="en-US" altLang="zh-CN" dirty="0"/>
              <a:t>GDAL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</a:t>
            </a:r>
            <a:r>
              <a:rPr lang="en-US" altLang="zh-CN" dirty="0"/>
              <a:t>OGR</a:t>
            </a:r>
            <a:r>
              <a:rPr lang="en-US" altLang="zh-CN" dirty="0" smtClean="0"/>
              <a:t> </a:t>
            </a:r>
            <a:r>
              <a:rPr lang="zh-CN" altLang="en-US" dirty="0"/>
              <a:t>都包含在这个名称空间之下。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1.6 </a:t>
            </a:r>
            <a:r>
              <a:rPr lang="zh-CN" altLang="en-US" dirty="0"/>
              <a:t>以后，推荐使用下面的语句导入：</a:t>
            </a:r>
          </a:p>
        </p:txBody>
      </p:sp>
      <p:sp>
        <p:nvSpPr>
          <p:cNvPr id="4" name="矩形 3"/>
          <p:cNvSpPr/>
          <p:nvPr/>
        </p:nvSpPr>
        <p:spPr>
          <a:xfrm>
            <a:off x="1487581" y="2540246"/>
            <a:ext cx="488578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FF"/>
                </a:solidFill>
                <a:latin typeface="YaHei_Monaco-R"/>
              </a:rPr>
              <a:t>gdal</a:t>
            </a:r>
            <a:endParaRPr lang="en-US" altLang="zh-CN" dirty="0" smtClean="0">
              <a:solidFill>
                <a:srgbClr val="0000FF"/>
              </a:solidFill>
              <a:latin typeface="YaHei_Monaco-R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87581" y="5557766"/>
            <a:ext cx="580404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gdal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99007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OGR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249" y="1034218"/>
            <a:ext cx="11049000" cy="5405120"/>
          </a:xfrm>
        </p:spPr>
        <p:txBody>
          <a:bodyPr>
            <a:noAutofit/>
          </a:bodyPr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ogr</a:t>
            </a:r>
            <a:r>
              <a:rPr lang="en-US" altLang="zh-CN" dirty="0"/>
              <a:t> </a:t>
            </a:r>
            <a:r>
              <a:rPr lang="zh-CN" altLang="en-US" dirty="0"/>
              <a:t>库的</a:t>
            </a:r>
            <a:r>
              <a:rPr lang="zh-CN" altLang="en-US" dirty="0" smtClean="0"/>
              <a:t>方法可以</a:t>
            </a:r>
            <a:r>
              <a:rPr lang="zh-CN" altLang="en-US" dirty="0"/>
              <a:t>使用已经弃用的方法：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或者</a:t>
            </a:r>
            <a:r>
              <a:rPr lang="zh-CN" altLang="en-US" dirty="0"/>
              <a:t>使用目前建议的方法：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为了</a:t>
            </a:r>
            <a:r>
              <a:rPr lang="zh-CN" altLang="en-US" dirty="0"/>
              <a:t>保持兼容性，同样可以使用下面的方法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760988" y="1526517"/>
            <a:ext cx="251146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ogr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60988" y="2887125"/>
            <a:ext cx="281359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705808" y="4247733"/>
            <a:ext cx="609600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	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except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	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ogr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25045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的模块方法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896" y="1317998"/>
            <a:ext cx="9876992" cy="54051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dirty="0" smtClean="0"/>
              <a:t>有的模块中的方法并不依赖于提前存在的对象，只是依赖模块本身：</a:t>
            </a:r>
            <a:endParaRPr lang="en-US" altLang="zh-CN" dirty="0" smtClean="0"/>
          </a:p>
          <a:p>
            <a:pPr algn="just">
              <a:lnSpc>
                <a:spcPct val="100000"/>
              </a:lnSpc>
            </a:pPr>
            <a:endParaRPr lang="en-US" altLang="zh-CN" dirty="0" smtClean="0"/>
          </a:p>
          <a:p>
            <a:pPr algn="just">
              <a:lnSpc>
                <a:spcPct val="100000"/>
              </a:lnSpc>
            </a:pPr>
            <a:endParaRPr lang="en-US" altLang="zh-CN" dirty="0" smtClean="0"/>
          </a:p>
          <a:p>
            <a:pPr algn="just">
              <a:lnSpc>
                <a:spcPct val="100000"/>
              </a:lnSpc>
            </a:pPr>
            <a:endParaRPr lang="en-US" altLang="zh-CN" dirty="0" smtClean="0"/>
          </a:p>
          <a:p>
            <a:pPr algn="just">
              <a:lnSpc>
                <a:spcPct val="100000"/>
              </a:lnSpc>
            </a:pPr>
            <a:r>
              <a:rPr lang="zh-CN" altLang="en-US" dirty="0" smtClean="0"/>
              <a:t>有的方法依赖于提前存在的对象：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081028" y="2559789"/>
            <a:ext cx="712698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8080FF"/>
                </a:solidFill>
                <a:latin typeface="LMSans8-Regular-Identity-H"/>
              </a:rPr>
              <a:t>1</a:t>
            </a:r>
            <a:r>
              <a:rPr lang="en-US" altLang="zh-CN" sz="2000" dirty="0" smtClean="0">
                <a:solidFill>
                  <a:srgbClr val="008000"/>
                </a:solidFill>
                <a:latin typeface="YaHei_Monaco-R"/>
              </a:rPr>
              <a:t> </a:t>
            </a:r>
            <a:r>
              <a:rPr lang="en-US" altLang="zh-CN" sz="2000" dirty="0" smtClean="0">
                <a:latin typeface="YaHei_Monaco-R"/>
              </a:rPr>
              <a:t>driver = </a:t>
            </a:r>
            <a:r>
              <a:rPr lang="en-US" altLang="zh-CN" sz="2000" dirty="0" err="1" smtClean="0">
                <a:latin typeface="YaHei_Monaco-R"/>
              </a:rPr>
              <a:t>ogr.GetDriverByName</a:t>
            </a:r>
            <a:r>
              <a:rPr lang="en-US" altLang="zh-CN" sz="2000" dirty="0" smtClean="0">
                <a:latin typeface="YaHei_Monaco-R"/>
              </a:rPr>
              <a:t>(‘</a:t>
            </a:r>
            <a:r>
              <a:rPr lang="en-US" altLang="zh-CN" sz="2000" dirty="0" smtClean="0">
                <a:solidFill>
                  <a:srgbClr val="C00000"/>
                </a:solidFill>
                <a:latin typeface="YaHei_Monaco-R"/>
              </a:rPr>
              <a:t>ESRI </a:t>
            </a:r>
            <a:r>
              <a:rPr lang="en-US" altLang="zh-CN" sz="2000" dirty="0" err="1" smtClean="0">
                <a:solidFill>
                  <a:srgbClr val="C00000"/>
                </a:solidFill>
                <a:latin typeface="YaHei_Monaco-R"/>
              </a:rPr>
              <a:t>Shapefile</a:t>
            </a:r>
            <a:r>
              <a:rPr lang="en-US" altLang="zh-CN" sz="2000" dirty="0" smtClean="0">
                <a:latin typeface="YaHei_Monaco-R"/>
              </a:rPr>
              <a:t>’)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2081028" y="4868535"/>
            <a:ext cx="712698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8080FF"/>
                </a:solidFill>
                <a:latin typeface="LMSans8-Regular-Identity-H"/>
              </a:rPr>
              <a:t>1</a:t>
            </a:r>
            <a:r>
              <a:rPr lang="en-US" altLang="zh-CN" sz="2000" dirty="0" smtClean="0">
                <a:solidFill>
                  <a:srgbClr val="008000"/>
                </a:solidFill>
                <a:latin typeface="YaHei_Monaco-R"/>
              </a:rPr>
              <a:t> </a:t>
            </a:r>
            <a:r>
              <a:rPr lang="en-US" altLang="zh-CN" sz="2000" dirty="0" smtClean="0">
                <a:latin typeface="YaHei_Monaco-R"/>
              </a:rPr>
              <a:t>ds = </a:t>
            </a:r>
            <a:r>
              <a:rPr lang="en-US" altLang="zh-CN" sz="2000" dirty="0" err="1" smtClean="0">
                <a:latin typeface="YaHei_Monaco-R"/>
              </a:rPr>
              <a:t>driver.Open</a:t>
            </a:r>
            <a:r>
              <a:rPr lang="en-US" altLang="zh-CN" sz="2000" dirty="0" smtClean="0">
                <a:latin typeface="YaHei_Monaco-R"/>
              </a:rPr>
              <a:t>(‘/Exercise3/</a:t>
            </a:r>
            <a:r>
              <a:rPr lang="en-US" altLang="zh-CN" sz="2000" dirty="0" err="1" smtClean="0">
                <a:latin typeface="YaHei_Monaco-R"/>
              </a:rPr>
              <a:t>GSHHS_c.shp</a:t>
            </a:r>
            <a:r>
              <a:rPr lang="en-US" altLang="zh-CN" sz="2000" dirty="0" smtClean="0">
                <a:latin typeface="YaHei_Monaco-R"/>
              </a:rPr>
              <a:t>’)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431234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OGR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数据读取流程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896" y="1317998"/>
            <a:ext cx="6795464" cy="54051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dirty="0"/>
              <a:t>矢量数据常用的</a:t>
            </a:r>
            <a:r>
              <a:rPr lang="zh-CN" altLang="en-US"/>
              <a:t>数据</a:t>
            </a:r>
            <a:r>
              <a:rPr lang="zh-CN" altLang="en-US" smtClean="0"/>
              <a:t>集：一</a:t>
            </a:r>
            <a:r>
              <a:rPr lang="zh-CN" altLang="en-US" dirty="0"/>
              <a:t>种</a:t>
            </a:r>
            <a:r>
              <a:rPr lang="zh-CN" altLang="en-US" dirty="0" smtClean="0"/>
              <a:t>是</a:t>
            </a:r>
            <a:r>
              <a:rPr lang="en-US" altLang="zh-CN" dirty="0" smtClean="0"/>
              <a:t>ESRI </a:t>
            </a:r>
            <a:r>
              <a:rPr lang="zh-CN" altLang="en-US" dirty="0"/>
              <a:t>的</a:t>
            </a:r>
            <a:r>
              <a:rPr lang="en-US" altLang="zh-CN" dirty="0" err="1"/>
              <a:t>Shapefile</a:t>
            </a:r>
            <a:r>
              <a:rPr lang="zh-CN" altLang="en-US" dirty="0"/>
              <a:t>，另一种</a:t>
            </a:r>
            <a:r>
              <a:rPr lang="zh-CN" altLang="en-US" dirty="0" smtClean="0"/>
              <a:t>是</a:t>
            </a:r>
            <a:r>
              <a:rPr lang="en-US" altLang="zh-CN" dirty="0" smtClean="0"/>
              <a:t>MapInfo </a:t>
            </a:r>
            <a:r>
              <a:rPr lang="zh-CN" altLang="en-US" dirty="0"/>
              <a:t>的</a:t>
            </a:r>
            <a:r>
              <a:rPr lang="en-US" altLang="zh-CN" dirty="0"/>
              <a:t>TAB </a:t>
            </a:r>
            <a:r>
              <a:rPr lang="zh-CN" altLang="en-US" dirty="0"/>
              <a:t>文件。</a:t>
            </a:r>
          </a:p>
          <a:p>
            <a:pPr algn="just">
              <a:lnSpc>
                <a:spcPct val="100000"/>
              </a:lnSpc>
            </a:pPr>
            <a:r>
              <a:rPr lang="zh-CN" altLang="en-US" dirty="0" smtClean="0"/>
              <a:t>它们</a:t>
            </a:r>
            <a:r>
              <a:rPr lang="zh-CN" altLang="en-US" dirty="0"/>
              <a:t>均包含了数个文件，且</a:t>
            </a:r>
            <a:r>
              <a:rPr lang="zh-CN" altLang="en-US" dirty="0" smtClean="0"/>
              <a:t>存放</a:t>
            </a:r>
            <a:r>
              <a:rPr lang="zh-CN" altLang="en-US" dirty="0"/>
              <a:t>于同一目录，几个同名</a:t>
            </a:r>
            <a:r>
              <a:rPr lang="zh-CN" altLang="en-US" dirty="0" smtClean="0"/>
              <a:t>不同后缀</a:t>
            </a:r>
            <a:r>
              <a:rPr lang="zh-CN" altLang="en-US" dirty="0"/>
              <a:t>的文件共同组成了一个</a:t>
            </a:r>
            <a:r>
              <a:rPr lang="zh-CN" altLang="en-US" dirty="0" smtClean="0"/>
              <a:t>矢量数据</a:t>
            </a:r>
            <a:r>
              <a:rPr lang="zh-CN" altLang="en-US" dirty="0"/>
              <a:t>集</a:t>
            </a:r>
          </a:p>
          <a:p>
            <a:pPr algn="just">
              <a:lnSpc>
                <a:spcPct val="100000"/>
              </a:lnSpc>
            </a:pPr>
            <a:r>
              <a:rPr lang="zh-CN" altLang="en-US" dirty="0" smtClean="0"/>
              <a:t>通常</a:t>
            </a:r>
            <a:r>
              <a:rPr lang="zh-CN" altLang="en-US" dirty="0"/>
              <a:t>，</a:t>
            </a:r>
            <a:r>
              <a:rPr lang="en-US" altLang="zh-CN" dirty="0"/>
              <a:t>OGR </a:t>
            </a:r>
            <a:r>
              <a:rPr lang="zh-CN" altLang="en-US" dirty="0"/>
              <a:t>处理文件是以</a:t>
            </a:r>
            <a:r>
              <a:rPr lang="zh-CN" altLang="en-US" b="1" dirty="0" smtClean="0">
                <a:solidFill>
                  <a:srgbClr val="FF0000"/>
                </a:solidFill>
              </a:rPr>
              <a:t>数据集</a:t>
            </a:r>
            <a:r>
              <a:rPr lang="zh-CN" altLang="en-US" dirty="0"/>
              <a:t>为对象的，打开矢量数据时</a:t>
            </a:r>
            <a:r>
              <a:rPr lang="zh-CN" altLang="en-US" dirty="0" smtClean="0"/>
              <a:t>，必须</a:t>
            </a:r>
            <a:r>
              <a:rPr lang="zh-CN" altLang="en-US" dirty="0"/>
              <a:t>打开以</a:t>
            </a:r>
            <a:r>
              <a:rPr lang="en-US" altLang="zh-CN" dirty="0"/>
              <a:t>.</a:t>
            </a:r>
            <a:r>
              <a:rPr lang="en-US" altLang="zh-CN" dirty="0" err="1" smtClean="0"/>
              <a:t>shp</a:t>
            </a:r>
            <a:r>
              <a:rPr lang="en-US" altLang="zh-CN" dirty="0" smtClean="0"/>
              <a:t> /.</a:t>
            </a:r>
            <a:r>
              <a:rPr lang="en-US" altLang="zh-CN" dirty="0"/>
              <a:t>tab </a:t>
            </a:r>
            <a:r>
              <a:rPr lang="zh-CN" altLang="en-US" dirty="0"/>
              <a:t>为</a:t>
            </a:r>
            <a:r>
              <a:rPr lang="zh-CN" altLang="en-US" dirty="0" smtClean="0"/>
              <a:t>后缀的</a:t>
            </a:r>
            <a:r>
              <a:rPr lang="zh-CN" altLang="en-US" dirty="0"/>
              <a:t>文件。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088" y="1158158"/>
            <a:ext cx="3573911" cy="53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250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直接打开数据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896" y="1317998"/>
            <a:ext cx="10639097" cy="54051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可使用</a:t>
            </a:r>
            <a:r>
              <a:rPr lang="en-US" altLang="zh-CN" dirty="0" err="1"/>
              <a:t>ogr.Open</a:t>
            </a:r>
            <a:r>
              <a:rPr lang="en-US" altLang="zh-CN" dirty="0"/>
              <a:t>() </a:t>
            </a:r>
            <a:r>
              <a:rPr lang="zh-CN" altLang="en-US" dirty="0"/>
              <a:t>方法直接打开矢量数据，在这个过程中，</a:t>
            </a:r>
            <a:r>
              <a:rPr lang="en-US" altLang="zh-CN" dirty="0" err="1"/>
              <a:t>ogr</a:t>
            </a:r>
            <a:r>
              <a:rPr lang="en-US" altLang="zh-CN" dirty="0"/>
              <a:t> </a:t>
            </a:r>
            <a:r>
              <a:rPr lang="zh-CN" altLang="en-US" dirty="0"/>
              <a:t>会</a:t>
            </a:r>
            <a:r>
              <a:rPr lang="zh-CN" altLang="en-US" dirty="0" smtClean="0"/>
              <a:t>自动</a:t>
            </a:r>
            <a:r>
              <a:rPr lang="zh-CN" altLang="en-US" dirty="0"/>
              <a:t>根据文件的类型来确定相应的驱动。</a:t>
            </a:r>
          </a:p>
        </p:txBody>
      </p:sp>
      <p:sp>
        <p:nvSpPr>
          <p:cNvPr id="2" name="矩形 1"/>
          <p:cNvSpPr/>
          <p:nvPr/>
        </p:nvSpPr>
        <p:spPr>
          <a:xfrm>
            <a:off x="1961441" y="2740393"/>
            <a:ext cx="778291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inshp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'/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gdata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/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GSHHS_c.shp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Open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inshp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driver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GetDriver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driver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name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'ESRI 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Shapefile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28893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OGR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的数据驱动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896" y="1317998"/>
            <a:ext cx="10639097" cy="5405120"/>
          </a:xfrm>
        </p:spPr>
        <p:txBody>
          <a:bodyPr>
            <a:noAutofit/>
          </a:bodyPr>
          <a:lstStyle/>
          <a:p>
            <a:r>
              <a:rPr lang="zh-CN" altLang="en-US" dirty="0"/>
              <a:t>在实际应用中，应根据打开的数据类型来初始化数据驱动：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 smtClean="0"/>
              <a:t>该</a:t>
            </a:r>
            <a:r>
              <a:rPr lang="zh-CN" altLang="en-US" dirty="0"/>
              <a:t>函数的原型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endParaRPr lang="en-US" altLang="zh-CN" dirty="0" smtClean="0"/>
          </a:p>
          <a:p>
            <a:r>
              <a:rPr lang="zh-CN" altLang="en-US" dirty="0" smtClean="0"/>
              <a:t>根据</a:t>
            </a:r>
            <a:r>
              <a:rPr lang="zh-CN" altLang="en-US" dirty="0"/>
              <a:t>数据驱动</a:t>
            </a:r>
            <a:r>
              <a:rPr lang="en-US" altLang="zh-CN" dirty="0"/>
              <a:t>driver </a:t>
            </a:r>
            <a:r>
              <a:rPr lang="zh-CN" altLang="en-US" dirty="0"/>
              <a:t>的</a:t>
            </a:r>
            <a:r>
              <a:rPr lang="en-US" altLang="zh-CN" dirty="0"/>
              <a:t>Open() </a:t>
            </a:r>
            <a:r>
              <a:rPr lang="zh-CN" altLang="en-US" dirty="0"/>
              <a:t>方法返回一个数据源对象，</a:t>
            </a:r>
            <a:r>
              <a:rPr lang="en-US" altLang="zh-CN" dirty="0" smtClean="0"/>
              <a:t>update 0 </a:t>
            </a:r>
            <a:r>
              <a:rPr lang="zh-CN" altLang="en-US" dirty="0"/>
              <a:t>为只读，</a:t>
            </a:r>
            <a:r>
              <a:rPr lang="en-US" altLang="zh-CN" dirty="0"/>
              <a:t>1 </a:t>
            </a:r>
            <a:r>
              <a:rPr lang="zh-CN" altLang="en-US" dirty="0"/>
              <a:t>为可写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643269" y="1861894"/>
            <a:ext cx="616066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driver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GetDriverByName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'ESRI 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Shapefile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643269" y="2911730"/>
            <a:ext cx="721535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Open(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self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char name, </a:t>
            </a:r>
            <a:r>
              <a:rPr lang="en-US" altLang="zh-CN" dirty="0" err="1">
                <a:solidFill>
                  <a:srgbClr val="008000"/>
                </a:solidFill>
                <a:latin typeface="YaHei_Monaco-R"/>
              </a:rPr>
              <a:t>int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update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-&gt;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DataSource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43269" y="4385240"/>
            <a:ext cx="7137323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sys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driver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Open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(inshp,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if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AC21FF"/>
                </a:solidFill>
                <a:latin typeface="YaHei_Monaco-R"/>
              </a:rPr>
              <a:t>is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None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...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	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'could not open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'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sys.exit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(1)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...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else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...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	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'done'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7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done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24852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图层的概念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568" y="1015920"/>
            <a:ext cx="10639097" cy="54051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GIS </a:t>
            </a:r>
            <a:r>
              <a:rPr lang="zh-CN" altLang="en-US" dirty="0"/>
              <a:t>中，</a:t>
            </a:r>
            <a:r>
              <a:rPr lang="en-US" altLang="zh-CN" dirty="0"/>
              <a:t>Layer</a:t>
            </a:r>
            <a:r>
              <a:rPr lang="zh-CN" altLang="en-US" dirty="0"/>
              <a:t>（图层</a:t>
            </a:r>
            <a:r>
              <a:rPr lang="zh-CN" altLang="en-US" dirty="0" smtClean="0"/>
              <a:t>）</a:t>
            </a:r>
            <a:r>
              <a:rPr lang="zh-CN" altLang="en-US" dirty="0"/>
              <a:t>是</a:t>
            </a:r>
            <a:r>
              <a:rPr lang="zh-CN" altLang="en-US" dirty="0" smtClean="0"/>
              <a:t>由</a:t>
            </a:r>
            <a:r>
              <a:rPr lang="zh-CN" altLang="en-US" dirty="0">
                <a:solidFill>
                  <a:srgbClr val="FF0000"/>
                </a:solidFill>
              </a:rPr>
              <a:t>同种要素（</a:t>
            </a:r>
            <a:r>
              <a:rPr lang="en-US" altLang="zh-CN" dirty="0">
                <a:solidFill>
                  <a:srgbClr val="FF0000"/>
                </a:solidFill>
              </a:rPr>
              <a:t>Feature</a:t>
            </a:r>
            <a:r>
              <a:rPr lang="zh-CN" altLang="en-US" dirty="0">
                <a:solidFill>
                  <a:srgbClr val="FF0000"/>
                </a:solidFill>
              </a:rPr>
              <a:t>）（如点、线、多边形等</a:t>
            </a:r>
            <a:r>
              <a:rPr lang="zh-CN" altLang="en-US" dirty="0" smtClean="0">
                <a:solidFill>
                  <a:srgbClr val="FF0000"/>
                </a:solidFill>
              </a:rPr>
              <a:t>）组</a:t>
            </a:r>
            <a:r>
              <a:rPr lang="zh-CN" altLang="en-US" dirty="0">
                <a:solidFill>
                  <a:srgbClr val="FF0000"/>
                </a:solidFill>
              </a:rPr>
              <a:t>在一起的“层”</a:t>
            </a:r>
            <a:r>
              <a:rPr lang="zh-CN" altLang="en-US" dirty="0"/>
              <a:t>。</a:t>
            </a:r>
            <a:r>
              <a:rPr lang="en-US" altLang="zh-CN" dirty="0"/>
              <a:t>Layer </a:t>
            </a:r>
            <a:r>
              <a:rPr lang="zh-CN" altLang="en-US" dirty="0"/>
              <a:t>的描述与</a:t>
            </a:r>
            <a:r>
              <a:rPr lang="en-US" altLang="zh-CN" dirty="0"/>
              <a:t>ESRI </a:t>
            </a:r>
            <a:r>
              <a:rPr lang="zh-CN" altLang="en-US" dirty="0"/>
              <a:t>在</a:t>
            </a:r>
            <a:r>
              <a:rPr lang="en-US" altLang="zh-CN" dirty="0"/>
              <a:t>ArcGIS </a:t>
            </a:r>
            <a:r>
              <a:rPr lang="zh-CN" altLang="en-US" dirty="0"/>
              <a:t>中定义的模型要素</a:t>
            </a:r>
            <a:r>
              <a:rPr lang="zh-CN" altLang="en-US" dirty="0" smtClean="0"/>
              <a:t>类</a:t>
            </a:r>
            <a:r>
              <a:rPr lang="en-US" altLang="zh-CN" dirty="0" smtClean="0"/>
              <a:t>(</a:t>
            </a:r>
            <a:r>
              <a:rPr lang="en-US" altLang="zh-CN" dirty="0"/>
              <a:t>Feature Class) </a:t>
            </a:r>
            <a:r>
              <a:rPr lang="zh-CN" altLang="en-US" dirty="0"/>
              <a:t>一致，其对应的是要素数据集。</a:t>
            </a:r>
          </a:p>
          <a:p>
            <a:pPr algn="just">
              <a:lnSpc>
                <a:spcPct val="10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《Modeling our World》</a:t>
            </a:r>
            <a:r>
              <a:rPr lang="zh-CN" altLang="en-US" dirty="0"/>
              <a:t>中，这两个概念均有明确的阐述：</a:t>
            </a:r>
          </a:p>
          <a:p>
            <a:pPr lvl="1" algn="just">
              <a:lnSpc>
                <a:spcPct val="10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要素</a:t>
            </a:r>
            <a:r>
              <a:rPr lang="zh-CN" altLang="en-US" dirty="0">
                <a:solidFill>
                  <a:srgbClr val="FF0000"/>
                </a:solidFill>
              </a:rPr>
              <a:t>类</a:t>
            </a:r>
            <a:r>
              <a:rPr lang="zh-CN" altLang="en-US" dirty="0"/>
              <a:t>：具有相同几何形状的要素的集合：点、线或多边形。</a:t>
            </a:r>
            <a:r>
              <a:rPr lang="zh-CN" altLang="en-US" dirty="0" smtClean="0"/>
              <a:t>我们最</a:t>
            </a:r>
            <a:r>
              <a:rPr lang="zh-CN" altLang="en-US" dirty="0"/>
              <a:t>常见的两种要素类是简单要素类和拓扑要素类。简单要素类是</a:t>
            </a:r>
            <a:r>
              <a:rPr lang="zh-CN" altLang="en-US" dirty="0" smtClean="0"/>
              <a:t>指没有</a:t>
            </a:r>
            <a:r>
              <a:rPr lang="zh-CN" altLang="en-US" dirty="0"/>
              <a:t>任何拓扑关系的点、线、多边形或注记。也就是说，一个</a:t>
            </a:r>
            <a:r>
              <a:rPr lang="zh-CN" altLang="en-US" dirty="0" smtClean="0"/>
              <a:t>要素类</a:t>
            </a:r>
            <a:r>
              <a:rPr lang="zh-CN" altLang="en-US" dirty="0"/>
              <a:t>内的点与另一要素类中线要素的终点可以是一致的，但它们是</a:t>
            </a:r>
            <a:r>
              <a:rPr lang="zh-CN" altLang="en-US" dirty="0" smtClean="0"/>
              <a:t>不同</a:t>
            </a:r>
            <a:r>
              <a:rPr lang="zh-CN" altLang="en-US" dirty="0"/>
              <a:t>的，其特点是可独立编辑。拓扑要素类局限在一定的图形范围内</a:t>
            </a:r>
            <a:r>
              <a:rPr lang="zh-CN" altLang="en-US" dirty="0" smtClean="0"/>
              <a:t>，它</a:t>
            </a:r>
            <a:r>
              <a:rPr lang="zh-CN" altLang="en-US" dirty="0"/>
              <a:t>是一个由完整拓扑单元组成的一组要素类限定的对象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algn="just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要素数据集（要素集）</a:t>
            </a:r>
            <a:r>
              <a:rPr lang="zh-CN" altLang="en-US" dirty="0"/>
              <a:t>：具有相同坐标系统的要素类的集合。我们可以选择在要素集的内部或外部组织简单要素类，但拓扑要素类只能在要素集内部组织，以确保它们具有相同的坐标系统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46108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图层的操作方法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5607" y="4005738"/>
            <a:ext cx="10318812" cy="211747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采用</a:t>
            </a:r>
            <a:r>
              <a:rPr lang="en-US" altLang="zh-CN" dirty="0" err="1" smtClean="0"/>
              <a:t>GetLayer</a:t>
            </a:r>
            <a:r>
              <a:rPr lang="en-US" altLang="zh-CN" dirty="0" smtClean="0"/>
              <a:t>()</a:t>
            </a:r>
            <a:r>
              <a:rPr lang="zh-CN" altLang="en-US" dirty="0" smtClean="0"/>
              <a:t>函数获取数据源的图层对象。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注意</a:t>
            </a:r>
            <a:r>
              <a:rPr lang="zh-CN" altLang="en-US" dirty="0"/>
              <a:t>：</a:t>
            </a:r>
            <a:r>
              <a:rPr lang="en-US" altLang="zh-CN" dirty="0" err="1"/>
              <a:t>GetLayer</a:t>
            </a:r>
            <a:r>
              <a:rPr lang="en-US" altLang="zh-CN" dirty="0"/>
              <a:t> </a:t>
            </a:r>
            <a:r>
              <a:rPr lang="zh-CN" altLang="en-US" dirty="0"/>
              <a:t>的参数是从</a:t>
            </a:r>
            <a:r>
              <a:rPr lang="en-US" altLang="zh-CN" dirty="0"/>
              <a:t>0 </a:t>
            </a:r>
            <a:r>
              <a:rPr lang="zh-CN" altLang="en-US" dirty="0"/>
              <a:t>开始的。对于</a:t>
            </a:r>
            <a:r>
              <a:rPr lang="en-US" altLang="zh-CN" dirty="0" err="1"/>
              <a:t>Shapefile</a:t>
            </a:r>
            <a:r>
              <a:rPr lang="en-US" altLang="zh-CN" dirty="0"/>
              <a:t> </a:t>
            </a:r>
            <a:r>
              <a:rPr lang="zh-CN" altLang="en-US" dirty="0"/>
              <a:t>而言，它</a:t>
            </a:r>
            <a:r>
              <a:rPr lang="zh-CN" altLang="en-US" dirty="0" smtClean="0"/>
              <a:t>只有一</a:t>
            </a:r>
            <a:r>
              <a:rPr lang="zh-CN" altLang="en-US" dirty="0"/>
              <a:t>个图层，一般情况下这个参数都是</a:t>
            </a:r>
            <a:r>
              <a:rPr lang="en-US" altLang="zh-CN" dirty="0"/>
              <a:t>0</a:t>
            </a:r>
            <a:r>
              <a:rPr lang="zh-CN" altLang="en-US" dirty="0"/>
              <a:t>，如果空着，缺省情况下也是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  <p:sp>
        <p:nvSpPr>
          <p:cNvPr id="2" name="矩形 1"/>
          <p:cNvSpPr/>
          <p:nvPr/>
        </p:nvSpPr>
        <p:spPr>
          <a:xfrm>
            <a:off x="1021285" y="1714024"/>
            <a:ext cx="10359729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sz="2000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sz="2000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sz="2000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sz="2000" dirty="0" err="1">
                <a:solidFill>
                  <a:srgbClr val="000000"/>
                </a:solidFill>
                <a:latin typeface="YaHei_Monaco-R"/>
              </a:rPr>
              <a:t>ogr</a:t>
            </a:r>
            <a:endParaRPr lang="en-US" altLang="zh-CN" sz="2000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sz="2000" dirty="0" err="1">
                <a:solidFill>
                  <a:srgbClr val="000000"/>
                </a:solidFill>
                <a:latin typeface="YaHei_Monaco-R"/>
              </a:rPr>
              <a:t>inshp</a:t>
            </a:r>
            <a:r>
              <a:rPr lang="en-US" altLang="zh-CN" sz="2000" dirty="0" smtClean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'</a:t>
            </a:r>
            <a:r>
              <a:rPr lang="en-US" altLang="zh-CN" sz="2000" dirty="0">
                <a:solidFill>
                  <a:srgbClr val="C00000"/>
                </a:solidFill>
                <a:latin typeface="YaHei_Monaco-R"/>
              </a:rPr>
              <a:t>/</a:t>
            </a:r>
            <a:r>
              <a:rPr lang="en-US" altLang="zh-CN" sz="2000" dirty="0" smtClean="0">
                <a:solidFill>
                  <a:srgbClr val="C00000"/>
                </a:solidFill>
                <a:latin typeface="YaHei_Monaco-R"/>
              </a:rPr>
              <a:t>Exercise3/</a:t>
            </a:r>
            <a:r>
              <a:rPr lang="en-US" altLang="zh-CN" sz="2000" dirty="0" err="1" smtClean="0">
                <a:solidFill>
                  <a:srgbClr val="C00000"/>
                </a:solidFill>
                <a:latin typeface="YaHei_Monaco-R"/>
              </a:rPr>
              <a:t>GSHHS_c.shp</a:t>
            </a:r>
            <a:r>
              <a:rPr lang="en-US" altLang="zh-CN" sz="2000" dirty="0" smtClean="0">
                <a:solidFill>
                  <a:srgbClr val="C00000"/>
                </a:solidFill>
                <a:latin typeface="YaHei_Monaco-R"/>
              </a:rPr>
              <a:t> 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'</a:t>
            </a:r>
            <a:endParaRPr lang="en-US" altLang="zh-CN" sz="2000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sz="2000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sz="2000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sz="2000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sz="2000" dirty="0" err="1">
                <a:solidFill>
                  <a:srgbClr val="000000"/>
                </a:solidFill>
                <a:latin typeface="YaHei_Monaco-R"/>
              </a:rPr>
              <a:t>Open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YaHei_Monaco-R"/>
              </a:rPr>
              <a:t>inshp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layer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sz="2000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sz="2000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sz="2000" dirty="0" err="1">
                <a:solidFill>
                  <a:srgbClr val="000000"/>
                </a:solidFill>
                <a:latin typeface="YaHei_Monaco-R"/>
              </a:rPr>
              <a:t>GetLayer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sz="2000" dirty="0" err="1">
                <a:solidFill>
                  <a:srgbClr val="008000"/>
                </a:solidFill>
                <a:latin typeface="YaHei_Monaco-R"/>
              </a:rPr>
              <a:t>dir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(layer)[: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6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]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+ 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[</a:t>
            </a:r>
            <a:r>
              <a:rPr lang="en-US" altLang="zh-CN" sz="2000" dirty="0">
                <a:solidFill>
                  <a:srgbClr val="BB2121"/>
                </a:solidFill>
                <a:latin typeface="YaHei_Monaco-R"/>
              </a:rPr>
              <a:t>'... ...'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] 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+ </a:t>
            </a:r>
            <a:r>
              <a:rPr lang="en-US" altLang="zh-CN" sz="2000" dirty="0" err="1">
                <a:solidFill>
                  <a:srgbClr val="008000"/>
                </a:solidFill>
                <a:latin typeface="YaHei_Monaco-R"/>
              </a:rPr>
              <a:t>dir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(layer)[</a:t>
            </a:r>
            <a:r>
              <a:rPr lang="en-US" altLang="zh-CN" sz="2000" dirty="0">
                <a:solidFill>
                  <a:srgbClr val="666666"/>
                </a:solidFill>
                <a:latin typeface="YaHei_Monaco-R"/>
              </a:rPr>
              <a:t>-4</a:t>
            </a:r>
            <a:r>
              <a:rPr lang="en-US" altLang="zh-CN" sz="2000" dirty="0">
                <a:solidFill>
                  <a:srgbClr val="000000"/>
                </a:solidFill>
                <a:latin typeface="YaHei_Monaco-R"/>
              </a:rPr>
              <a:t>:]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sz="2000" dirty="0" smtClean="0">
                <a:solidFill>
                  <a:srgbClr val="000000"/>
                </a:solidFill>
                <a:latin typeface="YaHei_Monaco-R"/>
              </a:rPr>
              <a:t>[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‘</a:t>
            </a:r>
            <a:r>
              <a:rPr lang="en-US" altLang="zh-CN" sz="2000" dirty="0" err="1" smtClean="0">
                <a:solidFill>
                  <a:srgbClr val="BB2121"/>
                </a:solidFill>
                <a:latin typeface="YaHei_Monaco-R"/>
              </a:rPr>
              <a:t>AlterFieldDefn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’</a:t>
            </a:r>
            <a:r>
              <a:rPr lang="en-US" altLang="zh-CN" sz="2000" dirty="0" smtClean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‘Clip’</a:t>
            </a:r>
            <a:r>
              <a:rPr lang="en-US" altLang="zh-CN" sz="2000" dirty="0" smtClean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‘</a:t>
            </a:r>
            <a:r>
              <a:rPr lang="en-US" altLang="zh-CN" sz="2000" dirty="0" err="1" smtClean="0">
                <a:solidFill>
                  <a:srgbClr val="BB2121"/>
                </a:solidFill>
                <a:latin typeface="YaHei_Monaco-R"/>
              </a:rPr>
              <a:t>CommitTransaction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’</a:t>
            </a:r>
            <a:r>
              <a:rPr lang="en-US" altLang="zh-CN" sz="2000" dirty="0" smtClean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‘</a:t>
            </a:r>
            <a:r>
              <a:rPr lang="en-US" altLang="zh-CN" sz="2000" dirty="0" err="1" smtClean="0">
                <a:solidFill>
                  <a:srgbClr val="BB2121"/>
                </a:solidFill>
                <a:latin typeface="YaHei_Monaco-R"/>
              </a:rPr>
              <a:t>CreateFeature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’</a:t>
            </a:r>
            <a:r>
              <a:rPr lang="en-US" altLang="zh-CN" sz="2000" dirty="0" smtClean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sz="2000" dirty="0" smtClean="0">
                <a:solidFill>
                  <a:srgbClr val="BB2121"/>
                </a:solidFill>
                <a:latin typeface="YaHei_Monaco-R"/>
              </a:rPr>
              <a:t>……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73176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查看图层的要素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1302232"/>
            <a:ext cx="9835055" cy="4633484"/>
          </a:xfrm>
        </p:spPr>
        <p:txBody>
          <a:bodyPr>
            <a:noAutofit/>
          </a:bodyPr>
          <a:lstStyle/>
          <a:p>
            <a:r>
              <a:rPr lang="zh-CN" altLang="en-US" dirty="0"/>
              <a:t>查看图层</a:t>
            </a:r>
            <a:r>
              <a:rPr lang="zh-CN" altLang="en-US" dirty="0" smtClean="0"/>
              <a:t>要素的个数：</a:t>
            </a:r>
            <a:endParaRPr lang="zh-CN" altLang="en-US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查看</a:t>
            </a:r>
            <a:r>
              <a:rPr lang="zh-CN" altLang="en-US" dirty="0"/>
              <a:t>图层范围：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注意</a:t>
            </a:r>
            <a:r>
              <a:rPr lang="zh-CN" altLang="en-US" dirty="0"/>
              <a:t>这些坐标的顺序，四个值分别是“西、东、南、北” 四至，在其他</a:t>
            </a:r>
            <a:r>
              <a:rPr lang="zh-CN" altLang="en-US" dirty="0" smtClean="0"/>
              <a:t>软件</a:t>
            </a:r>
            <a:r>
              <a:rPr lang="zh-CN" altLang="en-US" dirty="0"/>
              <a:t>中，这些顺序可能会不一致。</a:t>
            </a:r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1873469" y="1891891"/>
            <a:ext cx="60960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GetFeatureCount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3784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73469" y="3476324"/>
            <a:ext cx="60960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GetExtent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-180.0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180.0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-90.0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83.623596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57443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图层的属性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8229" y="975366"/>
            <a:ext cx="9835055" cy="46334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/>
              <a:t>查看图层的属性采用</a:t>
            </a:r>
            <a:r>
              <a:rPr lang="en-US" altLang="zh-CN" dirty="0" err="1" smtClean="0"/>
              <a:t>GetLayerDefn</a:t>
            </a:r>
            <a:r>
              <a:rPr lang="en-US" altLang="zh-CN" dirty="0" smtClean="0"/>
              <a:t>()</a:t>
            </a:r>
            <a:r>
              <a:rPr lang="zh-CN" altLang="en-US" dirty="0" smtClean="0"/>
              <a:t>函数，获取创建的所有字段属性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查看字段的属性采用</a:t>
            </a:r>
            <a:r>
              <a:rPr lang="en-US" altLang="zh-CN" dirty="0" err="1" smtClean="0"/>
              <a:t>GetFieldDefn</a:t>
            </a:r>
            <a:r>
              <a:rPr lang="en-US" altLang="zh-CN" dirty="0" smtClean="0"/>
              <a:t>()</a:t>
            </a:r>
            <a:r>
              <a:rPr lang="zh-CN" altLang="en-US" dirty="0" smtClean="0"/>
              <a:t>函数，获取创建的某一字段的属性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这</a:t>
            </a:r>
            <a:r>
              <a:rPr lang="zh-CN" altLang="en-US" dirty="0"/>
              <a:t>就是整个表的结构</a:t>
            </a:r>
            <a:r>
              <a:rPr lang="zh-CN" altLang="en-US" dirty="0" smtClean="0"/>
              <a:t>。类型</a:t>
            </a:r>
            <a:r>
              <a:rPr lang="zh-CN" altLang="en-US" dirty="0"/>
              <a:t>是枚举类型，若要查看数据类型名，</a:t>
            </a:r>
            <a:r>
              <a:rPr lang="zh-CN" altLang="en-US" dirty="0" smtClean="0"/>
              <a:t>可对应</a:t>
            </a:r>
            <a:r>
              <a:rPr lang="zh-CN" altLang="en-US" dirty="0"/>
              <a:t>地建立一个数据类型字典。</a:t>
            </a:r>
            <a:endParaRPr lang="en-US" altLang="zh-CN" dirty="0" smtClean="0"/>
          </a:p>
        </p:txBody>
      </p:sp>
      <p:sp>
        <p:nvSpPr>
          <p:cNvPr id="2" name="矩形 1"/>
          <p:cNvSpPr/>
          <p:nvPr/>
        </p:nvSpPr>
        <p:spPr>
          <a:xfrm>
            <a:off x="1329557" y="3023527"/>
            <a:ext cx="9780402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layerdef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GetLayerDefn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  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获取用户定义的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/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创建的所有字段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for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AC21FF"/>
                </a:solidFill>
                <a:latin typeface="YaHei_Monaco-R"/>
              </a:rPr>
              <a:t>in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range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layerdef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GetFieldCount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()):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...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defn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layerdef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GetFieldDefn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获取用户创建的某一个字段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...   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print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defn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GetName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(),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defn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GetWidth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(),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defn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GetType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(), </a:t>
            </a:r>
            <a:r>
              <a:rPr lang="en-US" altLang="zh-CN" dirty="0" err="1" smtClean="0">
                <a:latin typeface="YaHei_Monaco-R"/>
              </a:rPr>
              <a:t>defn.GetPrecision</a:t>
            </a:r>
            <a:r>
              <a:rPr lang="en-US" altLang="zh-CN" dirty="0" smtClean="0">
                <a:latin typeface="YaHei_Monaco-R"/>
              </a:rPr>
              <a:t>())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'CAT'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'FIPS_CNTRY'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80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7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'CNTRY_NAME'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80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'AREA'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15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'POP_CNTRY'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15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72194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层的要素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3230" y="970987"/>
            <a:ext cx="10600248" cy="54216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 err="1"/>
              <a:t>Shapefile</a:t>
            </a:r>
            <a:r>
              <a:rPr lang="en-US" altLang="zh-CN" dirty="0"/>
              <a:t> </a:t>
            </a:r>
            <a:r>
              <a:rPr lang="zh-CN" altLang="en-US" dirty="0"/>
              <a:t>中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要</a:t>
            </a:r>
            <a:r>
              <a:rPr lang="zh-CN" altLang="en-US" dirty="0"/>
              <a:t>素模型由点、线、面三种类型构成。</a:t>
            </a:r>
            <a:r>
              <a:rPr lang="zh-CN" altLang="en-US" dirty="0">
                <a:solidFill>
                  <a:srgbClr val="FF0000"/>
                </a:solidFill>
              </a:rPr>
              <a:t>要素类自带</a:t>
            </a:r>
            <a:r>
              <a:rPr lang="zh-CN" altLang="en-US" dirty="0" smtClean="0">
                <a:solidFill>
                  <a:srgbClr val="FF0000"/>
                </a:solidFill>
              </a:rPr>
              <a:t>属性信息</a:t>
            </a:r>
            <a:r>
              <a:rPr lang="zh-CN" altLang="en-US" dirty="0">
                <a:solidFill>
                  <a:srgbClr val="FF0000"/>
                </a:solidFill>
              </a:rPr>
              <a:t>，一般对应属性表中的一行</a:t>
            </a:r>
            <a:r>
              <a:rPr lang="zh-CN" altLang="en-US" dirty="0" smtClean="0">
                <a:solidFill>
                  <a:srgbClr val="FF0000"/>
                </a:solidFill>
              </a:rPr>
              <a:t>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/>
              <a:t>Layer </a:t>
            </a:r>
            <a:r>
              <a:rPr lang="zh-CN" altLang="en-US" dirty="0"/>
              <a:t>的核心是针对</a:t>
            </a:r>
            <a:r>
              <a:rPr lang="en-US" altLang="zh-CN" dirty="0"/>
              <a:t>Feature </a:t>
            </a:r>
            <a:r>
              <a:rPr lang="zh-CN" altLang="en-US" dirty="0"/>
              <a:t>的操作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err="1" smtClean="0"/>
              <a:t>GetFeatureCount</a:t>
            </a:r>
            <a:r>
              <a:rPr lang="en-US" altLang="zh-CN" dirty="0"/>
              <a:t>() 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GetFeature</a:t>
            </a:r>
            <a:r>
              <a:rPr lang="en-US" altLang="zh-CN" dirty="0"/>
              <a:t>() </a:t>
            </a:r>
            <a:r>
              <a:rPr lang="zh-CN" altLang="en-US" dirty="0" smtClean="0"/>
              <a:t>或 </a:t>
            </a:r>
            <a:r>
              <a:rPr lang="en-US" altLang="zh-CN" dirty="0" err="1" smtClean="0"/>
              <a:t>GetNextFeature</a:t>
            </a:r>
            <a:r>
              <a:rPr lang="en-US" altLang="zh-CN" dirty="0"/>
              <a:t>() </a:t>
            </a:r>
            <a:r>
              <a:rPr lang="zh-CN" altLang="en-US" dirty="0"/>
              <a:t>可获取层内所有的要素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err="1" smtClean="0"/>
              <a:t>GetFeaturesRead</a:t>
            </a:r>
            <a:r>
              <a:rPr lang="en-US" altLang="zh-CN" dirty="0"/>
              <a:t>() </a:t>
            </a:r>
            <a:r>
              <a:rPr lang="zh-CN" altLang="en-US" dirty="0"/>
              <a:t>可查询目前已读取了多少条</a:t>
            </a:r>
            <a:r>
              <a:rPr lang="en-US" altLang="zh-CN" dirty="0"/>
              <a:t>Feature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生成器可</a:t>
            </a:r>
            <a:r>
              <a:rPr lang="zh-CN" altLang="en-US" dirty="0"/>
              <a:t>读取要素值</a:t>
            </a:r>
            <a:r>
              <a:rPr lang="zh-CN" altLang="en-US" dirty="0" smtClean="0"/>
              <a:t>；若要</a:t>
            </a:r>
            <a:r>
              <a:rPr lang="zh-CN" altLang="en-US" dirty="0"/>
              <a:t>再次访问获取过的要素，可访问</a:t>
            </a:r>
            <a:r>
              <a:rPr lang="en-US" altLang="zh-CN" dirty="0" err="1"/>
              <a:t>ResetReading</a:t>
            </a:r>
            <a:r>
              <a:rPr lang="en-US" altLang="zh-CN" dirty="0" smtClean="0"/>
              <a:t>() </a:t>
            </a:r>
            <a:r>
              <a:rPr lang="zh-CN" altLang="en-US" dirty="0" smtClean="0"/>
              <a:t>从头</a:t>
            </a:r>
            <a:r>
              <a:rPr lang="zh-CN" altLang="en-US" dirty="0"/>
              <a:t>读取。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145163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图层中的要素操作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985344"/>
            <a:ext cx="10460046" cy="39064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600" dirty="0" smtClean="0"/>
              <a:t>采用</a:t>
            </a:r>
            <a:r>
              <a:rPr lang="en-US" altLang="zh-CN" sz="2600" dirty="0" err="1" smtClean="0"/>
              <a:t>GetFeature</a:t>
            </a:r>
            <a:r>
              <a:rPr lang="zh-CN" altLang="en-US" sz="2600" dirty="0" smtClean="0"/>
              <a:t>获取</a:t>
            </a:r>
            <a:r>
              <a:rPr lang="zh-CN" altLang="en-US" sz="2600" dirty="0"/>
              <a:t>图层中的要素（</a:t>
            </a:r>
            <a:r>
              <a:rPr lang="en-US" altLang="zh-CN" sz="2600" dirty="0"/>
              <a:t>Feature</a:t>
            </a:r>
            <a:r>
              <a:rPr lang="zh-CN" altLang="en-US" sz="2600" dirty="0"/>
              <a:t>）</a:t>
            </a:r>
            <a:r>
              <a:rPr lang="zh-CN" altLang="en-US" sz="2600" dirty="0" smtClean="0"/>
              <a:t>。</a:t>
            </a:r>
            <a:r>
              <a:rPr lang="en-US" altLang="zh-CN" sz="2600" dirty="0" err="1" smtClean="0"/>
              <a:t>dir</a:t>
            </a:r>
            <a:r>
              <a:rPr lang="en-US" altLang="zh-CN" sz="2600" dirty="0" smtClean="0"/>
              <a:t>(Feature)</a:t>
            </a:r>
            <a:r>
              <a:rPr lang="zh-CN" altLang="en-US" sz="2600" dirty="0" smtClean="0"/>
              <a:t>查看针对要素的可用操作。</a:t>
            </a:r>
            <a:endParaRPr lang="en-US" altLang="zh-CN" sz="2600" dirty="0" smtClean="0"/>
          </a:p>
          <a:p>
            <a:pPr>
              <a:lnSpc>
                <a:spcPct val="100000"/>
              </a:lnSpc>
            </a:pPr>
            <a:endParaRPr lang="en-US" altLang="zh-CN" sz="2600" dirty="0"/>
          </a:p>
          <a:p>
            <a:pPr>
              <a:lnSpc>
                <a:spcPct val="100000"/>
              </a:lnSpc>
            </a:pPr>
            <a:endParaRPr lang="en-US" altLang="zh-CN" sz="2600" dirty="0" smtClean="0"/>
          </a:p>
          <a:p>
            <a:pPr>
              <a:lnSpc>
                <a:spcPct val="100000"/>
              </a:lnSpc>
            </a:pPr>
            <a:endParaRPr lang="en-US" altLang="zh-CN" sz="2600" dirty="0"/>
          </a:p>
          <a:p>
            <a:pPr>
              <a:lnSpc>
                <a:spcPct val="100000"/>
              </a:lnSpc>
            </a:pPr>
            <a:r>
              <a:rPr lang="zh-CN" altLang="en-US" sz="2600" b="1" dirty="0" smtClean="0">
                <a:solidFill>
                  <a:srgbClr val="FF0000"/>
                </a:solidFill>
              </a:rPr>
              <a:t>遍历要素</a:t>
            </a:r>
            <a:r>
              <a:rPr lang="zh-CN" altLang="en-US" sz="2600" b="1" dirty="0">
                <a:solidFill>
                  <a:srgbClr val="FF0000"/>
                </a:solidFill>
              </a:rPr>
              <a:t>：</a:t>
            </a:r>
            <a:r>
              <a:rPr lang="zh-CN" altLang="en-US" sz="2600" dirty="0" smtClean="0">
                <a:solidFill>
                  <a:srgbClr val="FF0000"/>
                </a:solidFill>
              </a:rPr>
              <a:t>按</a:t>
            </a:r>
            <a:r>
              <a:rPr lang="zh-CN" altLang="en-US" sz="2600" dirty="0">
                <a:solidFill>
                  <a:srgbClr val="FF0000"/>
                </a:solidFill>
              </a:rPr>
              <a:t>顺序读取</a:t>
            </a:r>
            <a:r>
              <a:rPr lang="en-US" altLang="zh-CN" sz="2600" dirty="0">
                <a:solidFill>
                  <a:srgbClr val="FF0000"/>
                </a:solidFill>
              </a:rPr>
              <a:t>feature</a:t>
            </a:r>
            <a:r>
              <a:rPr lang="zh-CN" altLang="en-US" sz="2600" dirty="0">
                <a:solidFill>
                  <a:srgbClr val="FF0000"/>
                </a:solidFill>
              </a:rPr>
              <a:t>，循环遍历所有的</a:t>
            </a:r>
            <a:r>
              <a:rPr lang="en-US" altLang="zh-CN" sz="2600" dirty="0" smtClean="0">
                <a:solidFill>
                  <a:srgbClr val="FF0000"/>
                </a:solidFill>
              </a:rPr>
              <a:t>feature</a:t>
            </a:r>
            <a:r>
              <a:rPr lang="zh-CN" altLang="en-US" sz="2600" dirty="0" smtClean="0">
                <a:solidFill>
                  <a:srgbClr val="FF0000"/>
                </a:solidFill>
              </a:rPr>
              <a:t>。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GetNextFeature</a:t>
            </a:r>
            <a:r>
              <a:rPr lang="en-US" altLang="zh-CN" sz="2600" dirty="0" smtClean="0">
                <a:solidFill>
                  <a:srgbClr val="FF0000"/>
                </a:solidFill>
              </a:rPr>
              <a:t>()</a:t>
            </a:r>
            <a:r>
              <a:rPr lang="zh-CN" altLang="en-US" sz="2600" dirty="0" smtClean="0">
                <a:solidFill>
                  <a:srgbClr val="FF0000"/>
                </a:solidFill>
              </a:rPr>
              <a:t>用于获取下一个要素</a:t>
            </a:r>
            <a:endParaRPr lang="en-US" altLang="zh-CN" sz="2600" dirty="0" smtClean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2600" dirty="0"/>
          </a:p>
          <a:p>
            <a:pPr>
              <a:lnSpc>
                <a:spcPct val="100000"/>
              </a:lnSpc>
            </a:pPr>
            <a:endParaRPr lang="en-US" altLang="zh-CN" sz="2600" dirty="0" smtClean="0"/>
          </a:p>
          <a:p>
            <a:pPr>
              <a:lnSpc>
                <a:spcPct val="100000"/>
              </a:lnSpc>
            </a:pPr>
            <a:endParaRPr lang="en-US" altLang="zh-CN" sz="2600" dirty="0" smtClean="0"/>
          </a:p>
          <a:p>
            <a:r>
              <a:rPr lang="en-US" altLang="zh-CN" sz="2600" dirty="0" err="1" smtClean="0"/>
              <a:t>ResetReading</a:t>
            </a:r>
            <a:r>
              <a:rPr lang="en-US" altLang="zh-CN" sz="2600" dirty="0"/>
              <a:t>() </a:t>
            </a:r>
            <a:r>
              <a:rPr lang="zh-CN" altLang="en-US" sz="2600" dirty="0"/>
              <a:t>为重置，以便再次获取</a:t>
            </a:r>
            <a:r>
              <a:rPr lang="zh-CN" altLang="en-US" sz="2600" dirty="0" smtClean="0"/>
              <a:t>。</a:t>
            </a:r>
            <a:endParaRPr lang="en-US" altLang="zh-CN" sz="2600" dirty="0" smtClean="0">
              <a:solidFill>
                <a:srgbClr val="0070C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67260" y="1931187"/>
            <a:ext cx="609600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 smtClean="0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 smtClean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inshp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'/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gdata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/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world_borders.shp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'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Open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inshp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layer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GetLayer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feature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GetFeature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167260" y="4431586"/>
            <a:ext cx="609600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ResetReading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feature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GetNextFeature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while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feature: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    	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feature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GetNextFeature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8000"/>
                </a:solidFill>
                <a:latin typeface="YaHei_Monaco-R"/>
              </a:rPr>
              <a:t>dir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(feature)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90264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图层中的要素操作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985344"/>
            <a:ext cx="10517196" cy="55652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/>
              <a:t>读取要素属性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zh-CN" altLang="en-US" sz="2400" dirty="0" smtClean="0"/>
              <a:t>使用</a:t>
            </a:r>
            <a:r>
              <a:rPr lang="en-US" altLang="zh-CN" sz="2400" dirty="0" err="1"/>
              <a:t>feature.GetField</a:t>
            </a:r>
            <a:r>
              <a:rPr lang="en-US" altLang="zh-CN" sz="2400" dirty="0" smtClean="0"/>
              <a:t>() </a:t>
            </a:r>
            <a:r>
              <a:rPr lang="zh-CN" altLang="en-US" sz="2400" dirty="0"/>
              <a:t>来获取字段的值。</a:t>
            </a:r>
            <a:r>
              <a:rPr lang="zh-CN" altLang="en-US" sz="2400" dirty="0" smtClean="0"/>
              <a:t>字段</a:t>
            </a:r>
            <a:r>
              <a:rPr lang="zh-CN" altLang="en-US" sz="2400" dirty="0"/>
              <a:t>的名称</a:t>
            </a:r>
            <a:r>
              <a:rPr lang="zh-CN" altLang="en-US" sz="2400" dirty="0" smtClean="0"/>
              <a:t>，可通过图</a:t>
            </a:r>
            <a:r>
              <a:rPr lang="zh-CN" altLang="en-US" sz="2400" dirty="0"/>
              <a:t>层属性中获取，也可以使用要素</a:t>
            </a:r>
            <a:r>
              <a:rPr lang="en-US" altLang="zh-CN" sz="2400" dirty="0"/>
              <a:t>keys() </a:t>
            </a:r>
            <a:r>
              <a:rPr lang="zh-CN" altLang="en-US" sz="2400" dirty="0"/>
              <a:t>方法获取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使用索引值进行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遍历：</a:t>
            </a:r>
            <a:r>
              <a:rPr lang="zh-CN" altLang="en-US" sz="2400" b="1" dirty="0">
                <a:solidFill>
                  <a:srgbClr val="FF0000"/>
                </a:solidFill>
              </a:rPr>
              <a:t>除了使用字段名称之外，还可以使用索引值来获取要素属性。</a:t>
            </a:r>
            <a:r>
              <a:rPr lang="zh-CN" altLang="en-US" sz="2400" dirty="0"/>
              <a:t>下面是</a:t>
            </a:r>
            <a:r>
              <a:rPr lang="zh-CN" altLang="en-US" sz="2400" dirty="0" smtClean="0"/>
              <a:t>对所有</a:t>
            </a:r>
            <a:r>
              <a:rPr lang="zh-CN" altLang="en-US" sz="2400" dirty="0"/>
              <a:t>的属性值进行遍历：</a:t>
            </a:r>
          </a:p>
        </p:txBody>
      </p:sp>
      <p:sp>
        <p:nvSpPr>
          <p:cNvPr id="5" name="矩形 4"/>
          <p:cNvSpPr/>
          <p:nvPr/>
        </p:nvSpPr>
        <p:spPr>
          <a:xfrm>
            <a:off x="3473669" y="1036993"/>
            <a:ext cx="7233956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ResetReading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feat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GetFeature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keys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'CAT'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'FIPS_CNTRY'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'CNTRY_NAME'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'AREA'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'POP_CNTRY'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]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GetField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'CNTRY_NAME'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'Aruba'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73669" y="4665030"/>
            <a:ext cx="5234573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for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AC21FF"/>
                </a:solidFill>
                <a:latin typeface="YaHei_Monaco-R"/>
              </a:rPr>
              <a:t>in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range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GetFieldCount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()):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    	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print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feat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GetField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AA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Aruba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193.0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7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71218.0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6596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图层中的要素操作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2795" y="985344"/>
            <a:ext cx="4917528" cy="6936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 smtClean="0"/>
              <a:t>进一步获取坐标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433551" y="1883979"/>
            <a:ext cx="5021317" cy="31393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GetGeometryRef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获取要素的几何信息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GetGeometryName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'POLYGON'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GetGeometryCount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GetPointCount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7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8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ExportToWkt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sv-SE" altLang="zh-CN" sz="1600" dirty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sv-SE" altLang="zh-CN" dirty="0">
                <a:solidFill>
                  <a:srgbClr val="BB2121"/>
                </a:solidFill>
                <a:latin typeface="YaHei_Monaco-R"/>
              </a:rPr>
              <a:t>'POLYGON ((-69.882233 12.41111,-69.946945 12.436666,-70.056122 </a:t>
            </a:r>
            <a:r>
              <a:rPr lang="sv-SE" altLang="zh-CN" dirty="0" smtClean="0">
                <a:solidFill>
                  <a:srgbClr val="BB2121"/>
                </a:solidFill>
                <a:latin typeface="YaHei_Monaco-R"/>
              </a:rPr>
              <a:t>......)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952795" y="1883979"/>
            <a:ext cx="6076295" cy="48013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polygon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GetGeometryRef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获取几何信息并赋值给新的多边形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GetGeometryName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'LINEARRING'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GetGeometryCount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GetPointCount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7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19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8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GetX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-69.882233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10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12.41111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GetZ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0.0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ExportToWkt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15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'LINEARRING (-69.882233 12.41111,-69.946945 12.436666,-70.056122</a:t>
            </a:r>
            <a:endParaRPr lang="zh-CN" altLang="en-US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85445" y="1026755"/>
            <a:ext cx="4917528" cy="6936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dirty="0" smtClean="0"/>
              <a:t>获取要素的几何形状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1404905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图层中的要素操作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985344"/>
            <a:ext cx="9835055" cy="55652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 smtClean="0"/>
              <a:t>关闭数据和释放内存</a:t>
            </a:r>
            <a:endParaRPr lang="en-US" altLang="zh-CN" b="1" dirty="0" smtClean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在</a:t>
            </a:r>
            <a:r>
              <a:rPr lang="zh-CN" altLang="en-US" dirty="0"/>
              <a:t>读取完数据之后，应保持良好习惯，释放数据，及时清理操作所占</a:t>
            </a:r>
            <a:r>
              <a:rPr lang="zh-CN" altLang="en-US" dirty="0" smtClean="0"/>
              <a:t>内存</a:t>
            </a:r>
            <a:r>
              <a:rPr lang="zh-CN" altLang="en-US" dirty="0"/>
              <a:t>。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释放内存需要将要素的资源释放，</a:t>
            </a:r>
            <a:r>
              <a:rPr lang="zh-CN" altLang="en-US" dirty="0">
                <a:solidFill>
                  <a:srgbClr val="FF0000"/>
                </a:solidFill>
              </a:rPr>
              <a:t>使用</a:t>
            </a:r>
            <a:r>
              <a:rPr lang="en-US" altLang="zh-CN" dirty="0">
                <a:solidFill>
                  <a:srgbClr val="FF0000"/>
                </a:solidFill>
              </a:rPr>
              <a:t>Destroy() </a:t>
            </a:r>
            <a:r>
              <a:rPr lang="zh-CN" altLang="en-US" dirty="0">
                <a:solidFill>
                  <a:srgbClr val="FF0000"/>
                </a:solidFill>
              </a:rPr>
              <a:t>函数。</a:t>
            </a:r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关闭</a:t>
            </a:r>
            <a:r>
              <a:rPr lang="zh-CN" altLang="en-US" dirty="0"/>
              <a:t>数据源，相当于文件系统操作中的关闭文件。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2236076" y="3158811"/>
            <a:ext cx="609600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inshp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'/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gdata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/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county_popu.shp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Open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inshp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layer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GetLayer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feature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GetFeature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feature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Destroy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236076" y="6003300"/>
            <a:ext cx="609600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datasource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Destroy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868212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矢量数据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985344"/>
            <a:ext cx="10181898" cy="55652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创建</a:t>
            </a:r>
            <a:r>
              <a:rPr lang="en-US" altLang="zh-CN" dirty="0" err="1"/>
              <a:t>Shapefile</a:t>
            </a:r>
            <a:r>
              <a:rPr lang="en-US" altLang="zh-CN" dirty="0"/>
              <a:t> </a:t>
            </a:r>
            <a:r>
              <a:rPr lang="zh-CN" altLang="en-US" dirty="0"/>
              <a:t>之前</a:t>
            </a:r>
            <a:r>
              <a:rPr lang="zh-CN" altLang="en-US" dirty="0" smtClean="0"/>
              <a:t>，通常</a:t>
            </a:r>
            <a:r>
              <a:rPr lang="zh-CN" altLang="en-US" dirty="0"/>
              <a:t>需要先判断一下文件是否已存在，若存在的话，需使用其他文件名</a:t>
            </a:r>
            <a:r>
              <a:rPr lang="zh-CN" altLang="en-US" dirty="0" smtClean="0"/>
              <a:t>，或</a:t>
            </a:r>
            <a:r>
              <a:rPr lang="zh-CN" altLang="en-US" dirty="0"/>
              <a:t>将已存在的矢量数据直接删除。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大多数的</a:t>
            </a:r>
            <a:r>
              <a:rPr lang="en-US" altLang="zh-CN" dirty="0"/>
              <a:t>GIS </a:t>
            </a:r>
            <a:r>
              <a:rPr lang="zh-CN" altLang="en-US" dirty="0"/>
              <a:t>数据格式，如</a:t>
            </a:r>
            <a:r>
              <a:rPr lang="en-US" altLang="zh-CN" dirty="0" err="1"/>
              <a:t>shapefile</a:t>
            </a:r>
            <a:r>
              <a:rPr lang="zh-CN" altLang="en-US" dirty="0"/>
              <a:t>，</a:t>
            </a:r>
            <a:r>
              <a:rPr lang="en-US" altLang="zh-CN" dirty="0" err="1"/>
              <a:t>mapinfo</a:t>
            </a:r>
            <a:r>
              <a:rPr lang="en-US" altLang="zh-CN" dirty="0"/>
              <a:t> tab </a:t>
            </a:r>
            <a:r>
              <a:rPr lang="zh-CN" altLang="en-US" dirty="0"/>
              <a:t>等，都不是单一</a:t>
            </a:r>
            <a:r>
              <a:rPr lang="zh-CN" altLang="en-US" dirty="0" smtClean="0"/>
              <a:t>文件</a:t>
            </a:r>
            <a:r>
              <a:rPr lang="zh-CN" altLang="en-US" dirty="0"/>
              <a:t>。像</a:t>
            </a:r>
            <a:r>
              <a:rPr lang="en-US" altLang="zh-CN" dirty="0" err="1"/>
              <a:t>shapefile</a:t>
            </a:r>
            <a:r>
              <a:rPr lang="zh-CN" altLang="en-US" dirty="0"/>
              <a:t>，除了最基本的</a:t>
            </a:r>
            <a:r>
              <a:rPr lang="en-US" altLang="zh-CN" dirty="0" err="1"/>
              <a:t>shp</a:t>
            </a:r>
            <a:r>
              <a:rPr lang="en-US" altLang="zh-CN" dirty="0"/>
              <a:t> </a:t>
            </a:r>
            <a:r>
              <a:rPr lang="zh-CN" altLang="en-US" dirty="0"/>
              <a:t>文件外，还有保存属性的</a:t>
            </a:r>
            <a:r>
              <a:rPr lang="en-US" altLang="zh-CN" dirty="0"/>
              <a:t>dbf </a:t>
            </a:r>
            <a:r>
              <a:rPr lang="zh-CN" altLang="en-US" dirty="0"/>
              <a:t>文件。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2261414" y="4036908"/>
            <a:ext cx="7302062" cy="21544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</a:t>
            </a:r>
            <a:endParaRPr lang="en-US" altLang="zh-CN" dirty="0">
              <a:solidFill>
                <a:srgbClr val="0000FF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driver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GetDriverByName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'ESRI 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Shapefile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out_shp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'/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gdata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/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county_popu.shp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if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os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path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exists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out_shp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   	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driver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DeleteDataSource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out_shp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7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8000"/>
                </a:solidFill>
                <a:latin typeface="YaHei_Monaco-R"/>
              </a:rPr>
              <a:t>dir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out_shp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)[: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]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+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'... ...'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]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+ </a:t>
            </a:r>
            <a:r>
              <a:rPr lang="en-US" altLang="zh-CN" dirty="0" err="1">
                <a:solidFill>
                  <a:srgbClr val="008000"/>
                </a:solidFill>
                <a:latin typeface="YaHei_Monaco-R"/>
              </a:rPr>
              <a:t>dir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out_shp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)[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-3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:]</a:t>
            </a:r>
          </a:p>
          <a:p>
            <a:r>
              <a:rPr lang="zh-CN" altLang="en-US" sz="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832927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创建矢量</a:t>
            </a: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985344"/>
            <a:ext cx="10181898" cy="55652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使用下面的语句</a:t>
            </a:r>
            <a:r>
              <a:rPr lang="zh-CN" altLang="en-US" dirty="0" smtClean="0"/>
              <a:t>创建</a:t>
            </a:r>
            <a:r>
              <a:rPr lang="en-US" altLang="zh-CN" dirty="0" err="1" smtClean="0"/>
              <a:t>shp</a:t>
            </a:r>
            <a:r>
              <a:rPr lang="zh-CN" altLang="en-US" dirty="0" smtClean="0"/>
              <a:t>数据</a:t>
            </a:r>
            <a:r>
              <a:rPr lang="zh-CN" altLang="en-US" dirty="0"/>
              <a:t>：</a:t>
            </a:r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 err="1" smtClean="0"/>
              <a:t>ogr.Geometry</a:t>
            </a:r>
            <a:r>
              <a:rPr lang="en-US" altLang="zh-CN" dirty="0" smtClean="0"/>
              <a:t>(): </a:t>
            </a:r>
            <a:r>
              <a:rPr lang="zh-CN" altLang="en-US" dirty="0" smtClean="0"/>
              <a:t>创建空的几何形状对象。</a:t>
            </a:r>
            <a:r>
              <a:rPr lang="zh-CN" altLang="en-US" dirty="0" smtClean="0">
                <a:solidFill>
                  <a:srgbClr val="FF0000"/>
                </a:solidFill>
              </a:rPr>
              <a:t>几何类型包括</a:t>
            </a:r>
            <a:r>
              <a:rPr lang="en-US" altLang="zh-CN" dirty="0" err="1" smtClean="0">
                <a:solidFill>
                  <a:srgbClr val="FF0000"/>
                </a:solidFill>
              </a:rPr>
              <a:t>ogr.wkbPoint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dirty="0" err="1" smtClean="0">
                <a:solidFill>
                  <a:srgbClr val="FF0000"/>
                </a:solidFill>
              </a:rPr>
              <a:t>ogr.wkbLineString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dirty="0" err="1" smtClean="0">
                <a:solidFill>
                  <a:srgbClr val="FF0000"/>
                </a:solidFill>
              </a:rPr>
              <a:t>ogr.wkbPolygon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dirty="0" smtClean="0"/>
              <a:t>若</a:t>
            </a:r>
            <a:r>
              <a:rPr lang="zh-CN" altLang="en-US" dirty="0"/>
              <a:t>想添加一个新字段，只能在</a:t>
            </a:r>
            <a:r>
              <a:rPr lang="en-US" altLang="zh-CN" dirty="0"/>
              <a:t>layer </a:t>
            </a:r>
            <a:r>
              <a:rPr lang="zh-CN" altLang="en-US" dirty="0"/>
              <a:t>里加，而且还得保证</a:t>
            </a:r>
            <a:r>
              <a:rPr lang="en-US" altLang="zh-CN" dirty="0"/>
              <a:t>layer </a:t>
            </a:r>
            <a:r>
              <a:rPr lang="zh-CN" altLang="en-US" dirty="0"/>
              <a:t>里没有</a:t>
            </a:r>
            <a:r>
              <a:rPr lang="zh-CN" altLang="en-US" dirty="0" smtClean="0"/>
              <a:t>数据</a:t>
            </a:r>
            <a:r>
              <a:rPr lang="zh-CN" altLang="en-US" dirty="0"/>
              <a:t>。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若添加的字段是字符串，还需设定宽度。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109951" y="1693788"/>
            <a:ext cx="722323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ds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driver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CreateDataSource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zh-CN" altLang="en-US" dirty="0" smtClean="0">
                <a:solidFill>
                  <a:srgbClr val="C00000"/>
                </a:solidFill>
                <a:latin typeface="YaHei_Monaco-R"/>
              </a:rPr>
              <a:t>‘</a:t>
            </a:r>
            <a:r>
              <a:rPr lang="en-US" altLang="zh-CN" dirty="0" err="1" smtClean="0">
                <a:solidFill>
                  <a:srgbClr val="C00000"/>
                </a:solidFill>
                <a:latin typeface="YaHei_Monaco-R"/>
              </a:rPr>
              <a:t>gis_test.shp</a:t>
            </a:r>
            <a:r>
              <a:rPr lang="zh-CN" altLang="en-US" dirty="0" smtClean="0">
                <a:solidFill>
                  <a:srgbClr val="C00000"/>
                </a:solidFill>
                <a:latin typeface="YaHei_Monaco-R"/>
              </a:rPr>
              <a:t>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ds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CreateLayer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'test'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geom_type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wkbPoint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000222" y="5195372"/>
            <a:ext cx="8990866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fieldDefn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FieldDefn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‘id’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OFTString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创建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id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的字符串字段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fieldDefn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SetWidth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CreateField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fieldDefn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690626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创建点要素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985344"/>
            <a:ext cx="10181898" cy="5565228"/>
          </a:xfrm>
        </p:spPr>
        <p:txBody>
          <a:bodyPr>
            <a:noAutofit/>
          </a:bodyPr>
          <a:lstStyle/>
          <a:p>
            <a:r>
              <a:rPr lang="zh-CN" altLang="en-US" dirty="0"/>
              <a:t>然后从</a:t>
            </a:r>
            <a:r>
              <a:rPr lang="en-US" altLang="zh-CN" dirty="0"/>
              <a:t>layer </a:t>
            </a:r>
            <a:r>
              <a:rPr lang="zh-CN" altLang="en-US" dirty="0"/>
              <a:t>中读取相应的</a:t>
            </a:r>
            <a:r>
              <a:rPr lang="en-US" altLang="zh-CN" dirty="0"/>
              <a:t>feature </a:t>
            </a:r>
            <a:r>
              <a:rPr lang="zh-CN" altLang="en-US" dirty="0"/>
              <a:t>类型，并创建</a:t>
            </a:r>
            <a:r>
              <a:rPr lang="en-US" altLang="zh-CN" dirty="0"/>
              <a:t>feature</a:t>
            </a:r>
            <a:r>
              <a:rPr lang="zh-CN" altLang="en-US" dirty="0"/>
              <a:t>：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设定</a:t>
            </a:r>
            <a:r>
              <a:rPr lang="zh-CN" altLang="en-US" dirty="0"/>
              <a:t>几何</a:t>
            </a:r>
            <a:r>
              <a:rPr lang="zh-CN" altLang="en-US" dirty="0" smtClean="0"/>
              <a:t>形状，创建点要素：</a:t>
            </a:r>
            <a:endParaRPr lang="zh-CN" altLang="en-US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设定</a:t>
            </a:r>
            <a:r>
              <a:rPr lang="zh-CN" altLang="en-US" dirty="0"/>
              <a:t>某字段数值</a:t>
            </a:r>
            <a:r>
              <a:rPr lang="zh-CN" altLang="en-US" dirty="0" smtClean="0"/>
              <a:t>：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2267606" y="1584463"/>
            <a:ext cx="6986121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featureDefn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GetLayerDefn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获取创建的要素类型，比如之前创建的点类型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feature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Feature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featureDefn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267606" y="3665815"/>
            <a:ext cx="698612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ogr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wkbPoint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point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SetPoint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123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123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feature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SetGeometry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设定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feature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为定义的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point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267606" y="5657352"/>
            <a:ext cx="69861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feature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SetField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'id'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23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617149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创建线要素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985344"/>
            <a:ext cx="10181898" cy="5565228"/>
          </a:xfrm>
        </p:spPr>
        <p:txBody>
          <a:bodyPr>
            <a:noAutofit/>
          </a:bodyPr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AddPoint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x,y,z</a:t>
            </a:r>
            <a:r>
              <a:rPr lang="en-US" altLang="zh-CN" dirty="0" smtClean="0"/>
              <a:t>)</a:t>
            </a:r>
            <a:r>
              <a:rPr lang="zh-CN" altLang="en-US" dirty="0" smtClean="0"/>
              <a:t>添加点，使用</a:t>
            </a:r>
            <a:r>
              <a:rPr lang="en-US" altLang="zh-CN" dirty="0" err="1" smtClean="0"/>
              <a:t>SetPoint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x,y,z</a:t>
            </a:r>
            <a:r>
              <a:rPr lang="en-US" altLang="zh-CN" dirty="0" smtClean="0"/>
              <a:t>)</a:t>
            </a:r>
            <a:r>
              <a:rPr lang="zh-CN" altLang="en-US" dirty="0" smtClean="0"/>
              <a:t>修改点坐标。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读取</a:t>
            </a:r>
            <a:r>
              <a:rPr lang="en-US" altLang="zh-CN" dirty="0" smtClean="0"/>
              <a:t>0</a:t>
            </a:r>
            <a:r>
              <a:rPr lang="zh-CN" altLang="en-US" dirty="0" smtClean="0"/>
              <a:t>号点的 </a:t>
            </a:r>
            <a:r>
              <a:rPr lang="en-US" altLang="zh-CN" dirty="0" smtClean="0"/>
              <a:t>x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y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创建线环：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3191150" y="1564091"/>
            <a:ext cx="6986121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smtClean="0">
                <a:latin typeface="YaHei_Monaco-R"/>
              </a:rPr>
              <a:t>from </a:t>
            </a:r>
            <a:r>
              <a:rPr lang="en-US" altLang="zh-CN" dirty="0" err="1" smtClean="0">
                <a:latin typeface="YaHei_Monaco-R"/>
              </a:rPr>
              <a:t>osgeo</a:t>
            </a:r>
            <a:r>
              <a:rPr lang="en-US" altLang="zh-CN" dirty="0" smtClean="0">
                <a:latin typeface="YaHei_Monaco-R"/>
              </a:rPr>
              <a:t> import </a:t>
            </a:r>
            <a:r>
              <a:rPr lang="en-US" altLang="zh-CN" dirty="0" err="1" smtClean="0">
                <a:latin typeface="YaHei_Monaco-R"/>
              </a:rPr>
              <a:t>ogr</a:t>
            </a:r>
            <a:endParaRPr lang="en-US" altLang="zh-CN" dirty="0" smtClean="0"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line=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ogr.Geometry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ogr.wkbLineString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(10,10)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(20,20)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print(line)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LINESTRING (10 10 0,20 20 0)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191151" y="4019846"/>
            <a:ext cx="698612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smtClean="0">
                <a:latin typeface="LMSans8-Regular-Identity-H"/>
              </a:rPr>
              <a:t>print(</a:t>
            </a:r>
            <a:r>
              <a:rPr lang="en-US" altLang="zh-CN" dirty="0" err="1" smtClean="0">
                <a:latin typeface="LMSans8-Regular-Identity-H"/>
              </a:rPr>
              <a:t>line.GetX</a:t>
            </a:r>
            <a:r>
              <a:rPr lang="en-US" altLang="zh-CN" dirty="0" smtClean="0">
                <a:latin typeface="LMSans8-Regular-Identity-H"/>
              </a:rPr>
              <a:t>(0))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 smtClean="0">
                <a:latin typeface="LMSans8-Regular-Identity-H"/>
              </a:rPr>
              <a:t>10.0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 smtClean="0">
                <a:latin typeface="LMSans8-Regular-Identity-H"/>
              </a:rPr>
              <a:t>print(</a:t>
            </a:r>
            <a:r>
              <a:rPr lang="en-US" altLang="zh-CN" dirty="0" err="1" smtClean="0">
                <a:latin typeface="LMSans8-Regular-Identity-H"/>
              </a:rPr>
              <a:t>line.GetY</a:t>
            </a:r>
            <a:r>
              <a:rPr lang="en-US" altLang="zh-CN" dirty="0" smtClean="0">
                <a:latin typeface="LMSans8-Regular-Identity-H"/>
              </a:rPr>
              <a:t>(0))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 smtClean="0">
                <a:latin typeface="YaHei_Monaco-R"/>
              </a:rPr>
              <a:t>10.0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191151" y="5921604"/>
            <a:ext cx="698612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ring=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ogr.Geometry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ogr.wkbLinearRing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ring.CloseRings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745165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多边形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985344"/>
            <a:ext cx="10181898" cy="5565228"/>
          </a:xfrm>
        </p:spPr>
        <p:txBody>
          <a:bodyPr>
            <a:noAutofit/>
          </a:bodyPr>
          <a:lstStyle/>
          <a:p>
            <a:r>
              <a:rPr lang="zh-CN" altLang="en-US" dirty="0" smtClean="0"/>
              <a:t>创建多边形要素首先要创建线环，然后将线环添加到多边形中。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创建包含内、外环的多边形对象：</a:t>
            </a:r>
            <a:endParaRPr lang="zh-CN" altLang="en-US" dirty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2" name="矩形 1"/>
          <p:cNvSpPr/>
          <p:nvPr/>
        </p:nvSpPr>
        <p:spPr>
          <a:xfrm>
            <a:off x="740559" y="1623226"/>
            <a:ext cx="512989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err="1" smtClean="0">
                <a:latin typeface="LMSans8-Regular-Identity-H"/>
              </a:rPr>
              <a:t>outring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ogr.Geometry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ogr.wkbLinearRing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outring.AddPoint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(0,0)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outring.AddPoint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(100,0)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outring.AddPoint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(100,100)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outring.AddPoint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(0,100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outring.AddPoint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(0,0)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33157" y="4120492"/>
            <a:ext cx="6986120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smtClean="0">
                <a:latin typeface="LMSans8-Regular-Identity-H"/>
              </a:rPr>
              <a:t>polygon = </a:t>
            </a:r>
            <a:r>
              <a:rPr lang="en-US" altLang="zh-CN" dirty="0" err="1" smtClean="0">
                <a:latin typeface="LMSans8-Regular-Identity-H"/>
              </a:rPr>
              <a:t>ogr.Geometry</a:t>
            </a:r>
            <a:r>
              <a:rPr lang="en-US" altLang="zh-CN" dirty="0" smtClean="0">
                <a:latin typeface="LMSans8-Regular-Identity-H"/>
              </a:rPr>
              <a:t>(</a:t>
            </a:r>
            <a:r>
              <a:rPr lang="en-US" altLang="zh-CN" dirty="0" err="1" smtClean="0">
                <a:latin typeface="LMSans8-Regular-Identity-H"/>
              </a:rPr>
              <a:t>ogr.wkbPolygon</a:t>
            </a:r>
            <a:r>
              <a:rPr lang="en-US" altLang="zh-CN" dirty="0" smtClean="0">
                <a:latin typeface="LMSans8-Regular-Identity-H"/>
              </a:rPr>
              <a:t>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 smtClean="0">
                <a:latin typeface="LMSans8-Regular-Identity-H"/>
              </a:rPr>
              <a:t> </a:t>
            </a:r>
            <a:r>
              <a:rPr lang="en-US" altLang="zh-CN" dirty="0" err="1" smtClean="0">
                <a:latin typeface="LMSans8-Regular-Identity-H"/>
              </a:rPr>
              <a:t>polygon.AddGeometry</a:t>
            </a:r>
            <a:r>
              <a:rPr lang="en-US" altLang="zh-CN" dirty="0" smtClean="0">
                <a:latin typeface="LMSans8-Regular-Identity-H"/>
              </a:rPr>
              <a:t>(</a:t>
            </a:r>
            <a:r>
              <a:rPr lang="en-US" altLang="zh-CN" dirty="0" err="1" smtClean="0">
                <a:latin typeface="LMSans8-Regular-Identity-H"/>
              </a:rPr>
              <a:t>outring</a:t>
            </a:r>
            <a:r>
              <a:rPr lang="en-US" altLang="zh-CN" dirty="0" smtClean="0">
                <a:latin typeface="LMSans8-Regular-Identity-H"/>
              </a:rPr>
              <a:t>)</a:t>
            </a:r>
          </a:p>
          <a:p>
            <a:r>
              <a:rPr lang="en-US" altLang="zh-CN" dirty="0">
                <a:latin typeface="LMSans8-Regular-Identity-H"/>
              </a:rPr>
              <a:t>0</a:t>
            </a:r>
            <a:endParaRPr lang="en-US" altLang="zh-CN" dirty="0" smtClean="0">
              <a:latin typeface="LMSans8-Regular-Identity-H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latin typeface="LMSans8-Regular-Identity-H"/>
              </a:rPr>
              <a:t> </a:t>
            </a:r>
            <a:r>
              <a:rPr lang="en-US" altLang="zh-CN" dirty="0" err="1" smtClean="0">
                <a:latin typeface="LMSans8-Regular-Identity-H"/>
              </a:rPr>
              <a:t>polygon.AddGeometry</a:t>
            </a:r>
            <a:r>
              <a:rPr lang="en-US" altLang="zh-CN" dirty="0" smtClean="0">
                <a:latin typeface="LMSans8-Regular-Identity-H"/>
              </a:rPr>
              <a:t>(</a:t>
            </a:r>
            <a:r>
              <a:rPr lang="en-US" altLang="zh-CN" dirty="0" err="1" smtClean="0">
                <a:latin typeface="LMSans8-Regular-Identity-H"/>
              </a:rPr>
              <a:t>inring</a:t>
            </a:r>
            <a:r>
              <a:rPr lang="en-US" altLang="zh-CN" dirty="0" smtClean="0">
                <a:latin typeface="LMSans8-Regular-Identity-H"/>
              </a:rPr>
              <a:t>)</a:t>
            </a:r>
          </a:p>
          <a:p>
            <a:r>
              <a:rPr lang="en-US" altLang="zh-CN" dirty="0" smtClean="0">
                <a:latin typeface="LMSans8-Regular-Identity-H"/>
              </a:rPr>
              <a:t>0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latin typeface="LMSans8-Regular-Identity-H"/>
              </a:rPr>
              <a:t> </a:t>
            </a:r>
            <a:r>
              <a:rPr lang="en-US" altLang="zh-CN" dirty="0" err="1" smtClean="0">
                <a:latin typeface="LMSans8-Regular-Identity-H"/>
              </a:rPr>
              <a:t>polygon.GetGeometryCount</a:t>
            </a:r>
            <a:r>
              <a:rPr lang="en-US" altLang="zh-CN" dirty="0" smtClean="0">
                <a:latin typeface="LMSans8-Regular-Identity-H"/>
              </a:rPr>
              <a:t>()   #</a:t>
            </a:r>
            <a:r>
              <a:rPr lang="zh-CN" altLang="en-US" dirty="0" smtClean="0">
                <a:latin typeface="LMSans8-Regular-Identity-H"/>
              </a:rPr>
              <a:t>获取多边形的线环数</a:t>
            </a:r>
            <a:endParaRPr lang="en-US" altLang="zh-CN" dirty="0" smtClean="0">
              <a:latin typeface="LMSans8-Regular-Identity-H"/>
            </a:endParaRPr>
          </a:p>
          <a:p>
            <a:r>
              <a:rPr lang="en-US" altLang="zh-CN" dirty="0" smtClean="0">
                <a:latin typeface="LMSans8-Regular-Identity-H"/>
              </a:rPr>
              <a:t>2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5</a:t>
            </a:r>
            <a:r>
              <a:rPr lang="en-US" altLang="zh-CN" dirty="0" smtClean="0">
                <a:latin typeface="LMSans8-Regular-Identity-H"/>
              </a:rPr>
              <a:t> outring2=</a:t>
            </a:r>
            <a:r>
              <a:rPr lang="en-US" altLang="zh-CN" dirty="0" err="1" smtClean="0">
                <a:latin typeface="LMSans8-Regular-Identity-H"/>
              </a:rPr>
              <a:t>polygon.GetGeometryRef</a:t>
            </a:r>
            <a:r>
              <a:rPr lang="en-US" altLang="zh-CN" dirty="0" smtClean="0">
                <a:latin typeface="LMSans8-Regular-Identity-H"/>
              </a:rPr>
              <a:t>(0) #</a:t>
            </a:r>
            <a:r>
              <a:rPr lang="zh-CN" altLang="en-US" dirty="0" smtClean="0">
                <a:latin typeface="LMSans8-Regular-Identity-H"/>
              </a:rPr>
              <a:t>获取线环几何对象</a:t>
            </a:r>
            <a:endParaRPr lang="en-US" altLang="zh-CN" dirty="0" smtClean="0">
              <a:latin typeface="LMSans8-Regular-Identity-H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81985" y="1623226"/>
            <a:ext cx="512989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err="1" smtClean="0">
                <a:latin typeface="LMSans8-Regular-Identity-H"/>
              </a:rPr>
              <a:t>inring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ogr.Geometry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ogr.wkbLinearRing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inring.AddPoint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(25,25)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inring.AddPoint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(75,25)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inring.AddPoint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(75,75)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inring.AddPoint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(25,75)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inring.CloseRings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15685405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写入磁盘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268" y="2002220"/>
            <a:ext cx="10181898" cy="37521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将</a:t>
            </a:r>
            <a:r>
              <a:rPr lang="en-US" altLang="zh-CN" dirty="0"/>
              <a:t>feature </a:t>
            </a:r>
            <a:r>
              <a:rPr lang="zh-CN" altLang="en-US" dirty="0"/>
              <a:t>写入</a:t>
            </a:r>
            <a:r>
              <a:rPr lang="en-US" altLang="zh-CN" dirty="0"/>
              <a:t>layer</a:t>
            </a:r>
            <a:r>
              <a:rPr lang="zh-CN" altLang="en-US" dirty="0"/>
              <a:t>：</a:t>
            </a:r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最后</a:t>
            </a:r>
            <a:r>
              <a:rPr lang="zh-CN" altLang="en-US" dirty="0"/>
              <a:t>，从内存中清除</a:t>
            </a:r>
            <a:r>
              <a:rPr lang="en-US" altLang="zh-CN" dirty="0"/>
              <a:t>ds</a:t>
            </a:r>
            <a:r>
              <a:rPr lang="zh-CN" altLang="en-US" dirty="0"/>
              <a:t>，将数据写入磁盘中。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109952" y="2703816"/>
            <a:ext cx="60960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layer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CreateFeature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(feature)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109952" y="4489151"/>
            <a:ext cx="6096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ds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Destroy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97202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练习一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6572" y="1284888"/>
            <a:ext cx="10378966" cy="51868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/>
              <a:t>从‘</a:t>
            </a:r>
            <a:r>
              <a:rPr lang="en-US" altLang="zh-CN" dirty="0" smtClean="0"/>
              <a:t>Exercise3/</a:t>
            </a:r>
            <a:r>
              <a:rPr lang="en-US" altLang="zh-CN" dirty="0" err="1" smtClean="0"/>
              <a:t>sites.shp</a:t>
            </a:r>
            <a:r>
              <a:rPr lang="zh-CN" altLang="en-US" dirty="0" smtClean="0"/>
              <a:t>’文件中读取坐标和属性到文本文件中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sz="2400" dirty="0" smtClean="0"/>
              <a:t>1. </a:t>
            </a:r>
            <a:r>
              <a:rPr lang="zh-CN" altLang="en-US" sz="2400" dirty="0" smtClean="0"/>
              <a:t>导入需要的模块并设置工作目录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 smtClean="0"/>
              <a:t>2. </a:t>
            </a:r>
            <a:r>
              <a:rPr lang="zh-CN" altLang="en-US" sz="2400" dirty="0" smtClean="0"/>
              <a:t>打开输出的文本文件   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 smtClean="0"/>
              <a:t>3. </a:t>
            </a:r>
            <a:r>
              <a:rPr lang="zh-CN" altLang="en-US" sz="2400" dirty="0" smtClean="0"/>
              <a:t>获得</a:t>
            </a:r>
            <a:r>
              <a:rPr lang="en-US" altLang="zh-CN" sz="2400" dirty="0" err="1" smtClean="0"/>
              <a:t>shapefile</a:t>
            </a:r>
            <a:r>
              <a:rPr lang="zh-CN" altLang="en-US" sz="2400" dirty="0" smtClean="0"/>
              <a:t>的驱动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 smtClean="0"/>
              <a:t>4. </a:t>
            </a:r>
            <a:r>
              <a:rPr lang="zh-CN" altLang="en-US" sz="2400" dirty="0" smtClean="0"/>
              <a:t>打开</a:t>
            </a:r>
            <a:r>
              <a:rPr lang="en-US" altLang="zh-CN" sz="2400" dirty="0" err="1" smtClean="0"/>
              <a:t>sites.shp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并获取图层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 smtClean="0"/>
              <a:t>5. </a:t>
            </a:r>
            <a:r>
              <a:rPr lang="zh-CN" altLang="en-US" sz="2400" dirty="0" smtClean="0"/>
              <a:t>遍历图层中所有的要素</a:t>
            </a:r>
            <a:endParaRPr lang="en-US" altLang="zh-CN" sz="2400" dirty="0" smtClean="0"/>
          </a:p>
          <a:p>
            <a:pPr lvl="1">
              <a:lnSpc>
                <a:spcPct val="100000"/>
              </a:lnSpc>
            </a:pPr>
            <a:r>
              <a:rPr lang="en-US" altLang="zh-CN" sz="2000" dirty="0" smtClean="0"/>
              <a:t>a) </a:t>
            </a:r>
            <a:r>
              <a:rPr lang="zh-CN" altLang="en-US" sz="2000" dirty="0"/>
              <a:t>获取</a:t>
            </a:r>
            <a:r>
              <a:rPr lang="zh-CN" altLang="en-US" sz="2000" dirty="0" smtClean="0"/>
              <a:t>当前要素的 </a:t>
            </a:r>
            <a:r>
              <a:rPr lang="en-US" altLang="zh-CN" sz="2000" dirty="0" smtClean="0"/>
              <a:t>id’ </a:t>
            </a:r>
            <a:r>
              <a:rPr lang="zh-CN" altLang="en-US" sz="2000" dirty="0" smtClean="0"/>
              <a:t>和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‘cover’ </a:t>
            </a:r>
            <a:r>
              <a:rPr lang="zh-CN" altLang="en-US" sz="2000" dirty="0" smtClean="0"/>
              <a:t>属性</a:t>
            </a:r>
            <a:endParaRPr lang="en-US" altLang="zh-CN" sz="2000" dirty="0" smtClean="0"/>
          </a:p>
          <a:p>
            <a:pPr lvl="1">
              <a:lnSpc>
                <a:spcPct val="100000"/>
              </a:lnSpc>
            </a:pPr>
            <a:r>
              <a:rPr lang="en-US" altLang="zh-CN" sz="2000" dirty="0" smtClean="0"/>
              <a:t>b) </a:t>
            </a:r>
            <a:r>
              <a:rPr lang="zh-CN" altLang="en-US" sz="2000" dirty="0" smtClean="0"/>
              <a:t>获取当前要素的几何信息以及 几何要素坐标</a:t>
            </a:r>
            <a:endParaRPr lang="en-US" altLang="zh-CN" sz="2000" dirty="0" smtClean="0"/>
          </a:p>
          <a:p>
            <a:pPr lvl="1">
              <a:lnSpc>
                <a:spcPct val="100000"/>
              </a:lnSpc>
            </a:pPr>
            <a:r>
              <a:rPr lang="en-US" altLang="zh-CN" sz="2000" dirty="0" smtClean="0"/>
              <a:t>c) </a:t>
            </a:r>
            <a:r>
              <a:rPr lang="zh-CN" altLang="en-US" sz="2000" dirty="0" smtClean="0"/>
              <a:t>将数据</a:t>
            </a:r>
            <a:r>
              <a:rPr lang="en-US" altLang="zh-CN" sz="2000" dirty="0" smtClean="0"/>
              <a:t>(id, </a:t>
            </a:r>
            <a:r>
              <a:rPr lang="en-US" altLang="zh-CN" sz="2000" dirty="0" err="1" smtClean="0"/>
              <a:t>x,y</a:t>
            </a:r>
            <a:r>
              <a:rPr lang="en-US" altLang="zh-CN" sz="2000" dirty="0" smtClean="0"/>
              <a:t> , cover)</a:t>
            </a:r>
            <a:r>
              <a:rPr lang="zh-CN" altLang="en-US" sz="2000" dirty="0" smtClean="0"/>
              <a:t>写入文本文件</a:t>
            </a:r>
            <a:endParaRPr lang="en-US" altLang="zh-CN" sz="2000" dirty="0" smtClean="0"/>
          </a:p>
          <a:p>
            <a:pPr lvl="1">
              <a:lnSpc>
                <a:spcPct val="100000"/>
              </a:lnSpc>
            </a:pPr>
            <a:r>
              <a:rPr lang="en-US" altLang="zh-CN" sz="2000" dirty="0" smtClean="0"/>
              <a:t>d) </a:t>
            </a:r>
            <a:r>
              <a:rPr lang="zh-CN" altLang="en-US" sz="2000" dirty="0"/>
              <a:t>释放</a:t>
            </a:r>
            <a:r>
              <a:rPr lang="zh-CN" altLang="en-US" sz="2000" dirty="0" smtClean="0"/>
              <a:t>当前要素并获取下一个要素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en-US" altLang="zh-CN" sz="2400" dirty="0" smtClean="0"/>
              <a:t>6. </a:t>
            </a:r>
            <a:r>
              <a:rPr lang="zh-CN" altLang="en-US" sz="2400" dirty="0" smtClean="0"/>
              <a:t>释放该数据源并关闭输出文件 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41958128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Fiona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699" y="1295923"/>
            <a:ext cx="10863944" cy="52814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smtClean="0"/>
              <a:t>Fiona </a:t>
            </a:r>
            <a:r>
              <a:rPr lang="zh-CN" altLang="en-US" sz="2400" dirty="0"/>
              <a:t>主要针对</a:t>
            </a:r>
            <a:r>
              <a:rPr lang="zh-CN" altLang="en-US" sz="2400" dirty="0" smtClean="0"/>
              <a:t>矢量数据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是</a:t>
            </a:r>
            <a:r>
              <a:rPr lang="zh-CN" altLang="en-US" sz="2400" dirty="0"/>
              <a:t>对</a:t>
            </a:r>
            <a:r>
              <a:rPr lang="en-US" altLang="zh-CN" sz="2400" dirty="0"/>
              <a:t>OGR </a:t>
            </a:r>
            <a:r>
              <a:rPr lang="zh-CN" altLang="en-US" sz="2400" dirty="0"/>
              <a:t>库的相对简单的封装。它读取的</a:t>
            </a:r>
            <a:r>
              <a:rPr lang="zh-CN" altLang="en-US" sz="2400" dirty="0" smtClean="0"/>
              <a:t>是</a:t>
            </a:r>
            <a:r>
              <a:rPr lang="en-US" altLang="zh-CN" sz="2400" dirty="0" err="1" smtClean="0"/>
              <a:t>GeoJSON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类映射数据记录文件，以同种映射记录写入。</a:t>
            </a:r>
            <a:r>
              <a:rPr lang="zh-CN" altLang="en-US" sz="2400" dirty="0" smtClean="0"/>
              <a:t>它一个图层包含在一个集合（</a:t>
            </a:r>
            <a:r>
              <a:rPr lang="en-US" altLang="zh-CN" sz="2400" dirty="0" smtClean="0"/>
              <a:t>Collection</a:t>
            </a:r>
            <a:r>
              <a:rPr lang="zh-CN" altLang="en-US" sz="2400" dirty="0" smtClean="0"/>
              <a:t>）中，没有</a:t>
            </a:r>
            <a:r>
              <a:rPr lang="zh-CN" altLang="en-US" sz="2400" dirty="0"/>
              <a:t>几何操作，也没有坐标系统之间的</a:t>
            </a:r>
            <a:r>
              <a:rPr lang="zh-CN" altLang="en-US" sz="2400" dirty="0" smtClean="0"/>
              <a:t>转换。要素以</a:t>
            </a:r>
            <a:r>
              <a:rPr lang="en-US" altLang="zh-CN" sz="2400" dirty="0" err="1" smtClean="0"/>
              <a:t>GeoJSON</a:t>
            </a:r>
            <a:r>
              <a:rPr lang="zh-CN" altLang="en-US" sz="2400" dirty="0" smtClean="0"/>
              <a:t>表示，结构如下：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 smtClean="0"/>
              <a:t>Fiona </a:t>
            </a:r>
            <a:r>
              <a:rPr lang="zh-CN" altLang="en-US" sz="2400" dirty="0"/>
              <a:t>用内存与速度换来了简单性和可靠性。在</a:t>
            </a:r>
            <a:r>
              <a:rPr lang="en-US" altLang="zh-CN" sz="2400" dirty="0"/>
              <a:t>OGR Python </a:t>
            </a:r>
            <a:r>
              <a:rPr lang="zh-CN" altLang="en-US" sz="2400" dirty="0"/>
              <a:t>绑定</a:t>
            </a:r>
            <a:r>
              <a:rPr lang="zh-CN" altLang="en-US" sz="2400" dirty="0" smtClean="0"/>
              <a:t>使用</a:t>
            </a:r>
            <a:r>
              <a:rPr lang="en-US" altLang="zh-CN" sz="2400" dirty="0" smtClean="0"/>
              <a:t>C </a:t>
            </a:r>
            <a:r>
              <a:rPr lang="zh-CN" altLang="en-US" sz="2400" dirty="0"/>
              <a:t>指针来访问数据，而</a:t>
            </a:r>
            <a:r>
              <a:rPr lang="en-US" altLang="zh-CN" sz="2400" dirty="0"/>
              <a:t>Fiona </a:t>
            </a:r>
            <a:r>
              <a:rPr lang="zh-CN" altLang="en-US" sz="2400" dirty="0"/>
              <a:t>会复制</a:t>
            </a:r>
            <a:r>
              <a:rPr lang="en-US" altLang="zh-CN" sz="2400" dirty="0"/>
              <a:t>Python </a:t>
            </a:r>
            <a:r>
              <a:rPr lang="zh-CN" altLang="en-US" sz="2400" dirty="0"/>
              <a:t>对象的数据源。这些在用</a:t>
            </a:r>
            <a:r>
              <a:rPr lang="zh-CN" altLang="en-US" sz="2400" dirty="0" smtClean="0"/>
              <a:t>时更</a:t>
            </a:r>
            <a:r>
              <a:rPr lang="zh-CN" altLang="en-US" sz="2400" dirty="0"/>
              <a:t>简单安全、合理，但也会导致系统可用内存减少，系统资源变得紧张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239391" y="3148916"/>
            <a:ext cx="9063937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{'type': 'Feature', 'id': '0', 'geometry': {'type': 'Polygon', 'coordinates': [[(96.416, 42.7588), </a:t>
            </a:r>
            <a:r>
              <a:rPr lang="zh-CN" altLang="en-US" dirty="0" smtClean="0"/>
              <a:t>(</a:t>
            </a:r>
            <a:r>
              <a:rPr lang="zh-CN" altLang="en-US" dirty="0"/>
              <a:t>96.416, 42.7588)]]}, 'properties': OrderedDict([('Name', '新疆维吾尔自治区'), ('CenterX', 84.9023), ('CenterY', 42.148)])}</a:t>
            </a:r>
          </a:p>
        </p:txBody>
      </p:sp>
    </p:spTree>
    <p:extLst>
      <p:ext uri="{BB962C8B-B14F-4D97-AF65-F5344CB8AC3E}">
        <p14:creationId xmlns:p14="http://schemas.microsoft.com/office/powerpoint/2010/main" val="208629949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Fiona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44553" y="1387929"/>
            <a:ext cx="10115550" cy="46995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Fiona 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API </a:t>
            </a:r>
            <a:r>
              <a:rPr lang="zh-CN" altLang="en-US" dirty="0"/>
              <a:t>简洁而又灵活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为了</a:t>
            </a:r>
            <a:r>
              <a:rPr lang="zh-CN" altLang="en-US" dirty="0"/>
              <a:t>在</a:t>
            </a:r>
            <a:r>
              <a:rPr lang="en-US" altLang="zh-CN" dirty="0"/>
              <a:t>Python </a:t>
            </a:r>
            <a:r>
              <a:rPr lang="zh-CN" altLang="en-US" dirty="0"/>
              <a:t>中使用</a:t>
            </a:r>
            <a:r>
              <a:rPr lang="en-US" altLang="zh-CN" dirty="0"/>
              <a:t>Fiona </a:t>
            </a:r>
            <a:r>
              <a:rPr lang="zh-CN" altLang="en-US" dirty="0"/>
              <a:t>的功能，需要先安装</a:t>
            </a:r>
            <a:r>
              <a:rPr lang="en-US" altLang="zh-CN" dirty="0"/>
              <a:t>GDAL/OGR </a:t>
            </a:r>
            <a:r>
              <a:rPr lang="zh-CN" altLang="en-US" dirty="0"/>
              <a:t>库。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5824"/>
          <a:stretch/>
        </p:blipFill>
        <p:spPr>
          <a:xfrm>
            <a:off x="1246581" y="3812072"/>
            <a:ext cx="9663458" cy="244993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340428" y="3061871"/>
            <a:ext cx="658313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pip </a:t>
            </a:r>
            <a:r>
              <a:rPr lang="en-US" altLang="zh-CN" dirty="0">
                <a:latin typeface="YaHei_Monaco-R"/>
              </a:rPr>
              <a:t>install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Fiona-1.8.19-cp38-cp38-win_amd64.whl </a:t>
            </a:r>
          </a:p>
        </p:txBody>
      </p:sp>
    </p:spTree>
    <p:extLst>
      <p:ext uri="{BB962C8B-B14F-4D97-AF65-F5344CB8AC3E}">
        <p14:creationId xmlns:p14="http://schemas.microsoft.com/office/powerpoint/2010/main" val="223909299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Fiona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读取数据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2207" y="1316419"/>
            <a:ext cx="10378966" cy="52814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读取</a:t>
            </a:r>
            <a:r>
              <a:rPr lang="en-US" altLang="zh-CN" dirty="0"/>
              <a:t>GIS </a:t>
            </a:r>
            <a:r>
              <a:rPr lang="zh-CN" altLang="en-US" dirty="0"/>
              <a:t>矢量文件时，可用</a:t>
            </a:r>
            <a:r>
              <a:rPr lang="en-US" altLang="zh-CN" dirty="0"/>
              <a:t>Fiona </a:t>
            </a:r>
            <a:r>
              <a:rPr lang="zh-CN" altLang="en-US" dirty="0"/>
              <a:t>的</a:t>
            </a:r>
            <a:r>
              <a:rPr lang="en-US" altLang="zh-CN" dirty="0" err="1"/>
              <a:t>fiona.open</a:t>
            </a:r>
            <a:r>
              <a:rPr lang="en-US" altLang="zh-CN" dirty="0"/>
              <a:t> </a:t>
            </a:r>
            <a:r>
              <a:rPr lang="zh-CN" altLang="en-US" dirty="0"/>
              <a:t>函数，再</a:t>
            </a:r>
            <a:r>
              <a:rPr lang="zh-CN" altLang="en-US" dirty="0" smtClean="0"/>
              <a:t>用 </a:t>
            </a:r>
            <a:r>
              <a:rPr lang="en-US" altLang="zh-CN" dirty="0" smtClean="0"/>
              <a:t>’r’ </a:t>
            </a:r>
            <a:r>
              <a:rPr lang="zh-CN" altLang="en-US" dirty="0" smtClean="0"/>
              <a:t>参数</a:t>
            </a:r>
            <a:r>
              <a:rPr lang="zh-CN" altLang="en-US" dirty="0"/>
              <a:t>打开。返回类型为</a:t>
            </a:r>
            <a:r>
              <a:rPr lang="en-US" altLang="zh-CN" dirty="0" err="1"/>
              <a:t>fiona.collection.Collection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其中</a:t>
            </a:r>
            <a:r>
              <a:rPr lang="en-US" altLang="zh-CN" dirty="0"/>
              <a:t>r </a:t>
            </a:r>
            <a:r>
              <a:rPr lang="zh-CN" altLang="en-US" dirty="0"/>
              <a:t>为缺省参数。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Fiona </a:t>
            </a:r>
            <a:r>
              <a:rPr lang="zh-CN" altLang="en-US" dirty="0"/>
              <a:t>的</a:t>
            </a:r>
            <a:r>
              <a:rPr lang="en-US" altLang="zh-CN" dirty="0" err="1"/>
              <a:t>fiona.collection.Collection</a:t>
            </a:r>
            <a:r>
              <a:rPr lang="en-US" altLang="zh-CN" dirty="0"/>
              <a:t> </a:t>
            </a:r>
            <a:r>
              <a:rPr lang="zh-CN" altLang="en-US" dirty="0"/>
              <a:t>类似于</a:t>
            </a:r>
            <a:r>
              <a:rPr lang="en-US" altLang="zh-CN" dirty="0"/>
              <a:t>Python </a:t>
            </a:r>
            <a:r>
              <a:rPr lang="zh-CN" altLang="en-US" dirty="0"/>
              <a:t>的</a:t>
            </a:r>
            <a:r>
              <a:rPr lang="en-US" altLang="zh-CN" dirty="0"/>
              <a:t>file</a:t>
            </a:r>
            <a:r>
              <a:rPr lang="zh-CN" altLang="en-US" dirty="0" smtClean="0"/>
              <a:t>，但</a:t>
            </a:r>
            <a:r>
              <a:rPr lang="zh-CN" altLang="en-US" dirty="0"/>
              <a:t>它返回的是迭代器，而不是文本</a:t>
            </a:r>
            <a:r>
              <a:rPr lang="zh-CN" altLang="en-US" dirty="0" smtClean="0"/>
              <a:t>行，可对该集合对象进行迭代遍历，得到其中的要素。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401615" y="2445969"/>
            <a:ext cx="701040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fiona</a:t>
            </a:r>
            <a:endParaRPr lang="en-US" altLang="zh-CN" dirty="0">
              <a:solidFill>
                <a:srgbClr val="0000FF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c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fiona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open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'/data/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GSHHS_c.shp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'r'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closed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其状态是否为关闭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False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220477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Fiona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访问信息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342289"/>
            <a:ext cx="10378966" cy="19312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/>
              <a:t>对于</a:t>
            </a:r>
            <a:r>
              <a:rPr lang="zh-CN" altLang="en-US" dirty="0"/>
              <a:t>遍历过的</a:t>
            </a:r>
            <a:r>
              <a:rPr lang="en-US" altLang="zh-CN" dirty="0"/>
              <a:t>collection </a:t>
            </a:r>
            <a:r>
              <a:rPr lang="zh-CN" altLang="en-US" dirty="0"/>
              <a:t>对象，不支持</a:t>
            </a:r>
            <a:r>
              <a:rPr lang="zh-CN" altLang="en-US" dirty="0" smtClean="0"/>
              <a:t>查找</a:t>
            </a:r>
            <a:r>
              <a:rPr lang="zh-CN" altLang="en-US" dirty="0"/>
              <a:t>前面的文件，你必须重新打开集合，才可以返回初始部分。</a:t>
            </a:r>
          </a:p>
        </p:txBody>
      </p:sp>
      <p:sp>
        <p:nvSpPr>
          <p:cNvPr id="4" name="矩形 3"/>
          <p:cNvSpPr/>
          <p:nvPr/>
        </p:nvSpPr>
        <p:spPr>
          <a:xfrm>
            <a:off x="1134837" y="1318500"/>
            <a:ext cx="964202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next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(c)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{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‘id’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: 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‘0’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‘properties’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: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OrderedDict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([(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‘CAT’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),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‘FIPS_CNTRY’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,……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）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34837" y="2457532"/>
            <a:ext cx="964202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8000"/>
                </a:solidFill>
                <a:latin typeface="YaHei_Monaco-R"/>
              </a:rPr>
              <a:t>len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list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(c))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3784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06673" y="4580833"/>
            <a:ext cx="964202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c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fiona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open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'/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gdata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/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GSHHS_c.shp.shp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8000"/>
                </a:solidFill>
                <a:latin typeface="YaHei_Monaco-R"/>
              </a:rPr>
              <a:t>len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list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(c))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3784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07382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Fiona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关闭文件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8529" y="1232773"/>
            <a:ext cx="10378966" cy="19312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除非用</a:t>
            </a:r>
            <a:r>
              <a:rPr lang="en-US" altLang="zh-CN" dirty="0"/>
              <a:t>with </a:t>
            </a:r>
            <a:r>
              <a:rPr lang="zh-CN" altLang="en-US" dirty="0"/>
              <a:t>来声明，否则不能保证资源会被释放。当处于上下文</a:t>
            </a:r>
            <a:r>
              <a:rPr lang="zh-CN" altLang="en-US" dirty="0" smtClean="0"/>
              <a:t>管理器</a:t>
            </a:r>
            <a:r>
              <a:rPr lang="zh-CN" altLang="en-US" dirty="0"/>
              <a:t>时，无论发生什么（是否有异常发生</a:t>
            </a:r>
            <a:r>
              <a:rPr lang="zh-CN" altLang="en-US" dirty="0" smtClean="0"/>
              <a:t>），操作执行完毕文件都会</a:t>
            </a:r>
            <a:r>
              <a:rPr lang="zh-CN" altLang="en-US" dirty="0"/>
              <a:t>被关闭</a:t>
            </a:r>
            <a:r>
              <a:rPr lang="zh-CN" altLang="en-US" dirty="0" smtClean="0"/>
              <a:t>。或者显</a:t>
            </a:r>
            <a:r>
              <a:rPr lang="zh-CN" altLang="en-US" dirty="0"/>
              <a:t>式调用</a:t>
            </a:r>
            <a:r>
              <a:rPr lang="en-US" altLang="zh-CN" dirty="0"/>
              <a:t>close()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796291" y="4229671"/>
            <a:ext cx="6784522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...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	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with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fiona</a:t>
            </a:r>
            <a:r>
              <a:rPr lang="en-US" altLang="zh-CN" dirty="0" err="1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open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'/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gdata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/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GSHHS_c.shp.shp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as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c: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...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		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print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8000"/>
                </a:solidFill>
                <a:latin typeface="YaHei_Monaco-R"/>
              </a:rPr>
              <a:t>len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list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(c)))</a:t>
            </a:r>
            <a:endParaRPr lang="en-US" altLang="zh-CN" dirty="0">
              <a:solidFill>
                <a:srgbClr val="40808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...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except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: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...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	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print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</a:t>
            </a:r>
            <a:r>
              <a:rPr lang="en-US" altLang="zh-CN" dirty="0" err="1" smtClean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closed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  <a:endParaRPr lang="en-US" altLang="zh-CN" dirty="0">
              <a:solidFill>
                <a:srgbClr val="008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3784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796291" y="2879634"/>
            <a:ext cx="5000343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c.close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 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c.closed</a:t>
            </a:r>
            <a:endParaRPr lang="en-US" altLang="zh-CN" dirty="0"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True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909305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346093" y="1002714"/>
            <a:ext cx="9862233" cy="571649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 smtClean="0"/>
              <a:t>从一个</a:t>
            </a:r>
            <a:r>
              <a:rPr lang="en-US" altLang="zh-CN" sz="2000" dirty="0" err="1" smtClean="0"/>
              <a:t>shapefile</a:t>
            </a:r>
            <a:r>
              <a:rPr lang="zh-CN" altLang="en-US" sz="2000" dirty="0" smtClean="0"/>
              <a:t>中</a:t>
            </a:r>
            <a:r>
              <a:rPr lang="en-US" altLang="zh-CN" sz="2000" dirty="0" smtClean="0">
                <a:solidFill>
                  <a:srgbClr val="FF0000"/>
                </a:solidFill>
              </a:rPr>
              <a:t>cover</a:t>
            </a:r>
            <a:r>
              <a:rPr lang="zh-CN" altLang="en-US" sz="2000" dirty="0" smtClean="0">
                <a:solidFill>
                  <a:srgbClr val="FF0000"/>
                </a:solidFill>
              </a:rPr>
              <a:t>为</a:t>
            </a:r>
            <a:r>
              <a:rPr lang="en-US" altLang="zh-CN" sz="2000" dirty="0" smtClean="0">
                <a:solidFill>
                  <a:srgbClr val="FF0000"/>
                </a:solidFill>
              </a:rPr>
              <a:t>’trees’</a:t>
            </a:r>
            <a:r>
              <a:rPr lang="zh-CN" altLang="en-US" sz="2000" dirty="0" smtClean="0"/>
              <a:t>的要素复制到另一个</a:t>
            </a:r>
            <a:r>
              <a:rPr lang="en-US" altLang="zh-CN" sz="2000" dirty="0" err="1" smtClean="0"/>
              <a:t>shapefile</a:t>
            </a:r>
            <a:endParaRPr lang="en-US" altLang="zh-CN" sz="2000" dirty="0" smtClean="0"/>
          </a:p>
          <a:p>
            <a:pPr>
              <a:lnSpc>
                <a:spcPct val="100000"/>
              </a:lnSpc>
            </a:pPr>
            <a:r>
              <a:rPr lang="en-US" altLang="zh-CN" sz="2000" dirty="0" smtClean="0"/>
              <a:t>1. </a:t>
            </a:r>
            <a:r>
              <a:rPr lang="zh-CN" altLang="en-US" sz="2000" dirty="0" smtClean="0"/>
              <a:t>导入需要的模块并设置工作文档</a:t>
            </a:r>
            <a:endParaRPr lang="en-US" altLang="zh-CN" sz="2000" dirty="0" smtClean="0"/>
          </a:p>
          <a:p>
            <a:pPr>
              <a:lnSpc>
                <a:spcPct val="100000"/>
              </a:lnSpc>
            </a:pPr>
            <a:r>
              <a:rPr lang="en-US" altLang="zh-CN" sz="2000" dirty="0" smtClean="0"/>
              <a:t>2. </a:t>
            </a:r>
            <a:r>
              <a:rPr lang="zh-CN" altLang="en-US" sz="2000" dirty="0" smtClean="0"/>
              <a:t>获得</a:t>
            </a:r>
            <a:r>
              <a:rPr lang="en-US" altLang="zh-CN" sz="2000" dirty="0" err="1" smtClean="0"/>
              <a:t>shapefile</a:t>
            </a:r>
            <a:r>
              <a:rPr lang="zh-CN" altLang="en-US" sz="2000" dirty="0" smtClean="0"/>
              <a:t>驱动</a:t>
            </a:r>
            <a:endParaRPr lang="en-US" altLang="zh-CN" sz="2000" dirty="0" smtClean="0"/>
          </a:p>
          <a:p>
            <a:pPr>
              <a:lnSpc>
                <a:spcPct val="100000"/>
              </a:lnSpc>
            </a:pPr>
            <a:r>
              <a:rPr lang="en-US" altLang="zh-CN" sz="2000" dirty="0" smtClean="0"/>
              <a:t>3. </a:t>
            </a:r>
            <a:r>
              <a:rPr lang="zh-CN" altLang="en-US" sz="2000" dirty="0" smtClean="0"/>
              <a:t>打开</a:t>
            </a:r>
            <a:r>
              <a:rPr lang="en-US" altLang="zh-CN" sz="2000" dirty="0" err="1" smtClean="0"/>
              <a:t>sites.shp</a:t>
            </a:r>
            <a:r>
              <a:rPr lang="zh-CN" altLang="en-US" sz="2000" dirty="0" smtClean="0"/>
              <a:t>并获得输入的图层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en-US" altLang="zh-CN" sz="2000" dirty="0" smtClean="0"/>
              <a:t>4. </a:t>
            </a:r>
            <a:r>
              <a:rPr lang="zh-CN" altLang="en-US" sz="2000" dirty="0" smtClean="0"/>
              <a:t>创建一个输出的</a:t>
            </a:r>
            <a:r>
              <a:rPr lang="en-US" altLang="zh-CN" sz="2000" dirty="0" err="1" smtClean="0"/>
              <a:t>shapefile</a:t>
            </a:r>
            <a:r>
              <a:rPr lang="zh-CN" altLang="en-US" sz="2000" dirty="0" smtClean="0"/>
              <a:t>并获取该图层</a:t>
            </a:r>
            <a:endParaRPr lang="en-US" altLang="zh-CN" sz="2000" dirty="0" smtClean="0"/>
          </a:p>
          <a:p>
            <a:pPr>
              <a:lnSpc>
                <a:spcPct val="100000"/>
              </a:lnSpc>
            </a:pPr>
            <a:r>
              <a:rPr lang="en-US" altLang="zh-CN" sz="2000" dirty="0" smtClean="0"/>
              <a:t>5. </a:t>
            </a:r>
            <a:r>
              <a:rPr lang="zh-CN" altLang="en-US" sz="2000" dirty="0" smtClean="0"/>
              <a:t>将‘</a:t>
            </a:r>
            <a:r>
              <a:rPr lang="en-US" altLang="zh-CN" sz="2000" dirty="0" smtClean="0"/>
              <a:t>id</a:t>
            </a:r>
            <a:r>
              <a:rPr lang="zh-CN" altLang="en-US" sz="2000" dirty="0" smtClean="0"/>
              <a:t>’和‘</a:t>
            </a:r>
            <a:r>
              <a:rPr lang="en-US" altLang="zh-CN" sz="2000" dirty="0" smtClean="0"/>
              <a:t>cover</a:t>
            </a:r>
            <a:r>
              <a:rPr lang="zh-CN" altLang="en-US" sz="2000" dirty="0" smtClean="0"/>
              <a:t>’字段从输入图层复制到输出图层（先获取输入图层的要素，获取</a:t>
            </a:r>
            <a:r>
              <a:rPr lang="en-US" altLang="zh-CN" sz="2000" dirty="0" smtClean="0"/>
              <a:t>’id’</a:t>
            </a:r>
            <a:r>
              <a:rPr lang="zh-CN" altLang="en-US" sz="2000" dirty="0" smtClean="0"/>
              <a:t>和‘</a:t>
            </a:r>
            <a:r>
              <a:rPr lang="en-US" altLang="zh-CN" sz="2000" dirty="0" smtClean="0"/>
              <a:t>cover</a:t>
            </a:r>
            <a:r>
              <a:rPr lang="zh-CN" altLang="en-US" sz="2000" dirty="0" smtClean="0"/>
              <a:t>’字段的</a:t>
            </a:r>
            <a:r>
              <a:rPr lang="en-US" altLang="zh-CN" sz="2000" dirty="0" err="1" smtClean="0"/>
              <a:t>FieldDefn</a:t>
            </a:r>
            <a:r>
              <a:rPr lang="zh-CN" altLang="en-US" sz="2000" dirty="0" smtClean="0"/>
              <a:t>， 使用</a:t>
            </a:r>
            <a:r>
              <a:rPr lang="en-US" altLang="zh-CN" sz="2000" dirty="0" err="1" smtClean="0"/>
              <a:t>FieldDefn</a:t>
            </a:r>
            <a:r>
              <a:rPr lang="zh-CN" altLang="en-US" sz="2000" dirty="0" smtClean="0"/>
              <a:t>在输出图层中创建两个新的字段）</a:t>
            </a:r>
            <a:endParaRPr lang="en-US" altLang="zh-CN" sz="2000" dirty="0" smtClean="0"/>
          </a:p>
          <a:p>
            <a:pPr>
              <a:lnSpc>
                <a:spcPct val="100000"/>
              </a:lnSpc>
            </a:pPr>
            <a:r>
              <a:rPr lang="en-US" altLang="zh-CN" sz="2000" dirty="0" smtClean="0"/>
              <a:t>6. </a:t>
            </a:r>
            <a:r>
              <a:rPr lang="zh-CN" altLang="en-US" sz="2000" dirty="0" smtClean="0"/>
              <a:t>获取输出图层的</a:t>
            </a:r>
            <a:r>
              <a:rPr lang="en-US" altLang="zh-CN" sz="2000" dirty="0" err="1" smtClean="0"/>
              <a:t>FeatureDefn</a:t>
            </a:r>
            <a:endParaRPr lang="en-US" altLang="zh-CN" sz="2000" dirty="0" smtClean="0"/>
          </a:p>
          <a:p>
            <a:pPr>
              <a:lnSpc>
                <a:spcPct val="100000"/>
              </a:lnSpc>
            </a:pPr>
            <a:r>
              <a:rPr lang="en-US" altLang="zh-CN" sz="2000" dirty="0" smtClean="0"/>
              <a:t>7. </a:t>
            </a:r>
            <a:r>
              <a:rPr lang="zh-CN" altLang="en-US" sz="2000" dirty="0" smtClean="0"/>
              <a:t>遍历输入图层的所有要素：</a:t>
            </a:r>
            <a:endParaRPr lang="en-US" altLang="zh-CN" sz="2000" dirty="0" smtClean="0"/>
          </a:p>
          <a:p>
            <a:pPr lvl="1">
              <a:lnSpc>
                <a:spcPct val="100000"/>
              </a:lnSpc>
            </a:pPr>
            <a:r>
              <a:rPr lang="en-US" altLang="zh-CN" sz="1600" dirty="0" smtClean="0"/>
              <a:t>1</a:t>
            </a:r>
            <a:r>
              <a:rPr lang="zh-CN" altLang="en-US" sz="1600" dirty="0" smtClean="0"/>
              <a:t>）获得当前输入要素的</a:t>
            </a:r>
            <a:r>
              <a:rPr lang="en-US" altLang="zh-CN" sz="1600" dirty="0" smtClean="0"/>
              <a:t>’cover</a:t>
            </a:r>
            <a:r>
              <a:rPr lang="zh-CN" altLang="en-US" sz="1600" dirty="0" smtClean="0"/>
              <a:t>’属性</a:t>
            </a:r>
            <a:endParaRPr lang="en-US" altLang="zh-CN" sz="1600" dirty="0" smtClean="0"/>
          </a:p>
          <a:p>
            <a:pPr lvl="1">
              <a:lnSpc>
                <a:spcPct val="100000"/>
              </a:lnSpc>
            </a:pPr>
            <a:r>
              <a:rPr lang="en-US" altLang="zh-CN" sz="1600" dirty="0" smtClean="0"/>
              <a:t>2</a:t>
            </a:r>
            <a:r>
              <a:rPr lang="zh-CN" altLang="en-US" sz="1600" dirty="0" smtClean="0"/>
              <a:t>）如果</a:t>
            </a:r>
            <a:r>
              <a:rPr lang="en-US" altLang="zh-CN" sz="1600" dirty="0" smtClean="0"/>
              <a:t>cover</a:t>
            </a:r>
            <a:r>
              <a:rPr lang="zh-CN" altLang="en-US" sz="1600" dirty="0" smtClean="0"/>
              <a:t>等于</a:t>
            </a:r>
            <a:r>
              <a:rPr lang="en-US" altLang="zh-CN" sz="1600" dirty="0" smtClean="0"/>
              <a:t>’trees’</a:t>
            </a:r>
            <a:r>
              <a:rPr lang="zh-CN" altLang="en-US" sz="1600" dirty="0" smtClean="0"/>
              <a:t>，使用在第</a:t>
            </a:r>
            <a:r>
              <a:rPr lang="en-US" altLang="zh-CN" sz="1600" dirty="0" smtClean="0"/>
              <a:t>6</a:t>
            </a:r>
            <a:r>
              <a:rPr lang="zh-CN" altLang="en-US" sz="1600" dirty="0" smtClean="0"/>
              <a:t>步中你获得的</a:t>
            </a:r>
            <a:r>
              <a:rPr lang="en-US" altLang="zh-CN" sz="1600" dirty="0" err="1" smtClean="0"/>
              <a:t>FeatureDefn</a:t>
            </a:r>
            <a:r>
              <a:rPr lang="zh-CN" altLang="en-US" sz="1600" dirty="0" smtClean="0"/>
              <a:t>创建一个新的输出要素，将这个</a:t>
            </a:r>
            <a:r>
              <a:rPr lang="en-US" altLang="zh-CN" sz="1600" dirty="0" smtClean="0"/>
              <a:t>cover</a:t>
            </a:r>
            <a:r>
              <a:rPr lang="zh-CN" altLang="en-US" sz="1600" dirty="0" smtClean="0"/>
              <a:t>属性从输入要素添加至输出要素；获得输入要素的</a:t>
            </a:r>
            <a:r>
              <a:rPr lang="en-US" altLang="zh-CN" sz="1600" dirty="0" smtClean="0"/>
              <a:t>id</a:t>
            </a:r>
            <a:r>
              <a:rPr lang="zh-CN" altLang="en-US" sz="1600" dirty="0" smtClean="0"/>
              <a:t>属性并添加至输出要素，将输出要素添加至输出图层，释放输出要素</a:t>
            </a:r>
            <a:endParaRPr lang="en-US" altLang="zh-CN" sz="1600" dirty="0" smtClean="0"/>
          </a:p>
          <a:p>
            <a:pPr lvl="1">
              <a:lnSpc>
                <a:spcPct val="100000"/>
              </a:lnSpc>
            </a:pPr>
            <a:r>
              <a:rPr lang="en-US" altLang="zh-CN" sz="1600" dirty="0" smtClean="0"/>
              <a:t>3</a:t>
            </a:r>
            <a:r>
              <a:rPr lang="zh-CN" altLang="en-US" sz="1600" dirty="0" smtClean="0"/>
              <a:t>）释放输入要素并获得一个输入要素</a:t>
            </a:r>
            <a:endParaRPr lang="en-US" altLang="zh-CN" sz="1600" dirty="0" smtClean="0"/>
          </a:p>
          <a:p>
            <a:pPr>
              <a:lnSpc>
                <a:spcPct val="100000"/>
              </a:lnSpc>
            </a:pPr>
            <a:r>
              <a:rPr lang="en-US" altLang="zh-CN" sz="2000" dirty="0" smtClean="0"/>
              <a:t>8. </a:t>
            </a:r>
            <a:r>
              <a:rPr lang="zh-CN" altLang="en-US" sz="2000" dirty="0" smtClean="0"/>
              <a:t>释放两个数据集</a:t>
            </a:r>
            <a:endParaRPr lang="en-US" altLang="zh-CN" sz="2000" dirty="0" smtClean="0"/>
          </a:p>
        </p:txBody>
      </p:sp>
      <p:sp>
        <p:nvSpPr>
          <p:cNvPr id="4" name="矩形 3"/>
          <p:cNvSpPr/>
          <p:nvPr/>
        </p:nvSpPr>
        <p:spPr>
          <a:xfrm>
            <a:off x="7009039" y="1538879"/>
            <a:ext cx="493395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b="1" u="sng" dirty="0" smtClean="0"/>
              <a:t>将</a:t>
            </a:r>
            <a:r>
              <a:rPr lang="en-US" altLang="zh-CN" sz="2400" b="1" u="sng" dirty="0"/>
              <a:t>.</a:t>
            </a:r>
            <a:r>
              <a:rPr lang="en-US" altLang="zh-CN" sz="2400" b="1" u="sng" dirty="0" err="1"/>
              <a:t>ipynb</a:t>
            </a:r>
            <a:r>
              <a:rPr lang="zh-CN" altLang="en-US" sz="2400" b="1" u="sng" dirty="0"/>
              <a:t>文件命名为“姓名</a:t>
            </a:r>
            <a:r>
              <a:rPr lang="en-US" altLang="zh-CN" sz="2400" b="1" u="sng" dirty="0"/>
              <a:t>_</a:t>
            </a:r>
            <a:r>
              <a:rPr lang="zh-CN" altLang="en-US" sz="2400" b="1" u="sng" dirty="0"/>
              <a:t>学号</a:t>
            </a:r>
            <a:r>
              <a:rPr lang="en-US" altLang="zh-CN" sz="2400" b="1" u="sng" dirty="0"/>
              <a:t>_HW1</a:t>
            </a:r>
            <a:r>
              <a:rPr lang="zh-CN" altLang="en-US" sz="2400" b="1" u="sng" dirty="0"/>
              <a:t>”在</a:t>
            </a:r>
            <a:r>
              <a:rPr lang="en-US" altLang="zh-CN" sz="2400" b="1" u="sng" dirty="0" smtClean="0"/>
              <a:t>10.13</a:t>
            </a:r>
            <a:r>
              <a:rPr lang="zh-CN" altLang="en-US" sz="2400" b="1" u="sng" dirty="0" smtClean="0"/>
              <a:t>日</a:t>
            </a:r>
            <a:r>
              <a:rPr lang="zh-CN" altLang="en-US" sz="2400" b="1" u="sng" dirty="0"/>
              <a:t>晚</a:t>
            </a:r>
            <a:r>
              <a:rPr lang="en-US" altLang="zh-CN" sz="2400" b="1" u="sng" dirty="0"/>
              <a:t>24:00</a:t>
            </a:r>
            <a:r>
              <a:rPr lang="zh-CN" altLang="en-US" sz="2400" b="1" u="sng" dirty="0" smtClean="0"/>
              <a:t>前由学委统一发送</a:t>
            </a:r>
            <a:r>
              <a:rPr lang="zh-CN" altLang="en-US" sz="2400" b="1" u="sng" dirty="0"/>
              <a:t>至</a:t>
            </a:r>
            <a:r>
              <a:rPr lang="en-US" altLang="zh-CN" sz="2400" b="1" u="sng" dirty="0"/>
              <a:t>dongn6@mail.sysu.edu.cn  </a:t>
            </a:r>
          </a:p>
        </p:txBody>
      </p:sp>
    </p:spTree>
    <p:extLst>
      <p:ext uri="{BB962C8B-B14F-4D97-AF65-F5344CB8AC3E}">
        <p14:creationId xmlns:p14="http://schemas.microsoft.com/office/powerpoint/2010/main" val="425343489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72561" y="2967335"/>
            <a:ext cx="26468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谢  谢！</a:t>
            </a:r>
            <a:endParaRPr lang="en-US" altLang="zh-CN" sz="5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63639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276AA"/>
      </a:accent1>
      <a:accent2>
        <a:srgbClr val="178AA1"/>
      </a:accent2>
      <a:accent3>
        <a:srgbClr val="40A693"/>
      </a:accent3>
      <a:accent4>
        <a:srgbClr val="5268A5"/>
      </a:accent4>
      <a:accent5>
        <a:srgbClr val="5E5CA2"/>
      </a:accent5>
      <a:accent6>
        <a:srgbClr val="778495"/>
      </a:accent6>
      <a:hlink>
        <a:srgbClr val="4276AA"/>
      </a:hlink>
      <a:folHlink>
        <a:srgbClr val="BFBFBF"/>
      </a:folHlink>
    </a:clrScheme>
    <a:fontScheme name="umv3b5mn">
      <a:majorFont>
        <a:latin typeface="Arial"/>
        <a:ea typeface="等线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ct val="150000"/>
          </a:lnSpc>
          <a:defRPr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19432</TotalTime>
  <Words>3226</Words>
  <Application>Microsoft Office PowerPoint</Application>
  <PresentationFormat>宽屏</PresentationFormat>
  <Paragraphs>410</Paragraphs>
  <Slides>36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LMSans8-Regular-Identity-H</vt:lpstr>
      <vt:lpstr>YaHei_Monaco-R</vt:lpstr>
      <vt:lpstr>等线</vt:lpstr>
      <vt:lpstr>仿宋</vt:lpstr>
      <vt:lpstr>黑体</vt:lpstr>
      <vt:lpstr>宋体</vt:lpstr>
      <vt:lpstr>Microsoft YaHei</vt:lpstr>
      <vt:lpstr>Microsoft YaHei</vt:lpstr>
      <vt:lpstr>Arial</vt:lpstr>
      <vt:lpstr>默认设计模板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董娜</dc:creator>
  <cp:lastModifiedBy>董娜</cp:lastModifiedBy>
  <cp:revision>223</cp:revision>
  <dcterms:created xsi:type="dcterms:W3CDTF">2021-07-19T14:43:53Z</dcterms:created>
  <dcterms:modified xsi:type="dcterms:W3CDTF">2024-09-13T09:08:43Z</dcterms:modified>
</cp:coreProperties>
</file>